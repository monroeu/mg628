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7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8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Budget Allocated vs. Spent by Ward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Allocated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North Hills</c:v>
                </c:pt>
                <c:pt idx="1">
                  <c:v>Lakefront</c:v>
                </c:pt>
                <c:pt idx="2">
                  <c:v>Oak Park</c:v>
                </c:pt>
                <c:pt idx="3">
                  <c:v>East Heights</c:v>
                </c:pt>
                <c:pt idx="4">
                  <c:v>Westbrook</c:v>
                </c:pt>
                <c:pt idx="5">
                  <c:v>Midtown</c:v>
                </c:pt>
                <c:pt idx="6">
                  <c:v>Central Core</c:v>
                </c:pt>
                <c:pt idx="7">
                  <c:v>Harbor</c:v>
                </c:pt>
                <c:pt idx="8">
                  <c:v>Southgate</c:v>
                </c:pt>
                <c:pt idx="9">
                  <c:v>Univ. Heights</c:v>
                </c:pt>
                <c:pt idx="10">
                  <c:v>Riverside</c:v>
                </c:pt>
                <c:pt idx="11">
                  <c:v>Ind. Corridor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25470000</c:v>
                </c:pt>
                <c:pt idx="1">
                  <c:v>31240000</c:v>
                </c:pt>
                <c:pt idx="2">
                  <c:v>19880000</c:v>
                </c:pt>
                <c:pt idx="3">
                  <c:v>15090000</c:v>
                </c:pt>
                <c:pt idx="4">
                  <c:v>12080000</c:v>
                </c:pt>
                <c:pt idx="5">
                  <c:v>7200000</c:v>
                </c:pt>
                <c:pt idx="6">
                  <c:v>9310000</c:v>
                </c:pt>
                <c:pt idx="7">
                  <c:v>6680000</c:v>
                </c:pt>
                <c:pt idx="8">
                  <c:v>5050000</c:v>
                </c:pt>
                <c:pt idx="9">
                  <c:v>5570000</c:v>
                </c:pt>
                <c:pt idx="10">
                  <c:v>5130000</c:v>
                </c:pt>
                <c:pt idx="11">
                  <c:v>3160000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D3-414E-8F16-DF1D629E11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Spent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North Hills</c:v>
                </c:pt>
                <c:pt idx="1">
                  <c:v>Lakefront</c:v>
                </c:pt>
                <c:pt idx="2">
                  <c:v>Oak Park</c:v>
                </c:pt>
                <c:pt idx="3">
                  <c:v>East Heights</c:v>
                </c:pt>
                <c:pt idx="4">
                  <c:v>Westbrook</c:v>
                </c:pt>
                <c:pt idx="5">
                  <c:v>Midtown</c:v>
                </c:pt>
                <c:pt idx="6">
                  <c:v>Central Core</c:v>
                </c:pt>
                <c:pt idx="7">
                  <c:v>Harbor</c:v>
                </c:pt>
                <c:pt idx="8">
                  <c:v>Southgate</c:v>
                </c:pt>
                <c:pt idx="9">
                  <c:v>Univ. Heights</c:v>
                </c:pt>
                <c:pt idx="10">
                  <c:v>Riverside</c:v>
                </c:pt>
                <c:pt idx="11">
                  <c:v>Ind. Corridor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7846465</c:v>
                </c:pt>
                <c:pt idx="1">
                  <c:v>21223465</c:v>
                </c:pt>
                <c:pt idx="2">
                  <c:v>11321856</c:v>
                </c:pt>
                <c:pt idx="3">
                  <c:v>8933408</c:v>
                </c:pt>
                <c:pt idx="4">
                  <c:v>6241607</c:v>
                </c:pt>
                <c:pt idx="5">
                  <c:v>2591959</c:v>
                </c:pt>
                <c:pt idx="6">
                  <c:v>6568775</c:v>
                </c:pt>
                <c:pt idx="7">
                  <c:v>4159708</c:v>
                </c:pt>
                <c:pt idx="8">
                  <c:v>3311849</c:v>
                </c:pt>
                <c:pt idx="9">
                  <c:v>2771159</c:v>
                </c:pt>
                <c:pt idx="10">
                  <c:v>2566586</c:v>
                </c:pt>
                <c:pt idx="11">
                  <c:v>2400375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D3-414E-8F16-DF1D629E11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Equity Analysis: Ward Income vs. Funding Per Capita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Per Capita</c:v>
                </c:pt>
              </c:strCache>
            </c:strRef>
          </c:tx>
          <c:spPr>
            <a:ln w="25400" cap="flat">
              <a:solidFill>
                <a:srgbClr val="1B3A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6B"/>
              </a:solidFill>
              <a:ln w="9525" cap="flat">
                <a:solidFill>
                  <a:srgbClr val="1B3A6B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92000</c:v>
                </c:pt>
                <c:pt idx="1">
                  <c:v>41000</c:v>
                </c:pt>
                <c:pt idx="2">
                  <c:v>35000</c:v>
                </c:pt>
                <c:pt idx="3">
                  <c:v>78000</c:v>
                </c:pt>
                <c:pt idx="4">
                  <c:v>38000</c:v>
                </c:pt>
                <c:pt idx="5">
                  <c:v>67000</c:v>
                </c:pt>
                <c:pt idx="6">
                  <c:v>52000</c:v>
                </c:pt>
                <c:pt idx="7">
                  <c:v>45000</c:v>
                </c:pt>
                <c:pt idx="8">
                  <c:v>85000</c:v>
                </c:pt>
                <c:pt idx="9">
                  <c:v>42000</c:v>
                </c:pt>
                <c:pt idx="10">
                  <c:v>105000</c:v>
                </c:pt>
                <c:pt idx="11">
                  <c:v>48000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490</c:v>
                </c:pt>
                <c:pt idx="1">
                  <c:v>135</c:v>
                </c:pt>
                <c:pt idx="2">
                  <c:v>153</c:v>
                </c:pt>
                <c:pt idx="3">
                  <c:v>520</c:v>
                </c:pt>
                <c:pt idx="4">
                  <c:v>115</c:v>
                </c:pt>
                <c:pt idx="5">
                  <c:v>345</c:v>
                </c:pt>
                <c:pt idx="6">
                  <c:v>247</c:v>
                </c:pt>
                <c:pt idx="7">
                  <c:v>116</c:v>
                </c:pt>
                <c:pt idx="8">
                  <c:v>485</c:v>
                </c:pt>
                <c:pt idx="9">
                  <c:v>144</c:v>
                </c:pt>
                <c:pt idx="10">
                  <c:v>947</c:v>
                </c:pt>
                <c:pt idx="11">
                  <c:v>129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CB-40D5-A8D9-A80A980EA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Funding Sources – $145.9M Total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AB-4162-B464-23638C3DFC4E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AB-4162-B464-23638C3DFC4E}"/>
              </c:ext>
            </c:extLst>
          </c:dPt>
          <c:dPt>
            <c:idx val="2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AB-4162-B464-23638C3DFC4E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AB-4162-B464-23638C3DFC4E}"/>
              </c:ext>
            </c:extLst>
          </c:dPt>
          <c:dPt>
            <c:idx val="4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AB-4162-B464-23638C3DFC4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AB-4162-B464-23638C3DFC4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AB-4162-B464-23638C3DFC4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AB-4162-B464-23638C3DFC4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AB-4162-B464-23638C3DFC4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AB-4162-B464-23638C3DFC4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Debt Financing</c:v>
                </c:pt>
                <c:pt idx="1">
                  <c:v>Local Funds</c:v>
                </c:pt>
                <c:pt idx="2">
                  <c:v>Federal Grants</c:v>
                </c:pt>
                <c:pt idx="3">
                  <c:v>Private/Nonprofit</c:v>
                </c:pt>
                <c:pt idx="4">
                  <c:v>State Assistance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49040000</c:v>
                </c:pt>
                <c:pt idx="1">
                  <c:v>36730000</c:v>
                </c:pt>
                <c:pt idx="2">
                  <c:v>32400000</c:v>
                </c:pt>
                <c:pt idx="3">
                  <c:v>24860000</c:v>
                </c:pt>
                <c:pt idx="4">
                  <c:v>2830000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0AB-4162-B464-23638C3DF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Funding Sources – $145.9M Total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by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AB-4162-B464-23638C3DFC4E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AB-4162-B464-23638C3DFC4E}"/>
              </c:ext>
            </c:extLst>
          </c:dPt>
          <c:dPt>
            <c:idx val="2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AB-4162-B464-23638C3DFC4E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AB-4162-B464-23638C3DFC4E}"/>
              </c:ext>
            </c:extLst>
          </c:dPt>
          <c:dPt>
            <c:idx val="4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AB-4162-B464-23638C3DFC4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AB-4162-B464-23638C3DFC4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AB-4162-B464-23638C3DFC4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AB-4162-B464-23638C3DFC4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AB-4162-B464-23638C3DFC4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AB-4162-B464-23638C3DFC4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Debt Financing</c:v>
                </c:pt>
                <c:pt idx="1">
                  <c:v>Local Funds</c:v>
                </c:pt>
                <c:pt idx="2">
                  <c:v>Federal Grants</c:v>
                </c:pt>
                <c:pt idx="3">
                  <c:v>Private/Nonprofit</c:v>
                </c:pt>
                <c:pt idx="4">
                  <c:v>State Assistance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49040000</c:v>
                </c:pt>
                <c:pt idx="1">
                  <c:v>36730000</c:v>
                </c:pt>
                <c:pt idx="2">
                  <c:v>32400000</c:v>
                </c:pt>
                <c:pt idx="3">
                  <c:v>24860000</c:v>
                </c:pt>
                <c:pt idx="4">
                  <c:v>2830000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0AB-4162-B464-23638C3DF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36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C887-AAE7-3BA1-398C-325192D2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22BDF-7A01-98FF-6A09-55A4BFB11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AF73F-F7D9-7F27-CA06-EEAB10EA6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EC345-8C52-1732-C945-B76508DA6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4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F728-8DAA-9096-FE47-394F189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FE27E-E836-7DFD-2214-B924F2022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23AA4-4EEA-A345-8AD4-78A230A55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FFC25-25BD-49CF-D960-B66FB0CBA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161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🏙️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for All Initiative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DBD"/>
                </a:solidFill>
              </a:rPr>
              <a:t>Power BI Dashboard – Full Step-by-Step Walkthrough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32918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74 Projects  ·  12 Wards  ·  $145.9M Budget  ·  1,919 Units Targeted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– Data Analysis for Managerial Decision-Making  |  Week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 in This Walkthrough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By the end of this step-by-step guide you will have a complete, interactive Power BI dashboard answering the City Council's core question: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 the $145.9M Housing for All initiative distributing funds equitably and delivering results for all 12 city wards?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KPI Cards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Total Budget · Total Spent · Utilization % · Units Completion 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84708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1847088"/>
            <a:ext cx="2743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18470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Budget vs. Spent by Ward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24942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Clustered bar — spot which wards have stalled spending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84708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847088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8470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⚖️  Equity Scatter Plot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249424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Income vs. Budget Per Capita — is money going where need is greatest?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2841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🌳  Project Status Treemap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30752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See which wards have the most delayed or on-hold projects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32841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54680" y="3328416"/>
            <a:ext cx="27432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46120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🍩  Funding Source Donut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730752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Federal vs. Local vs. Debt vs. Private — assess funding 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32841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3328416"/>
            <a:ext cx="274320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Decomposition Tree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730752"/>
            <a:ext cx="2606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Drill Total Budget → Ward → Type → Funder → Status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Roadmap – 8 Stages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0058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7498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Load the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749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Connect all 4 CSV files into Power BI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280160"/>
            <a:ext cx="10058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280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Build the Data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1280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Create the star schema – 3 relationships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1051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810512"/>
            <a:ext cx="100584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105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1810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Create DAX Measures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18105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5 calculated measures for accountability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340864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10058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34086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23408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KPI Cards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234086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 headline cards on the top row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87121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871216"/>
            <a:ext cx="100584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8712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28712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Budget vs. Spent Chart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06240" y="287121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Clustered bar chart by ward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401568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401568"/>
            <a:ext cx="100584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3401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</a:rPr>
              <a:t>Equity Scatter Plot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06240" y="34015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Income vs. Budget Per Capita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931920"/>
            <a:ext cx="1005840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3931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Status Treemap + Donut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06240" y="39319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Project health + funding mix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4462272"/>
            <a:ext cx="100584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462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71600" y="4462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Final Dashboard + Slicers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06240" y="446227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Assemble, filter, and publish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📂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Load the 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Connect all 4 CSV files into Power BI Desktop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Dataset – 4 CSV Files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Before loading anything, understand what each file contains. This prevents relationship errors later.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FactHousingProjects.csv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6184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THE FACT TABLE – 74 rows, one per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9476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ProjectID, WardID 🔗, FundID 🔗, ProjectType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BudgetAllocated, BudgetSpent  (the $ measures)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UnitsTarget, UnitsCreated  (the housing output measures)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StartDate 🔗, ExpectedEndDate, ActualEndDate, Status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ContractorName, ProjectManager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2344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DimWard.csv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6184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THE 'WHERE' DIMENSION – 12 rows, one per ward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9476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WardID 🔑 (unique – the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WardName, CouncilMember, NeighborhoodType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Population, MedianIncome  (for equity analysis)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PovertyRate, HomelessCount, VacantLots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DimFundingSource.csv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THE 'HOW' DIMENSION – 10 rows, one per fund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8679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FundID 🔑 (unique – the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SourceName, Category (Federal/Local/Debt/Private/State)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FiscalYear, TotalAvailable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MatchRequired, MatchPercent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54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154680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154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DimDate.csv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5387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THE 'WHEN' DIMENSION – 551 rows, one per calendar 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38679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Date 🔑 (unique – the primary key)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Month, MonthNum, CalendarQuarter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FiscalQuarter, FiscalYear, CalendarYear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DayOfWeek, IsWeekend, IsHoliday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6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38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Loading the 4 CSV Files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0864"/>
            <a:ext cx="1554480" cy="248194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0864"/>
            <a:ext cx="155448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45010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45010"/>
            <a:ext cx="548640" cy="6126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45010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5010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Open Power BI Desktop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445010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Launch Power BI Desktop. If a welcome dialog appears, close it. You should see a blank Report Canvas.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149098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149098"/>
            <a:ext cx="548640" cy="6126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149098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149098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Get Data → Text/CSV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149098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 the Home ribbon, click Get Data. In the dropdown select Text/CSV. This opens the file browser.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53186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853186"/>
            <a:ext cx="548640" cy="6126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1853186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1853186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Load FactHousingProjects.csv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853186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Navigate to your CSV folder. Select FactHousingProjects.csv. Click Open. In the preview dialog, verify columns appear correctly. Click Load.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557274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57274"/>
            <a:ext cx="548640" cy="6126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557274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2557274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Repeat for the 3 Dimension files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557274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Click Get Data again. Load DimWard.csv. Repeat for DimFundingSource.csv. Repeat for DimDate.csv.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61362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261362"/>
            <a:ext cx="548640" cy="6126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261362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261362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Verify in the Fields Pane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3261362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After all 4 loads, look at the Fields pane (right side). You should see 4 table names listed with an expand arrow.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65450"/>
            <a:ext cx="8595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965450"/>
            <a:ext cx="548640" cy="6126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965450"/>
            <a:ext cx="548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3965450"/>
            <a:ext cx="27432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Check Data 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965450"/>
            <a:ext cx="50749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Click the Data View icon (table icon on the left sidebar). Click each table name and confirm rows and columns appear correctly.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651250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465125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result: 4 tables in the Fields pane – FactHousingProjects (74 rows), DimWard (12 rows), DimFundingSource (10 rows), DimDate (551 rows)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Data Looks Like – Sample Records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Verify these values appear in your Power BI Data View. If the numbers differ, check your CSV file encoding.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25732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257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FactHousingProjects.csv – first 3 rows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804178"/>
              </p:ext>
            </p:extLst>
          </p:nvPr>
        </p:nvGraphicFramePr>
        <p:xfrm>
          <a:off x="274320" y="1473204"/>
          <a:ext cx="8595359" cy="975360"/>
        </p:xfrm>
        <a:graphic>
          <a:graphicData uri="http://schemas.openxmlformats.org/drawingml/2006/table">
            <a:tbl>
              <a:tblPr/>
              <a:tblGrid>
                <a:gridCol w="1330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WardID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BudgetAllocated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P-1001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F-300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Homeownership Program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$2,320,000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 Progress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P-1011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Homeownership Program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$1,560,000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P-1060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F-500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Emergency Shelter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$2,830,000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2518331"/>
            <a:ext cx="85953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2518331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DimWard.csv – selected rows (key equity fields)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11591"/>
              </p:ext>
            </p:extLst>
          </p:nvPr>
        </p:nvGraphicFramePr>
        <p:xfrm>
          <a:off x="274320" y="2865803"/>
          <a:ext cx="8595360" cy="1219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WardID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WardName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Population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PovertyRate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NeighborhoodType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Central Core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$35,000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Low-Income Urban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Southgate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$38,000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Low-Income Urban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Lakefront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$105,000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Affluent Urban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W-01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North Hills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$92,000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Affluent Suburban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4133088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4048" y="41330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⚠️  Notice: Central Core has 28.8% poverty but low income ($35K). Lakefront has only 4.8% poverty with $105K income. Watch how funding compares across these wards later.</a:t>
            </a:r>
            <a:endParaRPr lang="en-US" sz="1100" dirty="0"/>
          </a:p>
        </p:txBody>
      </p:sp>
      <p:sp>
        <p:nvSpPr>
          <p:cNvPr id="12" name="Shape 11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84048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Important: DimDate covers 7/1/2023 – 12/31/2024 (551 days). This must span ALL StartDate values in FactHousingProjects — check before modeling.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Build the Data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Star Schema – 3 Relationships – One-to-Many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Schema – Before You Build Any Chart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star schema is the engine behind every DAX measure. Build this correctly and all calculations will flow from it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645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⭐ FACT 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FactHousingProjects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74 rows · 15 columns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Measures: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BudgetAllocated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BudgetSpent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UnitsTarget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UnitsCreated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2194560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4173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🏘️  DimWard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12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WardID 🔑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WardName · Population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MedianIncome · PovertyRate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219456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20840" y="14173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💰  DimFundingSource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10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FundID 🔑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SourceName · Category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TotalAvailable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3703320"/>
            <a:ext cx="2377440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37033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📅  DimDate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551 rows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Date 🔑 · Month · FiscalQuarter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FiscalYear · DayOfWeek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029968"/>
            <a:ext cx="960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40280" y="183422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WardID →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60720" y="2029968"/>
            <a:ext cx="960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1827449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← FundID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75757" y="347336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↑ StartDate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⚠️  All 3 relationships must be: Cardinality = One-to-Many (1:*)  ·  Cross-filter direction = Single  ·  Active = 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3 Relationships in Model 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Every relationship you create here determines what you can filter and aggregate in every visual.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822960" cy="1170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2435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DimWard → FactHousingProjects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Go to Model View. Find DimWard table. Click and DRAG the WardID field. Drop it onto the WardID field inside FactHousingProjects. A line appears connecting the two tables.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901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Verify: Double-click the line → Cardinality: One-to-Many (1:*) · Cross-filter: Single · Active: checked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This relationship lets you filter housing projects by ward name, poverty rate, income — any ward attribute.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82296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87168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25420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DimFundingSource → FactHousingProjects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In Model View, find DimFundingSource. Drag FundID from DimFundingSource. Drop onto FundID in FactHousingProjects.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200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Verify: Verify: One-to-Many (1:*) · Single cross-filter · Active checked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This lets you filter and group projects by funding category — Federal, Local, Debt, Private, State.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822960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785616"/>
            <a:ext cx="822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REL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38404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DimDate → FactHousingProjects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1513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How: Drag Date from DimDate. Drop onto StartDate in FactHousingProjects. Note: we connect to StartDate, not ExpectedEndDate — only one active date relationship is allowed.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4988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66534"/>
                </a:solidFill>
              </a:rPr>
              <a:t>✅ Verify: Verify: One-to-Many (1:*) · Single cross-filter · Active checked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498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📌 This enables time-series analysis — budget by month, fiscal quarter, or year.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Model View – Common Errors &amp; Fixes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Before writing any DAX, confirm the star schema looks correct. These are the most common mistakes at this stage.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2527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Lines connect all 3 dimension tables to FactHousingProjects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5179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Fact table should be in the center. Three lines radiating out — like a star.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6537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19110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Each line shows '1' on the dimension side and '*' on the fact side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17627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'1' confirms the dimension key is unique. The '*' confirms the fact table can have many matching rows.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859536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2374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5694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No yellow warning triangles on any relationship 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 triangle means Power BI detected ambiguity — usually a Many-to-Many. Fix by checking for duplicate WardID values in DimWard.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82112"/>
            <a:ext cx="859536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1821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22783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Many-to-Many relationship was created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4930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DimWard has duplicate WardID values — check for blank rows or header duplication in your CSV. FIX: Open Power Query → filter out blank WardID rows.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859536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84048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8862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Relationship shows as inactive (dashed line)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15137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A second relationship exists between the same two tables. This happens if you accidentally connected DimDate to both StartDate and ExpectedEndDate. FIX: Delete the duplicate relationship.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498848"/>
            <a:ext cx="8595360" cy="56692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49884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5445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Date table not connecting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80974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CAUSE: The Date column in DimDate may be stored as Text, not Date type. FIX: In Power Query, select the Date column → Change Type → Date.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Create DAX Measures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5 Calculated Measures · All from FactHousingProjects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184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381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DAX Measure – The Process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2317"/>
            <a:ext cx="1554480" cy="245473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2317"/>
            <a:ext cx="1554480" cy="24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840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All 5 measures follow the same creation process. Master it once, repeat 4 more times.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22964"/>
            <a:ext cx="530352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82296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8229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Go to Report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82296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Click the top icon on the left sidebar (looks like a bar chart)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463044"/>
            <a:ext cx="530352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46304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14630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Right-click FactHousingProjects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146304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 the Fields pane (right side), find FactHousingProjects. Right-click the table name.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03124"/>
            <a:ext cx="530352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10312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1031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Select 'New Measure'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210312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 formula bar appears at the top of the canvas. The cursor is ready for your DAX formula.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43204"/>
            <a:ext cx="5303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74320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7432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Type the formula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274320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Type EXACTLY as shown on the following slides. No spaces in table/column names. Brackets are required.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38328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83284"/>
            <a:ext cx="530352" cy="5486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38328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33832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Press Enter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38328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Power BI evaluates the formula. If correct, the measure appears in the Fields pane with a ⚡ calculator icon.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4023364"/>
            <a:ext cx="530352" cy="548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02336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0233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Format the measure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566160" y="4023364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With the measure selected, use the Measure Tools ribbon at the top to set: Percentage (%), Currency ($), or Decimal.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681732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46817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Tip: If you make a typo and get a red error, press Escape to cancel without saving. The formula bar clears and you can try again.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1 of 5 – Total Budget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1  ·  What it answers: How much money has the city committed to the initiative in total?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Budget = SUM(FactHousingProjects[BudgetAllocated])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6615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What this formula does: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3191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31910"/>
            <a:ext cx="1645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13191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13191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Adds up all values in a column across the current filter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2627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726270"/>
            <a:ext cx="1645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2627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FactHousingProjects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72627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table name — always referenced with exact spelling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2063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320630"/>
            <a:ext cx="164592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32063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[BudgetAllocated]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32063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column containing the approved dollar amount per project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1499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914990"/>
            <a:ext cx="1645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91499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91499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When a ward slicer is active, SUM automatically restricts to that ward's projects only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628222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462822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 when no filter is active: $145,860,000  ·  Format as: Currency ($)  ·  Apply via: Measure Tools → $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2 of 5 – Total Spent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2  ·  What it answers: How much has actually been deployed — shovels in the ground?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Spent = SUM(FactHousingProjects[BudgetSpent])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732277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Why this measure is critical — the accountability gap: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050966"/>
            <a:ext cx="8595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4240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The gap between Total Budget and Total Spent tells you whether the city is actually moving money, or just allocating it on paper.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9606"/>
            <a:ext cx="6858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9960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$145.9M  ALLOCATED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99606"/>
            <a:ext cx="374904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59960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$79.9M SPENT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24528" y="261789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← $66M UNSPENT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09338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Ward-level gap analysis (from actual data):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497069"/>
            <a:ext cx="41148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9706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North Hills: $25.5M allocated · $7.8M spent · Utilization: 30.8%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497069"/>
            <a:ext cx="425196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349706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Midtown: $7.2M allocated · $2.6M spent · Utilization: 36.0%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45709"/>
            <a:ext cx="41148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04570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Lakefront: $31.2M allocated · $21.2M spent · Utilization: 67.9%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4045709"/>
            <a:ext cx="425196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404570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Industrial Corridor: $3.2M allocated · $2.4M spent · Utilization: 76.0%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94349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4594349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value: $79,937,213  ·  Format as: Currency ($)  ·  This is the #1 accountability metric for City Council.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3 of 5 – Utilization %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3  ·  What it answers: Of every dollar allocated, how many cents have been spent?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55744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557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Utilization % = DIVIDE([Total Spent], [Total Budget], 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DIVIDE(numerator, denominator, alternate_result_if_denominator_is_zero)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8586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Why DIVIDE instead of [Total Spent] / [Total Budget]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2874"/>
            <a:ext cx="859536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92874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</a:rPr>
              <a:t>If Total Budget = 0 (a ward with no projects), dividing by zero causes an error. DIVIDE safely returns 0 instead. Always use DIVIDE for ratios in DAX.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627" y="279637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Utilization % benchmarks — how to interpret the result: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80426"/>
            <a:ext cx="859536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8042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</a:rPr>
              <a:t>&gt; 75%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18042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High Utilization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180426"/>
            <a:ext cx="5440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Projects are actively spending — good implementation pace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64474"/>
            <a:ext cx="85953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56447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50–75%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56447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Moderate Utilization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564474"/>
            <a:ext cx="5440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Some momentum but gaps exist — watch for contractor delays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48522"/>
            <a:ext cx="859536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94852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1B1B"/>
                </a:solidFill>
              </a:rPr>
              <a:t>&lt; 50%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94852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Low Utilization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948522"/>
            <a:ext cx="5440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⚠️ Projects may be stalled in planning or procurement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332570"/>
            <a:ext cx="8595360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33257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</a:rPr>
              <a:t>&gt;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433257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</a:rPr>
              <a:t>Over-budget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332570"/>
            <a:ext cx="5440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Budget overrun — requires variance investigation and reallocation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670898"/>
            <a:ext cx="859536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467089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Expected overall value: 54.8%  ·  Format as: Percentage (%)  ·  Apply conditional formatting: &lt;50% = Red, 50–75% = Yellow, &gt;75% = Green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4 of 5 – Units Completion %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4  ·  What it answers: Are we actually building homes — or just spending money?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Completion %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DIVIDE( SUM(FactHousingProjects[UnitsCreated]),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SUM(FactHousingProjects[UnitsTarget]), 0 )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23113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The critical distinction — spending vs. delivering: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411480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6700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Utilization % = 54.8%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$79.9M of $145.9M spent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14553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</a:rPr>
              <a:t>Money is moving — but at what output?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41148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6700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Units Completion % = 51.3%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985 of 1,919 units built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4553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</a:rPr>
              <a:t>Spending pace ≈ delivery pace — consistent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Units completion by project type — actual data: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78224"/>
          <a:ext cx="8595360" cy="21259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Project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Completion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Emergency Shelter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454/688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Best performer — rapid deployment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Homeownership Program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66/96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completion — owner-motivated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Transitional Housing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147/262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On track with initiative timeline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Rehabilitation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98/207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Slower — scope complexity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Affordable Rental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117/312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Lagging — needs attention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Mixed Use Development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22/92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Complex permitting delays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Senior Housing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71/196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Pipeline projects — most in planning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New Construction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10/66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Earliest stage — just starting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0795E-9A75-2956-CFED-D1192FF8C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A1EF3-A500-7AC2-4C24-C62863AD38F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DB4338-F907-23B1-2841-717807F893BC}"/>
              </a:ext>
            </a:extLst>
          </p:cNvPr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4 of 5 – Units Completion %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101903-7813-2CEA-CCC4-E7F3DA775B8A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FAD1B0-653A-7275-72FA-419CF660E668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E59054-913F-D10E-00A1-A4DF96E4E057}"/>
              </a:ext>
            </a:extLst>
          </p:cNvPr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047CDB-FBD6-E9DE-5B77-B66097BE04C9}"/>
              </a:ext>
            </a:extLst>
          </p:cNvPr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4  ·  What it answers: Are we actually building homes — or just spending money?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CB9D8F-FE22-A52B-EB96-27D385289277}"/>
              </a:ext>
            </a:extLst>
          </p:cNvPr>
          <p:cNvSpPr/>
          <p:nvPr/>
        </p:nvSpPr>
        <p:spPr>
          <a:xfrm>
            <a:off x="274320" y="12496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Units completion by project type — actual data:</a:t>
            </a:r>
            <a:endParaRPr lang="en-US" sz="110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08CDAA0C-78A2-A5FA-C520-15E11FEE1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925719"/>
              </p:ext>
            </p:extLst>
          </p:nvPr>
        </p:nvGraphicFramePr>
        <p:xfrm>
          <a:off x="274320" y="1578864"/>
          <a:ext cx="8595360" cy="21259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Project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Completion 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Emergency Shelter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454/688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Best performer — rapid deployment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Homeownership Program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66/96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completion — owner-motivated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Transitional Housing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147/262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On track with initiative timeline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Rehabilitation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98/207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Slower — scope complexity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Affordable Rental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117/312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Lagging — needs attention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Mixed Use Development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24%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22/92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Complex permitting delays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Senior Housing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71/196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Pipeline projects — most in planning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New Construction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10/66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Earliest stage — just starting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097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 5 of 5 – Budget Per Capita (The Equity Measure)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4389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74980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MEASURE 5  ·  What it answers: Is every resident getting a proportional share of housing investment?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Per Capita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DIVIDE( [Total Budget], SUM(DimWard[Population]), 0 )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References the Total Budget MEASURE inside a new measure — this is called measure branching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8595360" cy="29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Why this measure reveals the equity story — the actual ward data: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250762"/>
              </p:ext>
            </p:extLst>
          </p:nvPr>
        </p:nvGraphicFramePr>
        <p:xfrm>
          <a:off x="274320" y="2396070"/>
          <a:ext cx="8595360" cy="2176272"/>
        </p:xfrm>
        <a:graphic>
          <a:graphicData uri="http://schemas.openxmlformats.org/drawingml/2006/table">
            <a:tbl>
              <a:tblPr/>
              <a:tblGrid>
                <a:gridCol w="578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6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51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Population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$/Capita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Poverty%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Insight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Lakefront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$31.2M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33,000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HIGHEST funding, LOWEST poverty → Equity concern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Hills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$25.5M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funding, low poverty → Review allocation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Oak Park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$19.9M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41,000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funding, low poverty → Review allocation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East Heights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29,000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High funding, low need → Watch this pattern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Westbrook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Mid funding, moderate need → Acceptable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Central 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61,000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LOW funding, HIGHEST poverty → Equity gap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Riverside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38,000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Low funding, high poverty → Underserved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W-05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Southgate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44,000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LOWEST per capita, high poverty → Equity gap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4682070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4048" y="468207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KEY FINDING: Lakefront ($947/person, 4.8% poverty) receives 8× more per capita than Southgate ($115/person, 25.3% poverty). This is the equity story your scatter plot will visualize.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Build the KPI Cards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4 Headline Metrics on the Top Row of Your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4 KPI Card Visuals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Cards are the first thing the City Council sees. They must answer 'are we on track?' in under five seconds.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1920240" cy="1325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$145.9M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949501"/>
            <a:ext cx="1920240" cy="34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 Budget Allocated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267712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Housing for All Initiative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207008"/>
            <a:ext cx="1920240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128016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54.8%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31720" y="1949501"/>
            <a:ext cx="1920240" cy="34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Budget Utilization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31720" y="2267712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Target: 75%+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1207008"/>
            <a:ext cx="1920240" cy="1325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128016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985 / 1,919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89120" y="1949501"/>
            <a:ext cx="1920240" cy="34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Units Created vs. Target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0" y="2267712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51.3% complete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207008"/>
            <a:ext cx="1920240" cy="13258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128016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11 / 74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1949501"/>
            <a:ext cx="1920240" cy="344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Delayed or On Hold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267712"/>
            <a:ext cx="1920240" cy="2386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14.9% of all projects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Step-by-step: How to build each Card visual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658368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06324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0632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Total Budget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063240"/>
            <a:ext cx="6446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On the Visualizations pane, click the Card icon (looks like 123). ② A blank card appears on the canvas. ③ From the Fields pane, drag [Total Budget] into the Fields bucket under the card. ④ Click the card → Format tab → Call out value → Font size: 28. ⑤ Add title: 'Total Budget Allocated.'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575304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575304"/>
            <a:ext cx="65836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57530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357530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Utilization 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3575304"/>
            <a:ext cx="6446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Add another Card visual. ② Drag [Utilization %] into the card's field. ③ Format → Data label → set to Percentage. ④ Conditional formatting: Format → Callout value → Conditional Formatting → Background color: Red if &lt;0.5, Yellow if &lt;0.75, Green if ≥0.75.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87368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087368"/>
            <a:ext cx="65836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08736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5840" y="408736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Units Created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4087368"/>
            <a:ext cx="6446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Add a Card visual. ② For a ratio display: create a measure: Units Display = SUM([UnitsCreated]) &amp; ' / ' &amp; SUM([UnitsTarget]). ③ OR: use two separate cards side-by-side. ④ Add subtitle text in the card title field.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9943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4599432"/>
            <a:ext cx="658368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5994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Card 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05840" y="459943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Delayed Count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77440" y="4599432"/>
            <a:ext cx="6446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① Create a measure: Delayed Count = CALCULATE(COUNT(FactHousingProjects[ProjectID]), FactHousingProjects[Status] IN {'Delayed','On Hold'}). ② Drag onto a Card. ③ Format background Red to signal urgency.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Budget vs. Spent by Ward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Clustered Bar Chart – Spot Which Wards Are Stalling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Spent by Ward – Clustered Bar Chart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2111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This chart answers: Which wards have the biggest gap between committed funds and actual spending?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067402748"/>
              </p:ext>
            </p:extLst>
          </p:nvPr>
        </p:nvGraphicFramePr>
        <p:xfrm>
          <a:off x="274320" y="944885"/>
          <a:ext cx="51206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944885"/>
            <a:ext cx="32918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944885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This Chart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1365509"/>
            <a:ext cx="32918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77840" y="136550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365509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Clustered Bar Chart icon in Visualizations pane (two horizontal bars side by side)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1749557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577840" y="1749557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1749557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WardName from DimWard → Y Axis bucket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2133605"/>
            <a:ext cx="32918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577840" y="213360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0" y="2133605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[Total Budget] measure → X Axis bucket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2517653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2517653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2517653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Drag [Total Spent] measure → X Axis bucket (adds a second series)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2901701"/>
            <a:ext cx="32918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77840" y="2901701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⑤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43600" y="2901701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Sort axis → Sort by Total Budget, Descending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3285749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77840" y="3285749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⑥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43600" y="3285749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Colors: Allocated = Navy (#1B3A6B), Spent = Teal (#0D7377)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577840" y="3669797"/>
            <a:ext cx="329184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577840" y="3669797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⑦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43600" y="3669797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Title: 'Budget Allocated vs. Spent by Ward'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577840" y="4053845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77840" y="4053845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⑧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43600" y="4053845"/>
            <a:ext cx="2889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labels: Off (too cluttered at this scale — use tooltips instead)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74320" y="4675637"/>
            <a:ext cx="859536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84048" y="467563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🔑  Key Insight: North Hills has the biggest gap ($25.5M allocated, only $7.8M spent = 30.8% utilization). Lakefront is near parity at 67.9%. Investigate North Hills contractor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Budget vs. Spent Chart – 5 Key Findings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768096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502920" cy="7680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795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North Hills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Lowest utilization at 30.8% despite receiving $25.5M — the 3rd highest allocation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74920" y="80467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8928" y="80467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Investigate: is it contractor delays, procurement bottlenecks, or community opposition to project sites?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09344"/>
            <a:ext cx="8595360" cy="768096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609344"/>
            <a:ext cx="502920" cy="7680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609344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16550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</a:rPr>
              <a:t>Midtown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Only 36.0% utilization on $7.2M. Six projects — but $4.6M sitting unspent.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66420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166420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Check project manager capacity. Midtown has six different projects with three different project managers.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8595360" cy="76809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468880"/>
            <a:ext cx="502920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468880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2514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Lakefront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Highest absolute allocation ($31.2M) AND highest absolute spend ($21.2M). 67.9% utilization.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2523744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252374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Cross-check equity: Lakefront is affluent (4.8% poverty). Why is it receiving the most funding? Review allocation rationale.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28416"/>
            <a:ext cx="8595360" cy="768096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28416"/>
            <a:ext cx="502920" cy="76809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328416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374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Industrial Corridor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6941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Highest utilization at 76.0% — best implementation rate in the city. Only $3.2M allocated.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74920" y="338328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33832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Use Industrial Corridor as a model. What are its contractors and project managers doing right?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187952"/>
            <a:ext cx="8595360" cy="768096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187952"/>
            <a:ext cx="502920" cy="7680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187952"/>
            <a:ext cx="502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" y="42336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Central Core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553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📊 28.8% poverty rate — highest in city. $9.3M allocation = $153/person. 70.6% utilization.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74920" y="4242816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38928" y="424281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Action: Central Core is spending what it has effectively — but its allocation is far below its level of need. Budget reallocation discussion warranted.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⚖️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The Equity Scatter Plot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Income vs. Budget Per Capita – The Key Policy Visual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Scatter Plot – Income vs. Budget Per Capita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scatter plot is the definitive equity visual. Its trend line direction tells the policy story in one second.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88720"/>
          <a:ext cx="50292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188720"/>
            <a:ext cx="338328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188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This Chart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609344"/>
            <a:ext cx="33832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0" y="160934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160934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Add Scatter Chart visual from Visualizations pane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1956816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0" y="19568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52160" y="1956816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X Axis: drag MedianIncome from DimWard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0" y="2304288"/>
            <a:ext cx="33832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230428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230428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 Axis: drag [Budget Per Capita] measure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2651760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0" y="26517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Details: drag WardName from DimWard (labels each point)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86400" y="2999232"/>
            <a:ext cx="33832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0" y="299923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⑤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2160" y="2999232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Size (optional): drag Population from DimWard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3346704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86400" y="334670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⑥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52160" y="334670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Analytics pane → Trend Line → Linear → 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0" y="3694176"/>
            <a:ext cx="33832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0" y="36941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⑦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52160" y="3694176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X-axis label: 'Median Household Income ($)'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0" y="404164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0" y="40416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⑧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52160" y="404164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Y-axis label: 'Budget Per Capita ($)'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4389120"/>
            <a:ext cx="33832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486400" y="438912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</a:rPr>
              <a:t>⑨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852160" y="438912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'Equity: Ward Income vs. Housing Investment'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486400" y="4732530"/>
            <a:ext cx="338328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532120" y="477316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91B1B"/>
                </a:solidFill>
              </a:rPr>
              <a:t>⚠️  The trend line SLOPES UPWARD — wealthier wards receive MORE per capita. This is the equity gap.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317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413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Scatter Plot – The Equity Story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65611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65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45010"/>
            <a:ext cx="85953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44501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TREND LINE DIRECTION = UPWARD  →  Positive correlation: wealthier wards are receiving more housing investment per resident than poorer wards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94330"/>
            <a:ext cx="4251960" cy="1719072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6748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BOTTOM LEFT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LOW income + LOW funding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61612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Southgate: $38K income, $115/capita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Riverside: $41K income, $135/capita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Central Core: $35K income, $153/capita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616122"/>
            <a:ext cx="1417320" cy="1024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1616122"/>
            <a:ext cx="1417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PRIORITY for reallocation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need, low investment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94330"/>
            <a:ext cx="4251960" cy="17190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6748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BOTTOM RIGHT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HIGH income + LOW funding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1612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Midtown: $48K income, $129/capita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University Heights: $45K income, $116/capita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616122"/>
            <a:ext cx="141732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0" y="1616122"/>
            <a:ext cx="1417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Acceptable — low need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low per-capita investment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75719"/>
            <a:ext cx="4251960" cy="17190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848871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TOP LEFT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✅  LOW income + HIGH funding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97511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Central Core: $35K income, $153/capita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(closest to equitable — still underfunded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relative to Lakefront)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3397511"/>
            <a:ext cx="141732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17520" y="3397511"/>
            <a:ext cx="1417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IDEAL PATTERN — high need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matched with high investment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75719"/>
            <a:ext cx="4251960" cy="1719072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848871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TOP RIGHT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⚠️  HIGH income + HIGH funding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397511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Lakefront: $105K income, $947/capita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North Hills: $92K income, $490/capita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Oak Park: $85K income, $485/capita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East Heights: $78K income, $520/capita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3397511"/>
            <a:ext cx="1417320" cy="1024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06640" y="3397511"/>
            <a:ext cx="1417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EQUITY CONCERN — affluent wards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getting most housing dollars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577087"/>
            <a:ext cx="85953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4577087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📋  For your analysis memo: 'The scatter plot reveals a positive correlation between ward income and housing investment per capita (r ≈ +0.72). Lakefront ($105K income) receives $947/person vs. Southgate ($38K income) at $115/person — an 8.2:1 ratio. This distribution requires reallocation review.'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241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🌳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Treemap + Funding Donut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Project Status by Ward  ·  Funding Mix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Treemap – Which Wards Have Troubled Projects?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278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treemap shows project health across the city at a glance. Size = project count. Color = status.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66800"/>
            <a:ext cx="420624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66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the Treemap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7424"/>
            <a:ext cx="420624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874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4874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the Treemap icon in Visualizations pane (nested squares icon)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4462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9446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9446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Category: drag WardName from DimWard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01824"/>
            <a:ext cx="420624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4018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4018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Details: drag Status from FactHousingProjects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5902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8590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8590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Values: drag Count of ProjectID (or create: Project Count = COUNT([ProjectID]))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16224"/>
            <a:ext cx="420624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3162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3162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Data colors → set manually: Completed=Green, In Progress=Teal/Blue, Delayed=Orange, On Hold=Red, Planning=Gray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7342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7734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7734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Enable data labels to show ward names inside rectangles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230624"/>
            <a:ext cx="4206240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230624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</a:rPr>
              <a:t>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4230624"/>
            <a:ext cx="3785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'Project Status by Ward'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066800"/>
            <a:ext cx="42062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0668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Actual Project Status Breakdown (74 projects)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487424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1487424"/>
            <a:ext cx="164592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15240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In Progress  ·  48 projects  ·  64.9%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17617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Majority — dashboard should show blue dominance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054352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054352"/>
            <a:ext cx="164592" cy="49377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090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Completed  ·  13 projects  ·  17.6%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232867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Strong — 13 projects delivered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621280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621280"/>
            <a:ext cx="164592" cy="4937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6578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Delayed  ·  10 projects  ·  13.5%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28956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⚠️ High — 10 projects behind schedule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18820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663440" y="3188208"/>
            <a:ext cx="164592" cy="49377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2247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On Hold  ·  1 projects  ·  1.4%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34625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P-1044 University Heights Affordable Rental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55136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63440" y="3755136"/>
            <a:ext cx="16459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37917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Planning  ·  2 projects  ·  2.7%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40294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P-1003 and P-1009 — not yet started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687824"/>
            <a:ext cx="8595360" cy="333756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7472" y="47244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410C"/>
                </a:solidFill>
              </a:rPr>
              <a:t>⚠️  Delayed projects concentrated in: Westbrook (3 delayed), North Hills (2 delayed), Oak Park (1), Southgate (1), Ind. Corridor (1), Univ. Heights (1 on hold), Lakefront (1)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Source Donut Chart – Assessing Financial Risk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donut chart shows the funding mix. Over-reliance on any single source is a financial resilience risk.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70432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1170432"/>
            <a:ext cx="4297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0" y="11704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Build the Donut Chart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591056"/>
            <a:ext cx="42976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0" y="159105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①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37760" y="159105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Click Donut Chart icon in Visualizations pane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0" y="1975104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0" y="197510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1975104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Legend: drag Category from DimFundingSource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2359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2359152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Values: drag [Total Budget] measure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0" y="2743200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0" y="274320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④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937760" y="2743200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Slices → manually set colors per category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3127248"/>
            <a:ext cx="42976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0" y="31272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⑤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37760" y="3127248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Enable Data labels → show Percentage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0" y="3511296"/>
            <a:ext cx="4297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0" y="351129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⑥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3511296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Format → Inner radius → 40% for clean donut shape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0" y="3895344"/>
            <a:ext cx="4297680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0" y="389534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⑦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37760" y="3895344"/>
            <a:ext cx="3895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Title: 'Funding Sources: Where Does the Money Come From?'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BEC0D-ECC8-6F48-483C-C2187B2E4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61B82C-007D-B353-0421-2AA24FC84E4B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42B06D-ABB3-530B-87B8-AA56CAFF3E63}"/>
              </a:ext>
            </a:extLst>
          </p:cNvPr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Source Donut Chart – Assessing Financial Risk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E4ACA4-C8EE-0CF2-159F-C87196AFB859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A12895-5216-B87A-71B1-97831A44F483}"/>
              </a:ext>
            </a:extLst>
          </p:cNvPr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1717BB-5A96-7ACB-42BC-2F0726B8DD0E}"/>
              </a:ext>
            </a:extLst>
          </p:cNvPr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donut chart shows the funding mix. Over-reliance on any single source is a financial resilience risk.</a:t>
            </a:r>
            <a:endParaRPr lang="en-US" sz="120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EB77E6E0-AD2C-1D66-67E8-9E08E108CB7F}"/>
              </a:ext>
            </a:extLst>
          </p:cNvPr>
          <p:cNvGraphicFramePr/>
          <p:nvPr/>
        </p:nvGraphicFramePr>
        <p:xfrm>
          <a:off x="274320" y="1170432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>
            <a:extLst>
              <a:ext uri="{FF2B5EF4-FFF2-40B4-BE49-F238E27FC236}">
                <a16:creationId xmlns:a16="http://schemas.microsoft.com/office/drawing/2014/main" id="{6C38B781-3539-0240-C9A0-5D4C08155408}"/>
              </a:ext>
            </a:extLst>
          </p:cNvPr>
          <p:cNvSpPr/>
          <p:nvPr/>
        </p:nvSpPr>
        <p:spPr>
          <a:xfrm>
            <a:off x="4572000" y="1572771"/>
            <a:ext cx="4297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B15DCA0-D45F-49C1-0BCF-709FDFB7724E}"/>
              </a:ext>
            </a:extLst>
          </p:cNvPr>
          <p:cNvSpPr/>
          <p:nvPr/>
        </p:nvSpPr>
        <p:spPr>
          <a:xfrm>
            <a:off x="4572000" y="1572771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Analysis by Category</a:t>
            </a: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9E54488-1BC0-82B1-427C-6DE6D094E58E}"/>
              </a:ext>
            </a:extLst>
          </p:cNvPr>
          <p:cNvSpPr/>
          <p:nvPr/>
        </p:nvSpPr>
        <p:spPr>
          <a:xfrm>
            <a:off x="4617720" y="2011683"/>
            <a:ext cx="4251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Local – 25.2%  ($36.7M):  ✅  Most stable — within city's direct control</a:t>
            </a:r>
            <a:endParaRPr lang="en-US" sz="9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C306186-0638-5E1D-5AF0-BE82DE354B15}"/>
              </a:ext>
            </a:extLst>
          </p:cNvPr>
          <p:cNvSpPr/>
          <p:nvPr/>
        </p:nvSpPr>
        <p:spPr>
          <a:xfrm>
            <a:off x="4617720" y="2103123"/>
            <a:ext cx="4251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Federal – 22.2%  ($32.4M):  ⚠️  Policy risk — subject to federal budget changes</a:t>
            </a:r>
            <a:endParaRPr lang="en-US" sz="95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72BB84D-D577-F4A1-29D1-8FD8D4DE4178}"/>
              </a:ext>
            </a:extLst>
          </p:cNvPr>
          <p:cNvSpPr/>
          <p:nvPr/>
        </p:nvSpPr>
        <p:spPr>
          <a:xfrm>
            <a:off x="4617720" y="2194563"/>
            <a:ext cx="4251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Private – 17.0%  ($24.9M):  ⚠️  50% match required on F-400 — partner dependency</a:t>
            </a:r>
            <a:endParaRPr lang="en-US" sz="95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956BF51-6530-BA5E-6C95-D76290AA5A93}"/>
              </a:ext>
            </a:extLst>
          </p:cNvPr>
          <p:cNvSpPr/>
          <p:nvPr/>
        </p:nvSpPr>
        <p:spPr>
          <a:xfrm>
            <a:off x="4617720" y="2286003"/>
            <a:ext cx="4251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State – 1.9%  ($2.8M):  ✅  Small exposure — well diversified away from state risk</a:t>
            </a:r>
            <a:endParaRPr lang="en-US" sz="950" dirty="0"/>
          </a:p>
        </p:txBody>
      </p:sp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381B400B-2224-9BC8-5C01-CA88244F5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73946"/>
              </p:ext>
            </p:extLst>
          </p:nvPr>
        </p:nvGraphicFramePr>
        <p:xfrm>
          <a:off x="4572000" y="1956819"/>
          <a:ext cx="4297680" cy="2057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 Note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Debt – 33.6%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$49M in bonds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  Future debt service obligation — interest costs not shown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Local – 25.2%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$36.7M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 Most stable — within city's direct control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Federal – 22.2%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$32.4M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  Policy risk — subject to federal budget changes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Private – 17.0%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$24.9M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⚠️  50% match required on F-400 — partner dependency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State – 1.9%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$2.8M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 Small exposure — well diversified away from state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489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 – Drill Into Budget Allocation Drivers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8595360" cy="193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Decomposition Tree lets City Council members interactively drill into what's driving budget allocation — without technical help.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09425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9425"/>
            <a:ext cx="50292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809425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855145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Add Decomp. Tree visual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138609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Click the Decomposition Tree icon in Visualizations (tree branching icon — may need to scroll down in the pane)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73459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573459"/>
            <a:ext cx="50292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573459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619179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Analyze field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902643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Drag [Total Budget] into the Analyze bucket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44266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44266"/>
            <a:ext cx="50292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34426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38998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Explain By – add 5 fields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7345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Drag in order: WardName (from DimWard), ProjectType (from FactHousingProjects), Category (from DimFundingSource), Status (from FactHousingProjects), ContractorName (from FactHousingProjects)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94752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94752"/>
            <a:ext cx="50292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09475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1404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Use it interactively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42393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Click the '+' button at any node to expand the next level. Power BI shows which value explains the most variance.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52013"/>
            <a:ext cx="48463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852013"/>
            <a:ext cx="50292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852013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⑤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897733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AI Splits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181197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Click the '+' and choose 'High Value' or 'Low Value' — Power BI's AI automatically finds the biggest driver.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0" y="809425"/>
            <a:ext cx="35661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809425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Drill Paths (from actual data)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1230049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03520" y="1230049"/>
            <a:ext cx="109728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58968" y="1257481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</a:rPr>
              <a:t>Total Budget → Lakefront → Homeownership → Housing Bond A → Completed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58968" y="1522657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$3.87M via P-1065, fully spent — model project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0" y="1888417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03520" y="1888417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58968" y="1915849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Total Budget → North Hills → Affordable Rental → Housing Bond A → Delayed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58968" y="2181025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$4.94M allocated, only $2.02M spent — underperforming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0" y="2546785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03520" y="2546785"/>
            <a:ext cx="109728" cy="5669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58968" y="2574217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410C"/>
                </a:solidFill>
              </a:rPr>
              <a:t>Total Budget → Central Core → Emergency Shelter → Local Fund → Delayed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58968" y="2839393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$1.44M, 77% spent but still marked Delayed — scope issue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03520" y="3205153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303520" y="3205153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58968" y="3232585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1B1B"/>
                </a:solidFill>
              </a:rPr>
              <a:t>Total Budget → Oak Park → Transitional Housing → Housing Bond A → Delayed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58968" y="3497761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$5.0M, 68% spent — largest single delayed project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03520" y="3863521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303520" y="3863521"/>
            <a:ext cx="109728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58968" y="3890953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</a:rPr>
              <a:t>Total Budget → Lakefront → Emergency Shelter → Private → Completed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58968" y="4156129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</a:rPr>
              <a:t>$4.66M, 116 units (over target!) — best performer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593012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4048" y="45930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The decomposition tree is the most powerful tool for a City Council Q&amp;A — any member can click through layers live during a budget hearing without technical support.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🎛️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8: Final Dashboard Assembly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Layout · Slicers · Interactivity · Polish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39319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STEP-BY-STEP GUIDE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– Arranging All Visuals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8595360" cy="37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 layout is not decoration — it is information architecture. City Council reads top-to-bottom, left-to-right.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17356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173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ROW: KPI Cards (4 cards across full width)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25786"/>
            <a:ext cx="20574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2578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$145.9M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Budget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425786"/>
            <a:ext cx="20574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42578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54.8%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Utilization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425786"/>
            <a:ext cx="205740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42578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985/1,919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Units Complete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425786"/>
            <a:ext cx="2148840" cy="65836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42578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Projects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Delayed/On Hold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42068"/>
            <a:ext cx="859536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1420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 ROW: Budget vs. Spent Bar Chart (left) + Equity Scatter Plot (right)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536951"/>
            <a:ext cx="42519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536951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📊  Budget vs. Spent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Clustered Bar Chart by Ward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536951"/>
            <a:ext cx="425196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536951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⚖️  Equity Scatter Plot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Income vs. Budget Per Capita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76508"/>
            <a:ext cx="8595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3765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BOTTOM ROW: Project Status Treemap (left) + Funding Donut (center) + Decomposition Tree (right)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64618"/>
            <a:ext cx="2743200" cy="804672"/>
          </a:xfrm>
          <a:prstGeom prst="rect">
            <a:avLst/>
          </a:prstGeom>
          <a:solidFill>
            <a:srgbClr val="EFF2F7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76461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🌳  Project Status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Treemap by Ward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3764618"/>
            <a:ext cx="2743200" cy="804672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54680" y="376461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🍩  Funding 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Donut Chart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764618"/>
            <a:ext cx="2834640" cy="804672"/>
          </a:xfrm>
          <a:prstGeom prst="rect">
            <a:avLst/>
          </a:prstGeom>
          <a:solidFill>
            <a:srgbClr val="EDF4F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376461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🔍  Budget Drivers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Decomposition Tree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01804"/>
            <a:ext cx="8595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46018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SLICER ROW (right panel or top-right): Ward Name  ·  Project Type  ·  Status  ·  Funding Category  ·  Fiscal Year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618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4561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Slicers – Making Your Dashboard Interactive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93264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93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5333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Slicers transform a static report into an exploration tool. Every City Council member can filter to their own ward.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6674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66746"/>
            <a:ext cx="109728" cy="6766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80332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</a:rPr>
              <a:t>Ward Name Slicer  ·  Field: WardName from DimWard  ·  Type: Dropdown or 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8678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Allows a council member to filter all visuals to their ward only — the most important slicer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086786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 visual. ② Drag WardName to Field. ③ Format → Slicer settings → Style: Dropdown. ④ Select all to reset.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3484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534842"/>
            <a:ext cx="109728" cy="6766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57141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Project Status Slicer  ·  Field: Status from FactHousingProjects  ·  Type: Button slicer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85488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Filter to show only Delayed or On Hold projects — instantly surfaces problem areas for any ward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85488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 visual. ② Drag Status to Field. ③ Format → Style: Tile (button-style). ④ Arrange buttons: Completed, In Progress, Delayed, On Hold, Planning.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0293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02938"/>
            <a:ext cx="109728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33951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Funding Category Slicer  ·  Field: Category from DimFundingSource  ·  Type: Checkbox list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62297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Filter to show only Federal-funded projects — useful for grant reporting and compliance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62297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Slicer. ② Drag Category to Field. ③ Format → Style: List with checkboxes. ④ Enable 'Select All' toggle.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7103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71034"/>
            <a:ext cx="109728" cy="6766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0761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Project Type Slicer  ·  Field: ProjectType from FactHousingProjects  ·  Type: Dropdown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39107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Compare Emergency Shelters vs. Affordable Rentals — different project types have very different completion rates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391074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Slicer. ② Drag ProjectType to Field. ③ Format → Style: Dropdown. ④ Multi-select enabled by default.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3913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839130"/>
            <a:ext cx="109728" cy="6766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87570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Fiscal Year Slicer  ·  Field: FiscalYear from DimDate  ·  Type: Between (date range)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5917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Why: Filter to show projects that started in a specific fiscal year — tracks initiative progress over 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15917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Build: ① Add Slicer. ② Drag FiscalYear from DimDate to Field. ③ Format → Style: Between. This gives a date range slider.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25514"/>
            <a:ext cx="85953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462551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💡  Pro tip: Use 'Edit Interactions' (Format menu) to control which slicers affect which visuals. For example, you may want the Ward slicer to NOT filter the city-wide donut chart.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667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476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&amp; Polish – Professional Dashboard Finish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306433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306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499201"/>
            <a:ext cx="4114800" cy="152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499200"/>
            <a:ext cx="4114800" cy="305269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99200"/>
            <a:ext cx="3977640" cy="305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Color Theme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901536"/>
            <a:ext cx="3931920" cy="1175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Set a consistent palette: Navy (#1B3A6B) for primary, Teal (#0D7377) for secondary, Gold (#D97706) for alerts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Format → Customize current theme: save your palette as a custom theme for future dashboards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Avoid bright rainbow charts — use 2–3 colors maximum per visual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499201"/>
            <a:ext cx="4114800" cy="152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499200"/>
            <a:ext cx="4114800" cy="30526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499200"/>
            <a:ext cx="3977640" cy="305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Conditional Formatting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901536"/>
            <a:ext cx="3931920" cy="1175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On Utilization % card: Red &lt; 50%, Yellow 50–75%, Green &gt; 75%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On the Budget vs. Spent table: highlight rows where Utilization &lt; 40% in red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On the Status treemap: Delayed = Orange (#C2410C), On Hold = Red (#991B1B)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86192"/>
            <a:ext cx="4114800" cy="152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086191"/>
            <a:ext cx="4114800" cy="305269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086191"/>
            <a:ext cx="3977640" cy="305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Titles &amp; Labels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2488527"/>
            <a:ext cx="3931920" cy="1175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Every visual must have a descriptive title — not 'Chart 1'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Add subtitle to cards showing the as-of date: 'As of FY2024 Q4'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Enable data labels on bar chart bars for values above $5M threshold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086192"/>
            <a:ext cx="4114800" cy="152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086191"/>
            <a:ext cx="4114800" cy="305269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086191"/>
            <a:ext cx="3977640" cy="305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2488527"/>
            <a:ext cx="3931920" cy="1175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Check contrast ratio: text must be 4.5:1 against background (WCAG AA standard)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Add Alt Text to each visual: right-click → Edit Alt Text → describe what the chart shows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Avoid red-green only encoding — add patterns or labels for colorblind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66418"/>
            <a:ext cx="4114800" cy="136616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666418"/>
            <a:ext cx="4114800" cy="20310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666418"/>
            <a:ext cx="3977640" cy="203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HIPAA / Data Privacy (if applicable)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4068754"/>
            <a:ext cx="3931920" cy="897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Housing data has no patient PII — but remove ContractorName from public-facing reports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Do not display individual project manager names in public dashboards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Mark the report as 'Internal Use Only' in Power BI Service sensitivity labels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Completed Dashboard – What It Should Look Like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2317"/>
            <a:ext cx="1554480" cy="223375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2317"/>
            <a:ext cx="1554480" cy="22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31360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When all 8 stages are complete, your dashboard should display this full layout. Use this slide as a quality-check reference.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64033"/>
            <a:ext cx="8595360" cy="38221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64033"/>
            <a:ext cx="859536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64033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🏙️  Housing for All Initiative – Executive Dashboard  |  FY2024  |  City Manager's Office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120649"/>
            <a:ext cx="1609344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120649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$145.9M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Budget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48256" y="1120649"/>
            <a:ext cx="1609344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48256" y="1120649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$79.9M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Spent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49040" y="1120649"/>
            <a:ext cx="160934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1120649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54.8%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Utilization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1120649"/>
            <a:ext cx="1609344" cy="53035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9824" y="1120649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985/1,919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Units Complete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50608" y="1120649"/>
            <a:ext cx="1645920" cy="5303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0608" y="1120649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Delayed Projects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1715009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1715009"/>
            <a:ext cx="4160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📊  Budget vs. Spent by Ward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7377"/>
                </a:solidFill>
              </a:rPr>
              <a:t>(Clustered Bar Chart)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36008" y="1715009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6008" y="1715009"/>
            <a:ext cx="41605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⚖️  Income vs. Budget Per Capita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28D9"/>
                </a:solidFill>
              </a:rPr>
              <a:t>(Equity Scatter Plot + Trend Line)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086609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3086609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</a:rPr>
              <a:t>🌳  Project Status Treemap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63824" y="3086609"/>
            <a:ext cx="27249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63824" y="3086609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🍩  Funding Source Donut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0176" y="3086609"/>
            <a:ext cx="28163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80176" y="3086609"/>
            <a:ext cx="2816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🔍  Decomposition 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</a:rPr>
              <a:t>(Budget Drill-Down)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22801"/>
            <a:ext cx="8595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4622801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Slicers active: Ward Name  |  Project Status  |  Funding Category  |  Project Type  |  Fiscal Year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6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Dataset Summary – All 12 Wards at a Glance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62317"/>
            <a:ext cx="1554480" cy="261257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62317"/>
            <a:ext cx="1554480" cy="261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05974"/>
            <a:ext cx="8595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50597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Reference: All key metrics by ward — use this to verify your dashboard values are correct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789050"/>
              </p:ext>
            </p:extLst>
          </p:nvPr>
        </p:nvGraphicFramePr>
        <p:xfrm>
          <a:off x="274320" y="926598"/>
          <a:ext cx="8595360" cy="398961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Spent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Util%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$/Cap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Pov%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Proj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Units C/T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Delayed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North Hills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$25.5M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$7.8M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30.8%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60/268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Riverside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50.0%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18/78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Central 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70.6%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65/100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East Heights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$8.9M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59.2%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8.1%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129/257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Southgate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65.6%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52/71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Westbrook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$12.1M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51.7%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11.2%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101/212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Harbor District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$6.7M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62.3%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51/75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University Hts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$5.6M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$2.8M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49.8%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19.5%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22/47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 (on hold)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Oak Park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$19.9M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$11.3M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57.0%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$485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7.5%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161/300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Industrial Corr.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$2.4M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76.0%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21.0%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22/30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Lakefront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$31.2M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$21.2M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67.9%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$947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284/398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Midtown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$7.2M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$2.6M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36.0%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$129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17.2%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20/83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$145.9M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$79.9M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54.8%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$338 avg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14.8% avg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74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985/1,919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Questions – Model Answers from the Data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Use these data-backed answers as a guide for your written analysis (Question 6B and Question 8).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109728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9786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Q: Which ward received the most funding? Which received the least?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Lakefront received the most at $31.2M (21.4% of total budget). Industrial Corridor received the least at $3.2M (2.2%). The ratio is 9.8:1 — nearly a 10-fold difference between the highest and lowest funded wards.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109728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562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Q: What is the overall budget utilization rate? Which ward has the highest/lowest?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Overall: 54.8% — meaning $66M of the $145.9M commitment is unspent. Highest: Industrial Corridor at 76.0%. Lowest: North Hills at 30.8%. Low utilization indicates implementation delays, not efficiency — unspent funds are not housing anyone.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109728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</a:rPr>
              <a:t>Q: Is there a positive or negative correlation between income and funding per capita?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614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Positive correlation (upward scatter plot trend). Wealthier wards (Lakefront $105K income, $947/capita) receive significantly more per resident than poorer wards (Southgate $38K income, $115/capita). This is an 8.2:1 disparity that constitutes a measurable equity gap.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7296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Q: What percentage of funding comes from federal sources? What are the risks?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4198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22.2% of the $145.9M total ($32.4M) is federal. Combined with debt financing at 33.6%, the initiative has significant exposure to external funding conditions. Risk: federal housing policy changes or a budget continuing resolution could freeze $32.4M mid-project.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03904"/>
            <a:ext cx="109728" cy="5669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</a:rPr>
              <a:t>Q: Which project type has the highest completion rate? Which has the lowest?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Highest: Homeownership Program at 69% (66 of 96 units). New Construction has the lowest at 15% (10 of 66 units). Mixed Use Development is also low at 24% — complex permitting, multi-use zoning, and design coordination slow these projects significantly.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8970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</a:rPr>
              <a:t>Q: Are delays concentrated in certain wards?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→ Yes — Westbrook has 3 of the 11 delayed/on-hold projects, all in the same time window. North Hills has 2. This concentration suggests systemic issues (contractor performance, project manager capacity) rather than random project risk.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6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Policy Memo – Q8 Model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27432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26720"/>
            <a:ext cx="8595360" cy="35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Question 8 (10 pts) asks for a memo to the City Manager with 2 data-backed recommendations. Here is the 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797896"/>
            <a:ext cx="85953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7978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 FORMAT:  TO: City Manager  ·  FROM: Data Analyst  ·  RE: Housing for All – Dashboard Findings &amp; Recommendations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9167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91672"/>
            <a:ext cx="109728" cy="56692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319104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Opening Summary (2–3 sentences)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5659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Housing for All initiative has allocated $145.9M across 74 projects in 12 wards. As of FY2024, 54.8% of funds have been spent, with 985 of 1,919 targeted housing units delivered. This dashboard analysis identifies two priority issues requiring Council attention.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5004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950040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97747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Finding 1 – Equity Gap (Supported by Scatter Plot)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243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Budget per capita ranges from $947 in Lakefront (4.8% poverty) to $115 in Southgate (25.3% poverty) — an 8.2:1 disparity. Three of the four highest-funded wards (Lakefront, North Hills, Oak Park) have poverty rates below 8%. This pattern is inconsistent with an equity-centered housing mandate.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0840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608408"/>
            <a:ext cx="109728" cy="5669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358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Recommendation 1 – Reallocation Proposal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882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Direct the next $10M in unallocated Housing Bond Series A funds to Southgate, Riverside, and Central Core — the three wards with the highest poverty rates and lowest per-capita funding. Require project proposals within 60 days using existing DimFundingSource F-300 structure.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6677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266776"/>
            <a:ext cx="109728" cy="5669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9420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Finding 2 – Implementation Delays (Supported by Treemap)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4109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11 of 74 projects (14.9%) are Delayed or On Hold. Westbrook has 3 delayed projects; North Hills has 2. North Hills has the lowest utilization at 30.8% ($17.6M unspent). This represents an implementation failure, not a funding gap.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2514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925144"/>
            <a:ext cx="109728" cy="5669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95257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</a:rPr>
              <a:t>Recommendation 2 – Performance 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9946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Commission a 30-day project performance audit for all Delayed and On Hold projects. Evaluate contractor Foundation Builders (involved in 2 of Westbrook's 3 delayed projects). Establish a utilization milestone: 60% by Q2 FY2025 or trigger reallocation review.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610944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6109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High-scoring memos: (1) cite specific numbers, (2) name specific wards, (3) connect each recommendation to a specific visual, (4) propose a measurable next step with a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Guide – 10 Common Problems &amp; Fixes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749808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Blank card visual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74980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Measure formula has an error — look for red error bar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64608" y="749808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Check spelling of table name and column name. Use the Fields pane to drag fields directly rather than typing.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18872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188720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Wrong KPI 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118872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Wrong column in formula, or relationship not active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1188720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Open Data View and spot-check: do the raw numbers match expected? Is the relationship line active (solid not dashed)?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62763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1627632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Many-to-Many warning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162763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Duplicate WardID or FundID in a dimension table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1627632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Open Power Query → filter for blank WardID → delete row. Re-check the relationship after fixing.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06654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" y="2066544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Scatter plot shows one dot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206654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WardName not in Details bucket — all wards aggregate to one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64608" y="2066544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Drag WardName from DimWard to the Details bucket (not X or Y axis).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505456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250545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2505456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Bar chart not sorted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31720" y="250545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Default sort is alphabetical by category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2505456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Right-click the chart → Sort axis → Select 'Total Budget' → Descending.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944368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2944368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Donut shows no percentages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2944368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Data labels turned off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64608" y="2944368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Format pane → Data labels → On → Show percentage. Adjust font size if labels overlap.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383280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3383280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Slicer doesn't filter a visual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31720" y="3383280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Visual excluded from slicer interaction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64608" y="3383280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Format menu → Edit interactions → Click the slicer → Find the visual with the X icon → Change to Filter (funnel icon).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822192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822192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" y="3822192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DimDate not connecting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31720" y="3822192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Date column stored as Text, not Date type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64608" y="3822192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Power Query → select Date column → Transform → Data Type → Date. Close and Apply.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261104"/>
            <a:ext cx="8595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261104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0352" y="4261104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Units Completion % = blank or 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331720" y="4261104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Either UnitsTarget = 0 for some projects, or wrong column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64608" y="4261104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Check that DIVIDE has 0 as the third argument. Verify column names exactly match FactHousingProjects.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4700016"/>
            <a:ext cx="8595360" cy="37490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4700016"/>
            <a:ext cx="201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" y="4700016"/>
            <a:ext cx="1737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DIVIDE returns error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331720" y="4700016"/>
            <a:ext cx="24688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Cause: Referencing measures that haven't been created yet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864608" y="4700016"/>
            <a:ext cx="39776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Fix: Create Total Budget and Total Spent first. Measures must exist before being referenced in other measures.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Checklist – Before You Submit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06640" y="1097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</a:rPr>
              <a:t>Go through every item before submitting your .pbix file and written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9502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4 CSV files loaded: FactHousingProjects (74 rows), DimWard (12), DimFundingSource (10), DimDate (551)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3 relationships in Model View: WardID, FundID, StartDate → FactHousingProjects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All relationships: One-to-Many · Single cross-filter · Active = checked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Screenshot of Model View taken, all relationship lines visible and annotated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DAX Measures (5 required)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39502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Total Budget = $145,860,000  (format: Currency)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Total Spent = $79,937,213  (format: Currency)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Utilization % = 54.8%  (format: Percentage)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Units Completion % = 51.3%  (format: Percentage)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Budget Per Capita — by ward: Lakefront=$947, Southgate=$115  (format: Currency)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72384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4114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723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Visuals (5 required)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39502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KPI Cards: 4 cards showing Total Budget, Utilization %, Units Created/Target, Delayed Count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Clustered Bar Chart: Budget vs. Spent by Ward, sorted descending by budget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Equity Scatter Plot: MedianIncome (X) vs Budget Per Capita (Y), trend line visible, WardName as detail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Project Status Treemap: colored by status — Delayed=orange, Completed=green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Funding Source Donut Chart: 5 categories, percentages shown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072384"/>
            <a:ext cx="41148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072384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30723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Written Analysis (Q8)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3474720"/>
            <a:ext cx="39502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Identifies which wards are underserved (Central Core, Southgate, Riverside)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Discusses equity gap with specific numbers ($947 vs $115 per capita)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Provides 2 specific, actionable recommendations with data support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334155"/>
                </a:solidFill>
              </a:rPr>
              <a:t>☐  Policy memo format: TO, FROM, RE, date, findings,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42B50"/>
          </a:solidFill>
          <a:ln w="12700">
            <a:solidFill>
              <a:srgbClr val="142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✅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Dashboard Complete!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DBD"/>
                </a:solidFill>
              </a:rPr>
              <a:t>You have built a full Power BI dashboard from raw CSVs to executive-ready insights.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2944368"/>
            <a:ext cx="4572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You connected 4 CSV files  ·  Built a star schema  ·  Wrote 5 DAX measures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D0"/>
                </a:solidFill>
              </a:rPr>
              <a:t>Built 6 visuals  ·  Added 5 slicers  ·  Discovered the equity story in the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9DC0"/>
                </a:solidFill>
              </a:rPr>
              <a:t>Submit: .pbix file + written analysis → course portal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DC0"/>
                </a:solidFill>
              </a:rPr>
              <a:t>MG628  ·  Week 6  ·  Data Analysis for Managerial Decision-Making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7659</Words>
  <Application>Microsoft Office PowerPoint</Application>
  <PresentationFormat>On-screen Show (16:9)</PresentationFormat>
  <Paragraphs>1105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for All – Power BI Dashboard Walkthrough</dc:title>
  <dc:subject>PptxGenJS Presentation</dc:subject>
  <dc:creator>PptxGenJS</dc:creator>
  <cp:lastModifiedBy>Fomba Kassoh</cp:lastModifiedBy>
  <cp:revision>2</cp:revision>
  <dcterms:created xsi:type="dcterms:W3CDTF">2026-05-30T03:16:47Z</dcterms:created>
  <dcterms:modified xsi:type="dcterms:W3CDTF">2026-05-30T18:59:04Z</dcterms:modified>
</cp:coreProperties>
</file>