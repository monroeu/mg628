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charts/chart1.xml" ContentType="application/vnd.openxmlformats-officedocument.drawingml.chart+xml"/>
  <Override PartName="/ppt/notesSlides/notesSlide21.xml" ContentType="application/vnd.openxmlformats-officedocument.presentationml.notesSlide+xml"/>
  <Override PartName="/ppt/charts/chart2.xml" ContentType="application/vnd.openxmlformats-officedocument.drawingml.chart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charts/chart3.xml" ContentType="application/vnd.openxmlformats-officedocument.drawingml.chart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charts/chart4.xml" ContentType="application/vnd.openxmlformats-officedocument.drawingml.chart+xml"/>
  <Override PartName="/ppt/notesSlides/notesSlide29.xml" ContentType="application/vnd.openxmlformats-officedocument.presentationml.notesSlide+xml"/>
  <Override PartName="/ppt/charts/chart5.xml" ContentType="application/vnd.openxmlformats-officedocument.drawingml.chart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98" r:id="rId21"/>
    <p:sldId id="275" r:id="rId22"/>
    <p:sldId id="276" r:id="rId23"/>
    <p:sldId id="277" r:id="rId24"/>
    <p:sldId id="278" r:id="rId25"/>
    <p:sldId id="279" r:id="rId26"/>
    <p:sldId id="280" r:id="rId27"/>
    <p:sldId id="281" r:id="rId28"/>
    <p:sldId id="282" r:id="rId29"/>
    <p:sldId id="283" r:id="rId30"/>
    <p:sldId id="284" r:id="rId31"/>
    <p:sldId id="285" r:id="rId32"/>
    <p:sldId id="286" r:id="rId33"/>
    <p:sldId id="287" r:id="rId34"/>
    <p:sldId id="288" r:id="rId35"/>
    <p:sldId id="289" r:id="rId36"/>
    <p:sldId id="290" r:id="rId37"/>
    <p:sldId id="291" r:id="rId38"/>
    <p:sldId id="292" r:id="rId39"/>
    <p:sldId id="293" r:id="rId40"/>
    <p:sldId id="294" r:id="rId41"/>
    <p:sldId id="295" r:id="rId42"/>
    <p:sldId id="296" r:id="rId43"/>
    <p:sldId id="297" r:id="rId44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41" d="100"/>
          <a:sy n="141" d="100"/>
        </p:scale>
        <p:origin x="666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Admissions</c:v>
                </c:pt>
              </c:strCache>
            </c:strRef>
          </c:tx>
          <c:spPr>
            <a:solidFill>
              <a:srgbClr val="1B3A6B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Sheet1!$A$2:$A$12</c:f>
              <c:strCache>
                <c:ptCount val="11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</c:strCache>
            </c:strRef>
          </c:cat>
          <c:val>
            <c:numRef>
              <c:f>Sheet1!$B$2:$B$12</c:f>
              <c:numCache>
                <c:formatCode>General</c:formatCode>
                <c:ptCount val="11"/>
                <c:pt idx="0">
                  <c:v>31</c:v>
                </c:pt>
                <c:pt idx="1">
                  <c:v>53</c:v>
                </c:pt>
                <c:pt idx="2">
                  <c:v>46</c:v>
                </c:pt>
                <c:pt idx="3">
                  <c:v>29</c:v>
                </c:pt>
                <c:pt idx="4">
                  <c:v>44</c:v>
                </c:pt>
                <c:pt idx="5">
                  <c:v>43</c:v>
                </c:pt>
                <c:pt idx="6">
                  <c:v>49</c:v>
                </c:pt>
                <c:pt idx="7">
                  <c:v>44</c:v>
                </c:pt>
                <c:pt idx="8">
                  <c:v>58</c:v>
                </c:pt>
                <c:pt idx="9">
                  <c:v>57</c:v>
                </c:pt>
                <c:pt idx="10">
                  <c:v>46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55E-455C-A6B9-5883DF332901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3415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34155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Avg LOS (days)</c:v>
                </c:pt>
              </c:strCache>
            </c:strRef>
          </c:tx>
          <c:spPr>
            <a:solidFill>
              <a:srgbClr val="991B1B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396E-4074-92F5-C0552AABF8B1}"/>
              </c:ext>
            </c:extLst>
          </c:dPt>
          <c:dPt>
            <c:idx val="1"/>
            <c:invertIfNegative val="0"/>
            <c:bubble3D val="0"/>
            <c:spPr>
              <a:solidFill>
                <a:srgbClr val="C2410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396E-4074-92F5-C0552AABF8B1}"/>
              </c:ext>
            </c:extLst>
          </c:dPt>
          <c:dPt>
            <c:idx val="2"/>
            <c:invertIfNegative val="0"/>
            <c:bubble3D val="0"/>
            <c:spPr>
              <a:solidFill>
                <a:srgbClr val="D9770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396E-4074-92F5-C0552AABF8B1}"/>
              </c:ext>
            </c:extLst>
          </c:dPt>
          <c:dPt>
            <c:idx val="3"/>
            <c:invertIfNegative val="0"/>
            <c:bubble3D val="0"/>
            <c:spPr>
              <a:solidFill>
                <a:srgbClr val="0D7377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396E-4074-92F5-C0552AABF8B1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Urgent</c:v>
                </c:pt>
                <c:pt idx="1">
                  <c:v>Transfer</c:v>
                </c:pt>
                <c:pt idx="2">
                  <c:v>Emergency</c:v>
                </c:pt>
                <c:pt idx="3">
                  <c:v>Elective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5.19</c:v>
                </c:pt>
                <c:pt idx="1">
                  <c:v>4.67</c:v>
                </c:pt>
                <c:pt idx="2">
                  <c:v>3.8</c:v>
                </c:pt>
                <c:pt idx="3">
                  <c:v>2.59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396E-4074-92F5-C0552AABF8B1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3415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1270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34155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800" b="0" i="0" u="none" strike="noStrike">
                <a:solidFill>
                  <a:srgbClr val="000000"/>
                </a:solidFill>
                <a:latin typeface="Arial"/>
              </a:defRPr>
            </a:pPr>
            <a:r>
              <a:rPr lang="en-US" sz="1800" b="0" i="0" u="none" strike="noStrike">
                <a:solidFill>
                  <a:srgbClr val="000000"/>
                </a:solidFill>
                <a:latin typeface="Arial"/>
              </a:rPr>
              <a:t>Avg Cost by Department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Avg Cost ($)</c:v>
                </c:pt>
              </c:strCache>
            </c:strRef>
          </c:tx>
          <c:spPr>
            <a:solidFill>
              <a:srgbClr val="1B3A6B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Sheet1!$A$2:$A$11</c:f>
              <c:strCache>
                <c:ptCount val="10"/>
                <c:pt idx="0">
                  <c:v>Cardiac Care</c:v>
                </c:pt>
                <c:pt idx="1">
                  <c:v>Kidney Care</c:v>
                </c:pt>
                <c:pt idx="2">
                  <c:v>Diab &amp; Metab</c:v>
                </c:pt>
                <c:pt idx="3">
                  <c:v>Neuroscience</c:v>
                </c:pt>
                <c:pt idx="4">
                  <c:v>General Med</c:v>
                </c:pt>
                <c:pt idx="5">
                  <c:v>Cancer Ctr</c:v>
                </c:pt>
                <c:pt idx="6">
                  <c:v>Emergency</c:v>
                </c:pt>
                <c:pt idx="7">
                  <c:v>Digest Health</c:v>
                </c:pt>
                <c:pt idx="8">
                  <c:v>Resp Care</c:v>
                </c:pt>
                <c:pt idx="9">
                  <c:v>Surgery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14312</c:v>
                </c:pt>
                <c:pt idx="1">
                  <c:v>14390</c:v>
                </c:pt>
                <c:pt idx="2">
                  <c:v>14048</c:v>
                </c:pt>
                <c:pt idx="3">
                  <c:v>13983</c:v>
                </c:pt>
                <c:pt idx="4">
                  <c:v>12277</c:v>
                </c:pt>
                <c:pt idx="5">
                  <c:v>12045</c:v>
                </c:pt>
                <c:pt idx="6">
                  <c:v>11250</c:v>
                </c:pt>
                <c:pt idx="7">
                  <c:v>11650</c:v>
                </c:pt>
                <c:pt idx="8">
                  <c:v>11843</c:v>
                </c:pt>
                <c:pt idx="9">
                  <c:v>8956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A78-4040-93ED-3EF57BB5521C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3415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1270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34155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800" b="0" i="0" u="none" strike="noStrike">
                <a:solidFill>
                  <a:srgbClr val="000000"/>
                </a:solidFill>
                <a:latin typeface="Arial"/>
              </a:defRPr>
            </a:pPr>
            <a:r>
              <a:rPr lang="en-US" sz="1800" b="0" i="0" u="none" strike="noStrike">
                <a:solidFill>
                  <a:srgbClr val="000000"/>
                </a:solidFill>
                <a:latin typeface="Arial"/>
              </a:rPr>
              <a:t>Monthly Admissions (Jan–Nov 2024)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Admissions</c:v>
                </c:pt>
              </c:strCache>
            </c:strRef>
          </c:tx>
          <c:spPr>
            <a:ln w="25400" cap="flat">
              <a:solidFill>
                <a:srgbClr val="1B3A6B"/>
              </a:solidFill>
              <a:prstDash val="solid"/>
              <a:round/>
            </a:ln>
            <a:effectLst/>
          </c:spPr>
          <c:marker>
            <c:symbol val="circle"/>
            <c:size val="7"/>
            <c:spPr>
              <a:solidFill>
                <a:srgbClr val="1B3A6B"/>
              </a:solidFill>
              <a:ln w="9525" cap="flat">
                <a:solidFill>
                  <a:srgbClr val="1B3A6B"/>
                </a:solidFill>
                <a:prstDash val="solid"/>
                <a:round/>
              </a:ln>
              <a:effectLst/>
            </c:spPr>
          </c:marker>
          <c:cat>
            <c:strRef>
              <c:f>Sheet1!$A$2:$A$12</c:f>
              <c:strCache>
                <c:ptCount val="11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</c:strCache>
            </c:strRef>
          </c:cat>
          <c:val>
            <c:numRef>
              <c:f>Sheet1!$B$2:$B$12</c:f>
              <c:numCache>
                <c:formatCode>General</c:formatCode>
                <c:ptCount val="11"/>
                <c:pt idx="0">
                  <c:v>31</c:v>
                </c:pt>
                <c:pt idx="1">
                  <c:v>53</c:v>
                </c:pt>
                <c:pt idx="2">
                  <c:v>46</c:v>
                </c:pt>
                <c:pt idx="3">
                  <c:v>29</c:v>
                </c:pt>
                <c:pt idx="4">
                  <c:v>44</c:v>
                </c:pt>
                <c:pt idx="5">
                  <c:v>43</c:v>
                </c:pt>
                <c:pt idx="6">
                  <c:v>49</c:v>
                </c:pt>
                <c:pt idx="7">
                  <c:v>44</c:v>
                </c:pt>
                <c:pt idx="8">
                  <c:v>58</c:v>
                </c:pt>
                <c:pt idx="9">
                  <c:v>57</c:v>
                </c:pt>
                <c:pt idx="10">
                  <c:v>46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2E53-47BE-9D6F-F1EC4F33D45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3415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34155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800" b="0" i="0" u="none" strike="noStrike">
                <a:solidFill>
                  <a:srgbClr val="000000"/>
                </a:solidFill>
                <a:latin typeface="Arial"/>
              </a:defRPr>
            </a:pPr>
            <a:r>
              <a:rPr lang="en-US" sz="1800" b="0" i="0" u="none" strike="noStrike">
                <a:solidFill>
                  <a:srgbClr val="000000"/>
                </a:solidFill>
                <a:latin typeface="Arial"/>
              </a:rPr>
              <a:t>Readmission Rate by Department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Readmission Rate</c:v>
                </c:pt>
              </c:strCache>
            </c:strRef>
          </c:tx>
          <c:spPr>
            <a:solidFill>
              <a:srgbClr val="1B3A6B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334155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Sheet1!$A$2:$A$11</c:f>
              <c:strCache>
                <c:ptCount val="10"/>
                <c:pt idx="0">
                  <c:v>Surgery</c:v>
                </c:pt>
                <c:pt idx="1">
                  <c:v>Cardiac Care</c:v>
                </c:pt>
                <c:pt idx="2">
                  <c:v>Diabetes &amp; Metab</c:v>
                </c:pt>
                <c:pt idx="3">
                  <c:v>Kidney Care</c:v>
                </c:pt>
                <c:pt idx="4">
                  <c:v>General Medicine</c:v>
                </c:pt>
                <c:pt idx="5">
                  <c:v>Emergency</c:v>
                </c:pt>
                <c:pt idx="6">
                  <c:v>Neuroscience</c:v>
                </c:pt>
                <c:pt idx="7">
                  <c:v>Respiratory Care</c:v>
                </c:pt>
                <c:pt idx="8">
                  <c:v>Digestive Health</c:v>
                </c:pt>
                <c:pt idx="9">
                  <c:v>Cancer Center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0.20799999999999999</c:v>
                </c:pt>
                <c:pt idx="1">
                  <c:v>0.185</c:v>
                </c:pt>
                <c:pt idx="2">
                  <c:v>0.16400000000000001</c:v>
                </c:pt>
                <c:pt idx="3">
                  <c:v>0.128</c:v>
                </c:pt>
                <c:pt idx="4">
                  <c:v>0.111</c:v>
                </c:pt>
                <c:pt idx="5">
                  <c:v>0.1</c:v>
                </c:pt>
                <c:pt idx="6">
                  <c:v>9.8000000000000004E-2</c:v>
                </c:pt>
                <c:pt idx="7">
                  <c:v>8.4000000000000005E-2</c:v>
                </c:pt>
                <c:pt idx="8">
                  <c:v>7.3999999999999996E-2</c:v>
                </c:pt>
                <c:pt idx="9">
                  <c:v>2.3E-2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B99-4EDD-AE30-6CF9DD3D6331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3415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1270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34155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834027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8C181A-C3D9-AAAC-960C-2109847A60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0F43562-D717-FCD1-8C91-C753E2E0B14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DB29906-9EA6-DB95-991F-3C7190673D0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AB46376-6100-0DA5-69BB-FD22C436C0C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908678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3A6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4434840"/>
            <a:ext cx="9144000" cy="708660"/>
          </a:xfrm>
          <a:prstGeom prst="rect">
            <a:avLst/>
          </a:prstGeom>
          <a:solidFill>
            <a:srgbClr val="142B50"/>
          </a:solidFill>
          <a:ln w="12700">
            <a:solidFill>
              <a:srgbClr val="142B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0" y="475488"/>
            <a:ext cx="91440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400" dirty="0">
                <a:solidFill>
                  <a:srgbClr val="000000"/>
                </a:solidFill>
              </a:rPr>
              <a:t>🏥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457200" y="15087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Flow &amp; Readmission Analysis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14BDBD"/>
                </a:solidFill>
              </a:rPr>
              <a:t>Power BI Dashboard – Full Step-by-Step Walkthrough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2926080" y="2852928"/>
            <a:ext cx="3291840" cy="36576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57200" y="2962656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A0B4D0"/>
                </a:solidFill>
              </a:rPr>
              <a:t>500 Admissions  ·  145 Patients  ·  20 Doctors  ·  4 Facilities  ·  $6.36M Total Cost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4462272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7A9DC0"/>
                </a:solidFill>
              </a:rPr>
              <a:t>MG628 – Data Analysis for Managerial Decision-Making  |  Week 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74320" y="0"/>
            <a:ext cx="7406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 Will Build in This Walkthrough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7406640" y="109728"/>
            <a:ext cx="1554480" cy="411480"/>
          </a:xfrm>
          <a:prstGeom prst="roundRect">
            <a:avLst>
              <a:gd name="adj" fmla="val 17778"/>
            </a:avLst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406640" y="109728"/>
            <a:ext cx="1554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OVERVIEW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274320" y="749808"/>
            <a:ext cx="8595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</a:rPr>
              <a:t>By the end of this guide you will have a complete Power BI dashboard answering the Chief Medical Officer's two critical questions: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74320" y="1234440"/>
            <a:ext cx="4160520" cy="475488"/>
          </a:xfrm>
          <a:prstGeom prst="rect">
            <a:avLst/>
          </a:prstGeom>
          <a:solidFill>
            <a:srgbClr val="991B1B"/>
          </a:solidFill>
          <a:ln w="12700">
            <a:solidFill>
              <a:srgbClr val="991B1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65760" y="1234440"/>
            <a:ext cx="40233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🚨 Problem 1: Bed Blocking — patients waiting too long for beds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617720" y="1234440"/>
            <a:ext cx="4251960" cy="47548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709160" y="1234440"/>
            <a:ext cx="41148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⚠️ Problem 2: High Readmissions — patients returning within 30 days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74320" y="1828800"/>
            <a:ext cx="2743200" cy="135331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274320" y="1828800"/>
            <a:ext cx="2743200" cy="347472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365760" y="1828800"/>
            <a:ext cx="2606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📊  4 KPI Cards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65760" y="2231136"/>
            <a:ext cx="2606040" cy="8778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</a:rPr>
              <a:t>Total Admissions · ALOS · Readmission Rate · Avg Cost per Patient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3154680" y="1828800"/>
            <a:ext cx="2743200" cy="135331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3154680" y="1828800"/>
            <a:ext cx="2743200" cy="347472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3246120" y="1828800"/>
            <a:ext cx="2606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📈  Admissions Trend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246120" y="2231136"/>
            <a:ext cx="2606040" cy="8778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</a:rPr>
              <a:t>Line chart: monthly admissions + readmissions over time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035040" y="1828800"/>
            <a:ext cx="2743200" cy="135331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6035040" y="1828800"/>
            <a:ext cx="2743200" cy="347472"/>
          </a:xfrm>
          <a:prstGeom prst="rect">
            <a:avLst/>
          </a:prstGeom>
          <a:solidFill>
            <a:srgbClr val="991B1B"/>
          </a:solidFill>
          <a:ln w="12700">
            <a:solidFill>
              <a:srgbClr val="991B1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6126480" y="1828800"/>
            <a:ext cx="2606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📋  Readmission by Dept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126480" y="2231136"/>
            <a:ext cx="2606040" cy="8778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</a:rPr>
              <a:t>Bar chart + 21.9% national benchmark line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274320" y="3310128"/>
            <a:ext cx="2743200" cy="135331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274320" y="3310128"/>
            <a:ext cx="2743200" cy="347472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365760" y="3310128"/>
            <a:ext cx="2606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🔥  Peak Admission Heatmap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365760" y="3712464"/>
            <a:ext cx="2606040" cy="8778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</a:rPr>
              <a:t>Day of week × Month matrix with conditional formatting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3154680" y="3310128"/>
            <a:ext cx="2743200" cy="135331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3154680" y="3310128"/>
            <a:ext cx="2743200" cy="347472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3246120" y="3310128"/>
            <a:ext cx="2606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🌳  Decomposition Tree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3246120" y="3712464"/>
            <a:ext cx="2606040" cy="8778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</a:rPr>
              <a:t>LOS drill: Department → Age Group → Insurance → Condition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6035040" y="3310128"/>
            <a:ext cx="2743200" cy="135331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6035040" y="3310128"/>
            <a:ext cx="2743200" cy="347472"/>
          </a:xfrm>
          <a:prstGeom prst="rect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6126480" y="3310128"/>
            <a:ext cx="2606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🗺️  Treemap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6126480" y="3712464"/>
            <a:ext cx="2606040" cy="8778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</a:rPr>
              <a:t>Readmissions by specialty — biggest box = biggest problem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74320" y="0"/>
            <a:ext cx="7406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Walkthrough Roadmap – 9 Stages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7406640" y="109728"/>
            <a:ext cx="1554480" cy="411480"/>
          </a:xfrm>
          <a:prstGeom prst="roundRect">
            <a:avLst>
              <a:gd name="adj" fmla="val 17778"/>
            </a:avLst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406640" y="109728"/>
            <a:ext cx="1554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OVERVIEW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274320" y="749808"/>
            <a:ext cx="859536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274320" y="749808"/>
            <a:ext cx="1005840" cy="402336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274320" y="749808"/>
            <a:ext cx="10058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Stage 1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1371600" y="749808"/>
            <a:ext cx="28346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3A6B"/>
                </a:solidFill>
              </a:rPr>
              <a:t>Meet the Data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315968" y="749808"/>
            <a:ext cx="450799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</a:rPr>
              <a:t>4 CSV files, row counts, columns, sample values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74320" y="1225296"/>
            <a:ext cx="859536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274320" y="1225296"/>
            <a:ext cx="1005840" cy="402336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274320" y="1225296"/>
            <a:ext cx="10058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Stage 2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1371600" y="1225296"/>
            <a:ext cx="28346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7377"/>
                </a:solidFill>
              </a:rPr>
              <a:t>Load into Power BI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315968" y="1225296"/>
            <a:ext cx="450799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</a:rPr>
              <a:t>Get Data → Text/CSV, verify in Fields pane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74320" y="1700784"/>
            <a:ext cx="859536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274320" y="1700784"/>
            <a:ext cx="1005840" cy="402336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274320" y="1700784"/>
            <a:ext cx="10058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Stage 3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1371600" y="1700784"/>
            <a:ext cx="28346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D4ED8"/>
                </a:solidFill>
              </a:rPr>
              <a:t>Build the Data Model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315968" y="1700784"/>
            <a:ext cx="450799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</a:rPr>
              <a:t>Star schema — 3 One-to-Many relationships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274320" y="2176272"/>
            <a:ext cx="859536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274320" y="2176272"/>
            <a:ext cx="1005840" cy="402336"/>
          </a:xfrm>
          <a:prstGeom prst="rect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274320" y="2176272"/>
            <a:ext cx="10058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Stage 4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1371600" y="2176272"/>
            <a:ext cx="28346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D28D9"/>
                </a:solidFill>
              </a:rPr>
              <a:t>Create Calculated Columns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315968" y="2176272"/>
            <a:ext cx="450799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</a:rPr>
              <a:t>Age Group, Risk Level — DAX in DimPatient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274320" y="2651760"/>
            <a:ext cx="859536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274320" y="2651760"/>
            <a:ext cx="1005840" cy="402336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274320" y="2651760"/>
            <a:ext cx="10058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Stage 5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1371600" y="2651760"/>
            <a:ext cx="28346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97706"/>
                </a:solidFill>
              </a:rPr>
              <a:t>Create DAX Measures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4315968" y="2651760"/>
            <a:ext cx="450799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</a:rPr>
              <a:t>4 measures: ALOS, Readmission Rate, Total Admissions, Avg Cost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274320" y="3127248"/>
            <a:ext cx="859536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274320" y="3127248"/>
            <a:ext cx="1005840" cy="402336"/>
          </a:xfrm>
          <a:prstGeom prst="rect">
            <a:avLst/>
          </a:prstGeom>
          <a:solidFill>
            <a:srgbClr val="166534"/>
          </a:solidFill>
          <a:ln w="12700">
            <a:solidFill>
              <a:srgbClr val="16653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274320" y="3127248"/>
            <a:ext cx="10058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Stage 6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1371600" y="3127248"/>
            <a:ext cx="28346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66534"/>
                </a:solidFill>
              </a:rPr>
              <a:t>KPI Cards (Top Row)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4315968" y="3127248"/>
            <a:ext cx="450799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</a:rPr>
              <a:t>4 headline cards with actual verified values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274320" y="3602736"/>
            <a:ext cx="859536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7" name="Shape 35"/>
          <p:cNvSpPr/>
          <p:nvPr/>
        </p:nvSpPr>
        <p:spPr>
          <a:xfrm>
            <a:off x="274320" y="3602736"/>
            <a:ext cx="1005840" cy="402336"/>
          </a:xfrm>
          <a:prstGeom prst="rect">
            <a:avLst/>
          </a:prstGeom>
          <a:solidFill>
            <a:srgbClr val="991B1B"/>
          </a:solidFill>
          <a:ln w="12700">
            <a:solidFill>
              <a:srgbClr val="991B1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274320" y="3602736"/>
            <a:ext cx="10058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Stage 7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1371600" y="3602736"/>
            <a:ext cx="28346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991B1B"/>
                </a:solidFill>
              </a:rPr>
              <a:t>Trend &amp; Department Charts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4315968" y="3602736"/>
            <a:ext cx="450799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</a:rPr>
              <a:t>Line chart + Readmission by Department bar chart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274320" y="4078224"/>
            <a:ext cx="859536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2" name="Shape 40"/>
          <p:cNvSpPr/>
          <p:nvPr/>
        </p:nvSpPr>
        <p:spPr>
          <a:xfrm>
            <a:off x="274320" y="4078224"/>
            <a:ext cx="1005840" cy="402336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274320" y="4078224"/>
            <a:ext cx="10058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Stage 8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1371600" y="4078224"/>
            <a:ext cx="28346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2410C"/>
                </a:solidFill>
              </a:rPr>
              <a:t>Heatmap + Decomp + Treemap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4315968" y="4078224"/>
            <a:ext cx="450799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</a:rPr>
              <a:t>Peak times, LOS root cause, specialty treemap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274320" y="4553712"/>
            <a:ext cx="859536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7" name="Shape 45"/>
          <p:cNvSpPr/>
          <p:nvPr/>
        </p:nvSpPr>
        <p:spPr>
          <a:xfrm>
            <a:off x="274320" y="4553712"/>
            <a:ext cx="1005840" cy="402336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Text 46"/>
          <p:cNvSpPr/>
          <p:nvPr/>
        </p:nvSpPr>
        <p:spPr>
          <a:xfrm>
            <a:off x="274320" y="4553712"/>
            <a:ext cx="10058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Stage 9</a:t>
            </a:r>
            <a:endParaRPr lang="en-US" sz="950" dirty="0"/>
          </a:p>
        </p:txBody>
      </p:sp>
      <p:sp>
        <p:nvSpPr>
          <p:cNvPr id="49" name="Text 47"/>
          <p:cNvSpPr/>
          <p:nvPr/>
        </p:nvSpPr>
        <p:spPr>
          <a:xfrm>
            <a:off x="1371600" y="4553712"/>
            <a:ext cx="28346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7377"/>
                </a:solidFill>
              </a:rPr>
              <a:t>Final Assembly + Slicers</a:t>
            </a:r>
            <a:endParaRPr lang="en-US" sz="1200" dirty="0"/>
          </a:p>
        </p:txBody>
      </p:sp>
      <p:sp>
        <p:nvSpPr>
          <p:cNvPr id="50" name="Text 48"/>
          <p:cNvSpPr/>
          <p:nvPr/>
        </p:nvSpPr>
        <p:spPr>
          <a:xfrm>
            <a:off x="4315968" y="4553712"/>
            <a:ext cx="450799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</a:rPr>
              <a:t>Layout, interactivity, formatting, submission checklist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B3A6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" cy="514350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0" y="1097280"/>
            <a:ext cx="91440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200" dirty="0">
                <a:solidFill>
                  <a:srgbClr val="000000"/>
                </a:solidFill>
              </a:rPr>
              <a:t>📂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457200" y="2176272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1: Meet the Data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457200" y="31546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14BDBD"/>
                </a:solidFill>
              </a:rPr>
              <a:t>4 CSV Files · Understand Before You Load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474720" y="3886200"/>
            <a:ext cx="2194560" cy="365760"/>
          </a:xfrm>
          <a:prstGeom prst="roundRect">
            <a:avLst>
              <a:gd name="adj" fmla="val 25000"/>
            </a:avLst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474720" y="388620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STEP-BY-STEP GUIDE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74320" y="0"/>
            <a:ext cx="7406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Dataset – 4 CSV Files Explained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7406640" y="109728"/>
            <a:ext cx="1554480" cy="411480"/>
          </a:xfrm>
          <a:prstGeom prst="roundRect">
            <a:avLst>
              <a:gd name="adj" fmla="val 17778"/>
            </a:avLst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406640" y="109728"/>
            <a:ext cx="1554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STAGE 1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274320" y="749808"/>
            <a:ext cx="8595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334155"/>
                </a:solidFill>
              </a:rPr>
              <a:t>Read this slide before opening Power BI. Understanding the structure prevents every common mistake.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74320" y="1188720"/>
            <a:ext cx="411480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274320" y="1188720"/>
            <a:ext cx="4114800" cy="347472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365760" y="1188720"/>
            <a:ext cx="3977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FactAdmissions.csv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65760" y="1572768"/>
            <a:ext cx="3977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3A6B"/>
                </a:solidFill>
              </a:rPr>
              <a:t>FACT TABLE — 500 rows, one per hospital admission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84048" y="1883664"/>
            <a:ext cx="39319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</a:rPr>
              <a:t>AdmissionID · PatientID 🔗 · DoctorID 🔗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</a:rPr>
              <a:t>FacilityID · AdmissionDate 🔗 · DischargeDate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</a:rPr>
              <a:t>LengthOfStay (days) · AdmissionType · Diagnosis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</a:rPr>
              <a:t>Cost ($) · ReadmissionFlag (0/1) · WasReadmission (0/1)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617720" y="1188720"/>
            <a:ext cx="411480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4617720" y="1188720"/>
            <a:ext cx="4114800" cy="347472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709160" y="1188720"/>
            <a:ext cx="3977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DimPatient.csv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709160" y="1572768"/>
            <a:ext cx="3977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7377"/>
                </a:solidFill>
              </a:rPr>
              <a:t>WHO DIMENSION — 150 rows, one per patient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727448" y="1883664"/>
            <a:ext cx="39319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</a:rPr>
              <a:t>PatientID 🔑 (unique primary key)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</a:rPr>
              <a:t>Name · Age · Gender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</a:rPr>
              <a:t>InsuranceProvider · ChronicCondition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74320" y="3127248"/>
            <a:ext cx="411480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274320" y="3127248"/>
            <a:ext cx="4114800" cy="34747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365760" y="3127248"/>
            <a:ext cx="3977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DimDoctor.csv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65760" y="3511296"/>
            <a:ext cx="3977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D97706"/>
                </a:solidFill>
              </a:rPr>
              <a:t>WHO TREATED THEM — 20 rows, one per doctor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384048" y="3822192"/>
            <a:ext cx="39319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</a:rPr>
              <a:t>DoctorID 🔑 (unique primary key)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</a:rPr>
              <a:t>DoctorName · Specialty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</a:rPr>
              <a:t>Department (the grouping used for analysis)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617720" y="3127248"/>
            <a:ext cx="411480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4617720" y="3127248"/>
            <a:ext cx="4114800" cy="347472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4709160" y="3127248"/>
            <a:ext cx="3977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DimDate.csv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709160" y="3511296"/>
            <a:ext cx="3977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D4ED8"/>
                </a:solidFill>
              </a:rPr>
              <a:t>WHEN — 551 rows, one per calendar day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727448" y="3822192"/>
            <a:ext cx="39319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</a:rPr>
              <a:t>Date 🔑 (unique primary key)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</a:rPr>
              <a:t>Month · MonthNum · CalendarQuarter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</a:rPr>
              <a:t>FiscalQuarter · FiscalYear · CalendarYear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</a:rPr>
              <a:t>DayOfWeek · IsWeekend · IsHoliday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800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74320" y="-67730"/>
            <a:ext cx="7406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Records – Verify These Values in Your Data View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7406640" y="41998"/>
            <a:ext cx="1554480" cy="411480"/>
          </a:xfrm>
          <a:prstGeom prst="roundRect">
            <a:avLst>
              <a:gd name="adj" fmla="val 17778"/>
            </a:avLst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406640" y="41998"/>
            <a:ext cx="1554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STAGE 1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274320" y="465331"/>
            <a:ext cx="8595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334155"/>
                </a:solidFill>
              </a:rPr>
              <a:t>After loading, open Data View in Power BI and confirm these sample records appear exactly as shown.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74320" y="885955"/>
            <a:ext cx="8595360" cy="329184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47472" y="885955"/>
            <a:ext cx="8412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FactAdmissions.csv — first 4 records</a:t>
            </a:r>
            <a:endParaRPr lang="en-US" sz="11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31921660"/>
              </p:ext>
            </p:extLst>
          </p:nvPr>
        </p:nvGraphicFramePr>
        <p:xfrm>
          <a:off x="274320" y="1215139"/>
          <a:ext cx="8595359" cy="1325880"/>
        </p:xfrm>
        <a:graphic>
          <a:graphicData uri="http://schemas.openxmlformats.org/drawingml/2006/table">
            <a:tbl>
              <a:tblPr/>
              <a:tblGrid>
                <a:gridCol w="138139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2093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0046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325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2093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1162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02325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920931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583257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1828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AdmissionID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PatientID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DoctorID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Facility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AdmDate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LOS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Type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Cost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Readmit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ADM-10001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P-062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DR-002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West Community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7/14/2024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7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Emergency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$41,924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0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ADM-10002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P-011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DR-020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West Community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1/19/2024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4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Elective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$11,066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0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ADM-10003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P-128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DR-007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North Medical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4/4/2024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4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Emergency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$17,847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0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ADM-10004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P-085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DR-003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Downtown Campus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10/11/2024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4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Urgent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$18,765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0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0" name="Shape 7"/>
          <p:cNvSpPr/>
          <p:nvPr/>
        </p:nvSpPr>
        <p:spPr>
          <a:xfrm>
            <a:off x="274320" y="2223013"/>
            <a:ext cx="8595360" cy="329184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347472" y="2223013"/>
            <a:ext cx="8412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DimPatient.csv — selected records showing variety</a:t>
            </a:r>
            <a:endParaRPr lang="en-US" sz="1100" dirty="0"/>
          </a:p>
        </p:txBody>
      </p:sp>
      <p:graphicFrame>
        <p:nvGraphicFramePr>
          <p:cNvPr id="1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43435675"/>
              </p:ext>
            </p:extLst>
          </p:nvPr>
        </p:nvGraphicFramePr>
        <p:xfrm>
          <a:off x="274320" y="2552197"/>
          <a:ext cx="8595360" cy="1181100"/>
        </p:xfrm>
        <a:graphic>
          <a:graphicData uri="http://schemas.openxmlformats.org/drawingml/2006/table">
            <a:tbl>
              <a:tblPr/>
              <a:tblGrid>
                <a:gridCol w="822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47472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16825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PatientID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Name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Age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Gender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Insurance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ChronicCondition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825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P-007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Matthew Thompson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70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Male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Medicare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Heart Failure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6825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P-027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David Nelson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53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Male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Medicaid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Chronic Kidney Disease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6825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P-057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Emily Smith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21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Female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United Healthcare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Diabetes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6825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P-081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Gary Davis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92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Male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Humana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Chronic Kidney Disease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2" name="Shape 9"/>
          <p:cNvSpPr/>
          <p:nvPr/>
        </p:nvSpPr>
        <p:spPr>
          <a:xfrm>
            <a:off x="274320" y="3466597"/>
            <a:ext cx="8595360" cy="329184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0"/>
          <p:cNvSpPr/>
          <p:nvPr/>
        </p:nvSpPr>
        <p:spPr>
          <a:xfrm>
            <a:off x="347472" y="3466597"/>
            <a:ext cx="8412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DimDoctor.csv — 20 doctors across 10 specialties</a:t>
            </a:r>
            <a:endParaRPr lang="en-US" sz="1100" dirty="0"/>
          </a:p>
        </p:txBody>
      </p:sp>
      <p:graphicFrame>
        <p:nvGraphicFramePr>
          <p:cNvPr id="19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77096302"/>
              </p:ext>
            </p:extLst>
          </p:nvPr>
        </p:nvGraphicFramePr>
        <p:xfrm>
          <a:off x="274320" y="3795781"/>
          <a:ext cx="8595360" cy="1181100"/>
        </p:xfrm>
        <a:graphic>
          <a:graphicData uri="http://schemas.openxmlformats.org/drawingml/2006/table">
            <a:tbl>
              <a:tblPr/>
              <a:tblGrid>
                <a:gridCol w="1005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7490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554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DoctorID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DoctorName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Specialty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Department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554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DR-001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Dr. Sarah Johnson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Cardiology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Cardiac Care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554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DR-007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Dr. Amanda Foster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Pulmonology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Respiratory Care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554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DR-013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Dr. Rachel Adams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Oncology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Cancer Center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554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DR-019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Dr. Angela Clark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Endocrinology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Diabetes &amp; Metabolism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6" name="Shape 11"/>
          <p:cNvSpPr/>
          <p:nvPr/>
        </p:nvSpPr>
        <p:spPr>
          <a:xfrm>
            <a:off x="274320" y="4655317"/>
            <a:ext cx="8595360" cy="384048"/>
          </a:xfrm>
          <a:prstGeom prst="rect">
            <a:avLst/>
          </a:prstGeom>
          <a:solidFill>
            <a:srgbClr val="FEE2E2"/>
          </a:solidFill>
          <a:ln w="12700">
            <a:solidFill>
              <a:srgbClr val="991B1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2"/>
          <p:cNvSpPr/>
          <p:nvPr/>
        </p:nvSpPr>
        <p:spPr>
          <a:xfrm>
            <a:off x="384048" y="4655317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991B1B"/>
                </a:solidFill>
              </a:rPr>
              <a:t>⚠️  Key check: FactAdmissions has 500 rows. DimPatient has 150. DimDoctor has 20. DimDate has 551. If your counts differ, your CSV may have been truncated or has header issues.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737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" cy="514350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0" y="1097280"/>
            <a:ext cx="91440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200" dirty="0">
                <a:solidFill>
                  <a:srgbClr val="000000"/>
                </a:solidFill>
              </a:rPr>
              <a:t>💾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457200" y="2176272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2: Load the Data into Power BI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457200" y="31546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14BDBD"/>
                </a:solidFill>
              </a:rPr>
              <a:t>Get Data · Verify · Check Data Types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474720" y="3886200"/>
            <a:ext cx="2194560" cy="365760"/>
          </a:xfrm>
          <a:prstGeom prst="roundRect">
            <a:avLst>
              <a:gd name="adj" fmla="val 25000"/>
            </a:avLst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474720" y="388620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STEP-BY-STEP GUIDE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02336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74320" y="0"/>
            <a:ext cx="74066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Step-by-Step: Loading All 4 CSV Files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7406640" y="109728"/>
            <a:ext cx="1554480" cy="258645"/>
          </a:xfrm>
          <a:prstGeom prst="roundRect">
            <a:avLst>
              <a:gd name="adj" fmla="val 17778"/>
            </a:avLst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406640" y="109728"/>
            <a:ext cx="1554480" cy="25864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STAGE 2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274320" y="424693"/>
            <a:ext cx="85953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274320" y="424693"/>
            <a:ext cx="530352" cy="475488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274320" y="424693"/>
            <a:ext cx="53035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914400" y="424693"/>
            <a:ext cx="27432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3A6B"/>
                </a:solidFill>
              </a:rPr>
              <a:t>Open Power BI Desktop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749040" y="424693"/>
            <a:ext cx="5074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</a:rPr>
              <a:t>Launch Power BI Desktop. Close the splash screen. You should see a blank Report Canvas with the Visualizations and Fields panes on the right.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274320" y="973333"/>
            <a:ext cx="85953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274320" y="973333"/>
            <a:ext cx="530352" cy="475488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274320" y="973333"/>
            <a:ext cx="53035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2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914400" y="973333"/>
            <a:ext cx="27432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7377"/>
                </a:solidFill>
              </a:rPr>
              <a:t>Home → Get Data → Text/CSV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749040" y="973333"/>
            <a:ext cx="5074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</a:rPr>
              <a:t>On the Home ribbon, click the Get Data button. In the dropdown, select Text/CSV. A file browser opens.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274320" y="1521973"/>
            <a:ext cx="85953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274320" y="1521973"/>
            <a:ext cx="530352" cy="475488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274320" y="1521973"/>
            <a:ext cx="53035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3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914400" y="1521973"/>
            <a:ext cx="27432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D4ED8"/>
                </a:solidFill>
              </a:rPr>
              <a:t>Load FactAdmissions.csv first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749040" y="1521973"/>
            <a:ext cx="5074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</a:rPr>
              <a:t>Navigate to your folder. Select FactAdmissions.csv. Click Open. In the preview, confirm you see 12 columns and 500 data rows. Click Load.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274320" y="2070613"/>
            <a:ext cx="85953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274320" y="2070613"/>
            <a:ext cx="530352" cy="47548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274320" y="2070613"/>
            <a:ext cx="53035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4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914400" y="2070613"/>
            <a:ext cx="27432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97706"/>
                </a:solidFill>
              </a:rPr>
              <a:t>Load DimPatient.csv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3749040" y="2070613"/>
            <a:ext cx="5074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</a:rPr>
              <a:t>Click Get Data again. Select DimPatient.csv. Confirm: 6 columns, 150 rows. Click Load.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274320" y="2619253"/>
            <a:ext cx="85953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274320" y="2619253"/>
            <a:ext cx="530352" cy="475488"/>
          </a:xfrm>
          <a:prstGeom prst="rect">
            <a:avLst/>
          </a:prstGeom>
          <a:solidFill>
            <a:srgbClr val="166534"/>
          </a:solidFill>
          <a:ln w="12700">
            <a:solidFill>
              <a:srgbClr val="16653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274320" y="2619253"/>
            <a:ext cx="53035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5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914400" y="2619253"/>
            <a:ext cx="27432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66534"/>
                </a:solidFill>
              </a:rPr>
              <a:t>Load DimDoctor.csv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3749040" y="2619253"/>
            <a:ext cx="5074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</a:rPr>
              <a:t>Click Get Data again. Select DimDoctor.csv. Confirm: 4 columns, 20 rows. Click Load.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274320" y="3167893"/>
            <a:ext cx="85953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274320" y="3167893"/>
            <a:ext cx="530352" cy="475488"/>
          </a:xfrm>
          <a:prstGeom prst="rect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274320" y="3167893"/>
            <a:ext cx="53035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6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914400" y="3167893"/>
            <a:ext cx="27432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D28D9"/>
                </a:solidFill>
              </a:rPr>
              <a:t>Load DimDate.csv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3749040" y="3167893"/>
            <a:ext cx="5074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</a:rPr>
              <a:t>Click Get Data again. Select DimDate.csv. Confirm: 10 columns, 551 rows. Click Load.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274320" y="3716533"/>
            <a:ext cx="85953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7" name="Shape 35"/>
          <p:cNvSpPr/>
          <p:nvPr/>
        </p:nvSpPr>
        <p:spPr>
          <a:xfrm>
            <a:off x="274320" y="3716533"/>
            <a:ext cx="530352" cy="475488"/>
          </a:xfrm>
          <a:prstGeom prst="rect">
            <a:avLst/>
          </a:prstGeom>
          <a:solidFill>
            <a:srgbClr val="991B1B"/>
          </a:solidFill>
          <a:ln w="12700">
            <a:solidFill>
              <a:srgbClr val="991B1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274320" y="3716533"/>
            <a:ext cx="53035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7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914400" y="3716533"/>
            <a:ext cx="27432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991B1B"/>
                </a:solidFill>
              </a:rPr>
              <a:t>Verify all 4 tables in Fields pane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3749040" y="3716533"/>
            <a:ext cx="5074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</a:rPr>
              <a:t>Look at the right side — you should see 4 table names: FactAdmissions, DimPatient, DimDoctor, DimDate. Each has an expand arrow.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274320" y="4265173"/>
            <a:ext cx="85953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2" name="Shape 40"/>
          <p:cNvSpPr/>
          <p:nvPr/>
        </p:nvSpPr>
        <p:spPr>
          <a:xfrm>
            <a:off x="274320" y="4265173"/>
            <a:ext cx="530352" cy="475488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274320" y="4265173"/>
            <a:ext cx="53035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8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914400" y="4265173"/>
            <a:ext cx="27432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2410C"/>
                </a:solidFill>
              </a:rPr>
              <a:t>Check Data View for each table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3749040" y="4265173"/>
            <a:ext cx="5074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</a:rPr>
              <a:t>Click the Data View icon (table icon, left sidebar). Click each table. Spot-check values against the sample records on the previous slide.</a:t>
            </a:r>
            <a:endParaRPr lang="en-US" sz="1050" dirty="0"/>
          </a:p>
        </p:txBody>
      </p:sp>
      <p:sp>
        <p:nvSpPr>
          <p:cNvPr id="46" name="Shape 44"/>
          <p:cNvSpPr/>
          <p:nvPr/>
        </p:nvSpPr>
        <p:spPr>
          <a:xfrm>
            <a:off x="274320" y="4704085"/>
            <a:ext cx="8595360" cy="384048"/>
          </a:xfrm>
          <a:prstGeom prst="rect">
            <a:avLst/>
          </a:prstGeom>
          <a:solidFill>
            <a:srgbClr val="DCFCE7"/>
          </a:solidFill>
          <a:ln w="12700">
            <a:solidFill>
              <a:srgbClr val="16653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Text 45"/>
          <p:cNvSpPr/>
          <p:nvPr/>
        </p:nvSpPr>
        <p:spPr>
          <a:xfrm>
            <a:off x="384048" y="4704085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66534"/>
                </a:solidFill>
              </a:rPr>
              <a:t>✅  Expected: 4 table names in Fields pane — FactAdmissions (500 rows), DimPatient (150), DimDoctor (20), DimDate (551)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33493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74320" y="0"/>
            <a:ext cx="7406640" cy="43349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Critical: Fix Data Types Before Modeling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7406640" y="109728"/>
            <a:ext cx="1554480" cy="278674"/>
          </a:xfrm>
          <a:prstGeom prst="roundRect">
            <a:avLst>
              <a:gd name="adj" fmla="val 17778"/>
            </a:avLst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406640" y="109728"/>
            <a:ext cx="1554480" cy="27867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STAGE 2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274320" y="465335"/>
            <a:ext cx="8595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334155"/>
                </a:solidFill>
              </a:rPr>
              <a:t>Power BI sometimes misreads CSV data types. Fix these before building relationships or your measures will be wrong.</a:t>
            </a:r>
            <a:endParaRPr lang="en-US" sz="12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8206991"/>
              </p:ext>
            </p:extLst>
          </p:nvPr>
        </p:nvGraphicFramePr>
        <p:xfrm>
          <a:off x="274320" y="885959"/>
          <a:ext cx="8595360" cy="3200400"/>
        </p:xfrm>
        <a:graphic>
          <a:graphicData uri="http://schemas.openxmlformats.org/drawingml/2006/table">
            <a:tbl>
              <a:tblPr/>
              <a:tblGrid>
                <a:gridCol w="1737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7947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0005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Table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Column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Change To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How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005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FactAdmissions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AdmissionDate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Text → Date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Home ribbon → Transform Data → select AdmissionDate column → Data Type → Date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005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FactAdmissions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DischargeDate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Text → Date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Same process as AdmissionDate — must be Date type for time calculations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005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FactAdmissions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LengthOfStay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Text → Whole Number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Transform → select column → Data Type → Whole Number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005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FactAdmissions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Cost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Text → Decimal Number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Transform → select column → Data Type → Decimal Number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005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FactAdmissions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ReadmissionFlag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Any → Whole Number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Must be numeric (0/1) for CALCULATE filter to work in your DAX measure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0005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DimDate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Date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Text → Date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CRITICAL — if DimDate.Date is text, the relationship to AdmissionDate will fail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0005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DimPatient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Age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Text → Whole Number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Needed for the Age Group calculated column to evaluate correctly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274320" y="4177799"/>
            <a:ext cx="8595360" cy="384048"/>
          </a:xfrm>
          <a:prstGeom prst="rect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384048" y="4177799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D4ED8"/>
                </a:solidFill>
              </a:rPr>
              <a:t>📌  Access Power Query: Home → Transform Data. All changes are recorded as steps. Click Close &amp; Apply to save and return to Report View.</a:t>
            </a:r>
            <a:endParaRPr lang="en-US" sz="1100" dirty="0"/>
          </a:p>
        </p:txBody>
      </p:sp>
      <p:sp>
        <p:nvSpPr>
          <p:cNvPr id="7" name="Shape 7"/>
          <p:cNvSpPr/>
          <p:nvPr/>
        </p:nvSpPr>
        <p:spPr>
          <a:xfrm>
            <a:off x="274320" y="4616711"/>
            <a:ext cx="8595360" cy="384048"/>
          </a:xfrm>
          <a:prstGeom prst="rect">
            <a:avLst/>
          </a:prstGeom>
          <a:solidFill>
            <a:srgbClr val="FEE2E2"/>
          </a:solidFill>
          <a:ln w="12700">
            <a:solidFill>
              <a:srgbClr val="991B1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384048" y="4616711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991B1B"/>
                </a:solidFill>
              </a:rPr>
              <a:t>⚠️  If you skip data type fixes and build relationships first, Power BI may auto-detect Many-to-Many — which causes incorrect measure values.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D4ED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" cy="514350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0" y="1097280"/>
            <a:ext cx="91440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200" dirty="0">
                <a:solidFill>
                  <a:srgbClr val="000000"/>
                </a:solidFill>
              </a:rPr>
              <a:t>⭐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457200" y="2176272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3: Build the Star Schema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457200" y="31546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14BDBD"/>
                </a:solidFill>
              </a:rPr>
              <a:t>3 Relationships · One-to-Many · Single Cross-Filter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474720" y="3886200"/>
            <a:ext cx="2194560" cy="365760"/>
          </a:xfrm>
          <a:prstGeom prst="roundRect">
            <a:avLst>
              <a:gd name="adj" fmla="val 25000"/>
            </a:avLst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474720" y="388620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STEP-BY-STEP GUIDE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74320" y="0"/>
            <a:ext cx="7406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Star Schema — FactAdmissions at the Center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7406640" y="109728"/>
            <a:ext cx="1554480" cy="411480"/>
          </a:xfrm>
          <a:prstGeom prst="roundRect">
            <a:avLst>
              <a:gd name="adj" fmla="val 17778"/>
            </a:avLst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406640" y="109728"/>
            <a:ext cx="1554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STAGE 3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274320" y="614348"/>
            <a:ext cx="8595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334155"/>
                </a:solidFill>
              </a:rPr>
              <a:t>Every DAX measure you write will traverse these relationships automatically. Get this right and everything else flows.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337560" y="1271371"/>
            <a:ext cx="2468880" cy="192024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337560" y="1271371"/>
            <a:ext cx="246888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⭐ FACT TABLE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FactAdmissions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500 rows · 12 columns</a:t>
            </a:r>
            <a:endParaRPr lang="en-US" sz="1000" dirty="0"/>
          </a:p>
          <a:p>
            <a:pPr marL="0" indent="0" algn="ctr">
              <a:buNone/>
            </a:pP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Key measures: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LengthOfStay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Cost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ReadmissionFlag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182880" y="1115923"/>
            <a:ext cx="2240280" cy="128016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182880" y="1115923"/>
            <a:ext cx="22402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👤  DimPatient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150 rows</a:t>
            </a:r>
            <a:endParaRPr lang="en-US" sz="950" dirty="0"/>
          </a:p>
          <a:p>
            <a:pPr marL="0" indent="0" algn="ctr">
              <a:buNone/>
            </a:pP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PatientID 🔑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Age · Gender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Insurance · Condition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6720840" y="1115923"/>
            <a:ext cx="2240280" cy="128016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720840" y="1115923"/>
            <a:ext cx="22402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👨‍⚕️  DimDoctor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20 rows</a:t>
            </a:r>
            <a:endParaRPr lang="en-US" sz="950" dirty="0"/>
          </a:p>
          <a:p>
            <a:pPr marL="0" indent="0" algn="ctr">
              <a:buNone/>
            </a:pP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DoctorID 🔑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DoctorName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Specialty · Department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337560" y="3429355"/>
            <a:ext cx="2468880" cy="109728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3337560" y="3429355"/>
            <a:ext cx="24688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📅  DimDate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551 rows</a:t>
            </a:r>
            <a:endParaRPr lang="en-US" sz="950" dirty="0"/>
          </a:p>
          <a:p>
            <a:pPr marL="0" indent="0" algn="ctr">
              <a:buNone/>
            </a:pP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Date 🔑 · Month · DayOfWeek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FiscalQuarter · FiscalYear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2423160" y="1756003"/>
            <a:ext cx="914400" cy="0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1828800" y="1573123"/>
            <a:ext cx="1508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64748B"/>
                </a:solidFill>
              </a:rPr>
              <a:t>PatientID → (1:*)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5806440" y="1756003"/>
            <a:ext cx="914400" cy="0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5806440" y="1573123"/>
            <a:ext cx="1508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64748B"/>
                </a:solidFill>
              </a:rPr>
              <a:t>← DoctorID (1:*)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572000" y="3191611"/>
            <a:ext cx="0" cy="237744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4023360" y="3081883"/>
            <a:ext cx="1554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64748B"/>
                </a:solidFill>
              </a:rPr>
              <a:t>↑ AdmDate (1:*)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274320" y="4765724"/>
            <a:ext cx="8595360" cy="201168"/>
          </a:xfrm>
          <a:prstGeom prst="rect">
            <a:avLst/>
          </a:prstGeom>
          <a:solidFill>
            <a:srgbClr val="FEE2E2"/>
          </a:solidFill>
          <a:ln w="12700">
            <a:solidFill>
              <a:srgbClr val="991B1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347472" y="4765724"/>
            <a:ext cx="8412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991B1B"/>
                </a:solidFill>
              </a:rPr>
              <a:t>⚠️  All 3 must be: Cardinality = One-to-Many (1:*)  ·  Cross-filter = Single (dimension → fact)  ·  Active = ✓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74320" y="0"/>
            <a:ext cx="7406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Step-by-Step: Creating the 3 Relationships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7406640" y="109728"/>
            <a:ext cx="1554480" cy="411480"/>
          </a:xfrm>
          <a:prstGeom prst="roundRect">
            <a:avLst>
              <a:gd name="adj" fmla="val 17778"/>
            </a:avLst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406640" y="109728"/>
            <a:ext cx="1554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STAGE 3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274320" y="749808"/>
            <a:ext cx="8595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334155"/>
                </a:solidFill>
              </a:rPr>
              <a:t>Go to Model View (three connected boxes icon, left sidebar) before you start. Drag tables to form a rough star shape.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74320" y="1170432"/>
            <a:ext cx="859536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274320" y="1170432"/>
            <a:ext cx="822960" cy="1170432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274320" y="1170432"/>
            <a:ext cx="822960" cy="11704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REL 1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170432" y="1225296"/>
            <a:ext cx="7635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7377"/>
                </a:solidFill>
              </a:rPr>
              <a:t>DimPatient → FactAdmissions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170432" y="1517904"/>
            <a:ext cx="76352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</a:rPr>
              <a:t>How: In Model View, find DimPatient. Click and DRAG the PatientID field. Drop it onto PatientID inside FactAdmissions. A line appears.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170432" y="1847088"/>
            <a:ext cx="3657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166534"/>
                </a:solidFill>
              </a:rPr>
              <a:t>✅ Double-click the line → Cardinality: One-to-Many (1:*) · Cross-filter: Single · Active: ✓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937760" y="1847088"/>
            <a:ext cx="3886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</a:rPr>
              <a:t>📌 Lets you filter admissions by patient demographics — age, gender, insurance, chronic condition.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74320" y="2468880"/>
            <a:ext cx="859536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274320" y="2468880"/>
            <a:ext cx="822960" cy="117043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274320" y="2468880"/>
            <a:ext cx="822960" cy="11704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REL 2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70432" y="2523744"/>
            <a:ext cx="7635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97706"/>
                </a:solidFill>
              </a:rPr>
              <a:t>DimDoctor → FactAdmissions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170432" y="2816352"/>
            <a:ext cx="76352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</a:rPr>
              <a:t>How: Find DimDoctor. Drag DoctorID from DimDoctor. Drop onto DoctorID in FactAdmissions. Second line appears.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170432" y="3145536"/>
            <a:ext cx="3657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166534"/>
                </a:solidFill>
              </a:rPr>
              <a:t>✅ Verify: One-to-Many (1:*) · Single cross-filter · Active checked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937760" y="3145536"/>
            <a:ext cx="3886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</a:rPr>
              <a:t>📌 Lets you filter admissions by doctor name, specialty, and department — critical for the readmission-by-department chart.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274320" y="3767328"/>
            <a:ext cx="859536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274320" y="3767328"/>
            <a:ext cx="822960" cy="1170432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274320" y="3767328"/>
            <a:ext cx="822960" cy="11704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REL 3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170432" y="3822192"/>
            <a:ext cx="7635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D4ED8"/>
                </a:solidFill>
              </a:rPr>
              <a:t>DimDate → FactAdmissions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1170432" y="4114800"/>
            <a:ext cx="76352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</a:rPr>
              <a:t>How: Find DimDate. Drag Date from DimDate. Drop onto AdmissionDate in FactAdmissions. Third line appears.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1170432" y="4443984"/>
            <a:ext cx="3657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166534"/>
                </a:solidFill>
              </a:rPr>
              <a:t>✅ Verify: One-to-Many (1:*) · Single cross-filter · Active checked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937760" y="4443984"/>
            <a:ext cx="3886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</a:rPr>
              <a:t>📌 Enables ALL time-based analysis: monthly trends, day-of-week heatmaps, fiscal quarter filtering. IMPORTANT: We connect to AdmissionDate, not DischargeDate. Only one active relationship per table pair is allowed.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74320" y="0"/>
            <a:ext cx="7406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View Verification – Errors &amp; Fixes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7406640" y="109728"/>
            <a:ext cx="1554480" cy="411480"/>
          </a:xfrm>
          <a:prstGeom prst="roundRect">
            <a:avLst>
              <a:gd name="adj" fmla="val 17778"/>
            </a:avLst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406640" y="109728"/>
            <a:ext cx="1554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STAGE 3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274320" y="749808"/>
            <a:ext cx="8595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334155"/>
                </a:solidFill>
              </a:rPr>
              <a:t>Before writing any DAX, confirm the star schema looks correct. Use this checklist.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74320" y="1170432"/>
            <a:ext cx="8595360" cy="548640"/>
          </a:xfrm>
          <a:prstGeom prst="rect">
            <a:avLst/>
          </a:prstGeom>
          <a:solidFill>
            <a:srgbClr val="DCFCE7"/>
          </a:solidFill>
          <a:ln w="12700">
            <a:solidFill>
              <a:srgbClr val="16653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274320" y="1170432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✅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04672" y="1216152"/>
            <a:ext cx="79552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66534"/>
                </a:solidFill>
              </a:rPr>
              <a:t>3 lines radiate from FactAdmissions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04672" y="1472184"/>
            <a:ext cx="79552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</a:rPr>
              <a:t>FactAdmissions is in the center. DimPatient, DimDoctor, and DimDate each have one line connecting to it.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74320" y="1810512"/>
            <a:ext cx="8595360" cy="548640"/>
          </a:xfrm>
          <a:prstGeom prst="rect">
            <a:avLst/>
          </a:prstGeom>
          <a:solidFill>
            <a:srgbClr val="DCFCE7"/>
          </a:solidFill>
          <a:ln w="12700">
            <a:solidFill>
              <a:srgbClr val="16653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274320" y="1810512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✅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804672" y="1856232"/>
            <a:ext cx="79552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66534"/>
                </a:solidFill>
              </a:rPr>
              <a:t>Each line shows '1' on dimension side, '*' on fact side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804672" y="2112264"/>
            <a:ext cx="79552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</a:rPr>
              <a:t>The '1' confirms unique keys in dimension tables. Click any line to see the cardinality labels.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74320" y="2450592"/>
            <a:ext cx="8595360" cy="548640"/>
          </a:xfrm>
          <a:prstGeom prst="rect">
            <a:avLst/>
          </a:prstGeom>
          <a:solidFill>
            <a:srgbClr val="DCFCE7"/>
          </a:solidFill>
          <a:ln w="12700">
            <a:solidFill>
              <a:srgbClr val="16653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274320" y="2450592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✅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804672" y="2496312"/>
            <a:ext cx="79552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66534"/>
                </a:solidFill>
              </a:rPr>
              <a:t>All lines are solid (not dashed)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804672" y="2752344"/>
            <a:ext cx="79552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</a:rPr>
              <a:t>Solid = active relationship. Dashed = inactive (will not filter). A dashed line means a conflicting relationship exists.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274320" y="3090672"/>
            <a:ext cx="8595360" cy="548640"/>
          </a:xfrm>
          <a:prstGeom prst="rect">
            <a:avLst/>
          </a:prstGeom>
          <a:solidFill>
            <a:srgbClr val="FEE2E2"/>
          </a:solidFill>
          <a:ln w="12700">
            <a:solidFill>
              <a:srgbClr val="991B1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274320" y="3090672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❌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804672" y="3136392"/>
            <a:ext cx="79552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991B1B"/>
                </a:solidFill>
              </a:rPr>
              <a:t>Yellow triangle on a relationship line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804672" y="3392424"/>
            <a:ext cx="79552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</a:rPr>
              <a:t>CAUSE: Many-to-Many detected. DimPatient or DimDoctor has duplicate key values. FIX: Open Power Query → select table → check for blank rows or header row duplicated as data.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274320" y="3730752"/>
            <a:ext cx="8595360" cy="548640"/>
          </a:xfrm>
          <a:prstGeom prst="rect">
            <a:avLst/>
          </a:prstGeom>
          <a:solidFill>
            <a:srgbClr val="FEE2E2"/>
          </a:solidFill>
          <a:ln w="12700">
            <a:solidFill>
              <a:srgbClr val="991B1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274320" y="3730752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❌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804672" y="3776472"/>
            <a:ext cx="79552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991B1B"/>
                </a:solidFill>
              </a:rPr>
              <a:t>DimDate not connecting to AdmissionDate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804672" y="4032504"/>
            <a:ext cx="79552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</a:rPr>
              <a:t>CAUSE: AdmissionDate is Text type, not Date. FIX: Power Query → select AdmissionDate → Transform → Data Type → Date → Close &amp; Apply.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274320" y="4370832"/>
            <a:ext cx="8595360" cy="548640"/>
          </a:xfrm>
          <a:prstGeom prst="rect">
            <a:avLst/>
          </a:prstGeom>
          <a:solidFill>
            <a:srgbClr val="FEE2E2"/>
          </a:solidFill>
          <a:ln w="12700">
            <a:solidFill>
              <a:srgbClr val="991B1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274320" y="4370832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❌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804672" y="4416552"/>
            <a:ext cx="79552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991B1B"/>
                </a:solidFill>
              </a:rPr>
              <a:t>A 4th table appears that you did not create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804672" y="4672584"/>
            <a:ext cx="79552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</a:rPr>
              <a:t>Power BI sometimes auto-creates link tables for Many-to-Many. Delete it and fix the underlying duplicate key issue.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6D28D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" cy="514350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0" y="1097280"/>
            <a:ext cx="91440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200" dirty="0">
                <a:solidFill>
                  <a:srgbClr val="000000"/>
                </a:solidFill>
              </a:rPr>
              <a:t>🔧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457200" y="2176272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4: Calculated Columns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457200" y="31546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14BDBD"/>
                </a:solidFill>
              </a:rPr>
              <a:t>Age Group · Risk Level · DAX in DimPatient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474720" y="3886200"/>
            <a:ext cx="2194560" cy="365760"/>
          </a:xfrm>
          <a:prstGeom prst="roundRect">
            <a:avLst>
              <a:gd name="adj" fmla="val 25000"/>
            </a:avLst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474720" y="388620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STEP-BY-STEP GUIDE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38912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74320" y="0"/>
            <a:ext cx="74066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Calculated Column 1 of 2 – Age Group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7406640" y="109728"/>
            <a:ext cx="1554480" cy="282158"/>
          </a:xfrm>
          <a:prstGeom prst="roundRect">
            <a:avLst>
              <a:gd name="adj" fmla="val 17778"/>
            </a:avLst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406640" y="109728"/>
            <a:ext cx="1554480" cy="28215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STAGE 4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274320" y="472107"/>
            <a:ext cx="8595360" cy="438912"/>
          </a:xfrm>
          <a:prstGeom prst="rect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47472" y="472107"/>
            <a:ext cx="8412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CALCULATED COLUMN  ·  Where: DimPatient table  ·  Purpose: group patients by age bracket for analysis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274320" y="925925"/>
            <a:ext cx="8595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3A6B"/>
                </a:solidFill>
              </a:rPr>
              <a:t>How to create a Calculated Column: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74320" y="1255109"/>
            <a:ext cx="8595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</a:rPr>
              <a:t>① Click Data View (table icon, left sidebar)  ② Click DimPatient in the Fields pane  ③ Go to the Table Tools ribbon → New Column  ④ Type the formula below in the formula bar  ⑤ Press Enter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74320" y="1639156"/>
            <a:ext cx="8595360" cy="1609343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11480" y="1730597"/>
            <a:ext cx="8412480" cy="1389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 Group = 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SWITCH(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TRUE(),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DimPatient[Age] &lt; 18,  "Under 18",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DimPatient[Age] &lt; 35,  "18-34",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DimPatient[Age] &lt; 50,  "35-49",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DimPatient[Age] &lt; 65,  "50-64",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DimPatient[Age] &lt; 75,  "65-74",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"75+"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74320" y="3248501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3A6B"/>
                </a:solidFill>
              </a:rPr>
              <a:t>Actual age group distribution in this dataset: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74320" y="3541109"/>
            <a:ext cx="8595360" cy="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274320" y="3541109"/>
            <a:ext cx="8595360" cy="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274320" y="3541109"/>
            <a:ext cx="8595360" cy="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274320" y="3541109"/>
            <a:ext cx="8595360" cy="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274320" y="3541109"/>
            <a:ext cx="8595360" cy="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74875555"/>
              </p:ext>
            </p:extLst>
          </p:nvPr>
        </p:nvGraphicFramePr>
        <p:xfrm>
          <a:off x="274320" y="3541109"/>
          <a:ext cx="8595359" cy="1463040"/>
        </p:xfrm>
        <a:graphic>
          <a:graphicData uri="http://schemas.openxmlformats.org/drawingml/2006/table">
            <a:tbl>
              <a:tblPr/>
              <a:tblGrid>
                <a:gridCol w="82647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3971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9177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3971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2976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1752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Age Group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Admissions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Readmit%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Avg Cost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Clinical Note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52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18-34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77 admissions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7.8% readmit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$12,660 avg cost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Youngest group — lowest readmission risk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752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35-49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106 admissions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6.6% readmit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$11,030 avg cost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Lowest readmit rate and cost — generally healthy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752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50-64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106 admissions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12.3% readmit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$12,135 avg cost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Rising risk — chronic conditions emerging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752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65-74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91 admissions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13.2% readmit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$10,875 avg cost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Higher readmit but lower cost — shorter stays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752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75+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120 admissions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16.7% readmit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$16,202 avg cost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⚠️  Highest readmit AND highest cost — priority group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38912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74320" y="0"/>
            <a:ext cx="74066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Calculated Column 2 of 2 – Risk Level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7406640" y="109728"/>
            <a:ext cx="1554480" cy="282158"/>
          </a:xfrm>
          <a:prstGeom prst="roundRect">
            <a:avLst>
              <a:gd name="adj" fmla="val 17778"/>
            </a:avLst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406640" y="109728"/>
            <a:ext cx="1554480" cy="28215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STAGE 4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274320" y="465792"/>
            <a:ext cx="8595360" cy="438912"/>
          </a:xfrm>
          <a:prstGeom prst="rect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47472" y="465792"/>
            <a:ext cx="8412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CALCULATED COLUMN  ·  Where: DimPatient table  ·  Purpose: flag high-risk patients with chronic conditions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274320" y="862038"/>
            <a:ext cx="8595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</a:rPr>
              <a:t>Same process as Age Group — in DimPatient, Table Tools → New Column: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74320" y="1227798"/>
            <a:ext cx="8595360" cy="713232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11480" y="1227798"/>
            <a:ext cx="84124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Risk Level = 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IF( DimPatient[ChronicCondition] = "None", "Low Risk", "High Risk" )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274320" y="2069046"/>
            <a:ext cx="8595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3A6B"/>
                </a:solidFill>
              </a:rPr>
              <a:t>Why this matters — readmission rates by chronic condition (actual data):</a:t>
            </a:r>
            <a:endParaRPr lang="en-US" sz="12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19317791"/>
              </p:ext>
            </p:extLst>
          </p:nvPr>
        </p:nvGraphicFramePr>
        <p:xfrm>
          <a:off x="274320" y="2398230"/>
          <a:ext cx="8595361" cy="2194560"/>
        </p:xfrm>
        <a:graphic>
          <a:graphicData uri="http://schemas.openxmlformats.org/drawingml/2006/table">
            <a:tbl>
              <a:tblPr/>
              <a:tblGrid>
                <a:gridCol w="158335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8017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2937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047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2976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113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Chronic Condition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Admissions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Readmit%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Avg Cost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Clinical Insight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13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Chronic Kidney Disease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17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29.4%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$16,704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⚠️  HIGHEST readmit — nearly 1 in 3 patients returns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13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Diabetes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51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19.6%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$14,470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⚠️  High readmit AND high volume — major intervention target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13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Heart Failure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41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19.5%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$16,968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⚠️  High cost + high readmit — Medicare penalty trigger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13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Hypertension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109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15.6%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$11,747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Most common condition — 109 admissions, still 15.6% readmit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113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Asthma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39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12.8%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$11,849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Moderate risk — often triggered by environmental factors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113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COPD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37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8.1%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$11,944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Lower than expected — good pulmonology protocols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113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Arthritis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26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0.0%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$12,258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✅  Zero readmissions — strong outpatient follow-up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113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None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157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5.7%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$11,735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✅  Baseline — no chronic condition = low readmit risk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13" name="Shape 10"/>
          <p:cNvSpPr/>
          <p:nvPr/>
        </p:nvSpPr>
        <p:spPr>
          <a:xfrm>
            <a:off x="274320" y="4641006"/>
            <a:ext cx="8595360" cy="384048"/>
          </a:xfrm>
          <a:prstGeom prst="rect">
            <a:avLst/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384048" y="4641006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97706"/>
                </a:solidFill>
              </a:rPr>
              <a:t>🔑  The Risk Level column lets the CMO instantly filter to 'High Risk' patients — those with any chronic condition — and compare their outcomes against 'Low Risk' patients.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D9770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" cy="514350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0" y="1097280"/>
            <a:ext cx="91440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200" dirty="0">
                <a:solidFill>
                  <a:srgbClr val="000000"/>
                </a:solidFill>
              </a:rPr>
              <a:t>⚡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457200" y="2176272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5: Create DAX Measures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457200" y="31546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14BDBD"/>
                </a:solidFill>
              </a:rPr>
              <a:t>4 Measures · All from FactAdmissions · Verified Values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474720" y="3886200"/>
            <a:ext cx="2194560" cy="365760"/>
          </a:xfrm>
          <a:prstGeom prst="roundRect">
            <a:avLst>
              <a:gd name="adj" fmla="val 25000"/>
            </a:avLst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474720" y="388620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STEP-BY-STEP GUIDE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97764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74320" y="0"/>
            <a:ext cx="7406640" cy="3977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Create a DAX Measure – Master the Process Once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7406640" y="109728"/>
            <a:ext cx="1554480" cy="255705"/>
          </a:xfrm>
          <a:prstGeom prst="roundRect">
            <a:avLst>
              <a:gd name="adj" fmla="val 17778"/>
            </a:avLst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406640" y="109728"/>
            <a:ext cx="1554480" cy="25570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STAGE 5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274320" y="343415"/>
            <a:ext cx="8595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334155"/>
                </a:solidFill>
              </a:rPr>
              <a:t>All 4 measures use the same 6-step process. Learn it once, repeat 3 more times.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74320" y="764039"/>
            <a:ext cx="859536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274320" y="764039"/>
            <a:ext cx="548640" cy="566928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274320" y="764039"/>
            <a:ext cx="5486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1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914400" y="818903"/>
            <a:ext cx="78455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3A6B"/>
                </a:solidFill>
              </a:rPr>
              <a:t>Switch to Report View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914400" y="1098644"/>
            <a:ext cx="7845552" cy="640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</a:rPr>
              <a:t>Click the top icon on the left sidebar (bar chart icon). You must be in Report View, not Data View.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274320" y="1404119"/>
            <a:ext cx="859536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274320" y="1404119"/>
            <a:ext cx="548640" cy="566928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274320" y="1404119"/>
            <a:ext cx="5486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2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914400" y="1458983"/>
            <a:ext cx="78455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7377"/>
                </a:solidFill>
              </a:rPr>
              <a:t>Right-click FactAdmissions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914400" y="1752271"/>
            <a:ext cx="7845552" cy="640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</a:rPr>
              <a:t>In the Fields pane (right side), find FactAdmissions. Right-click the table name — NOT a column name.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274320" y="2044199"/>
            <a:ext cx="859536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274320" y="2044199"/>
            <a:ext cx="548640" cy="566928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274320" y="2044199"/>
            <a:ext cx="5486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3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914400" y="2099063"/>
            <a:ext cx="78455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D4ED8"/>
                </a:solidFill>
              </a:rPr>
              <a:t>Select 'New Measure'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914400" y="2392351"/>
            <a:ext cx="7845552" cy="640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</a:rPr>
              <a:t>A formula bar appears at the top of the canvas with a blinking cursor. The Measure Tools ribbon appears at the top.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274320" y="2684279"/>
            <a:ext cx="859536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274320" y="2684279"/>
            <a:ext cx="548640" cy="56692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274320" y="2684279"/>
            <a:ext cx="5486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4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914400" y="2739143"/>
            <a:ext cx="78455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97706"/>
                </a:solidFill>
              </a:rPr>
              <a:t>Type the formula exactly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914400" y="3032431"/>
            <a:ext cx="7845552" cy="640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</a:rPr>
              <a:t>Type the DAX formula as shown on the following slides. Table names and column names are case-sensitive.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274320" y="3324359"/>
            <a:ext cx="859536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274320" y="3324359"/>
            <a:ext cx="548640" cy="566928"/>
          </a:xfrm>
          <a:prstGeom prst="rect">
            <a:avLst/>
          </a:prstGeom>
          <a:solidFill>
            <a:srgbClr val="166534"/>
          </a:solidFill>
          <a:ln w="12700">
            <a:solidFill>
              <a:srgbClr val="16653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274320" y="3324359"/>
            <a:ext cx="5486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5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914400" y="3379223"/>
            <a:ext cx="78455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66534"/>
                </a:solidFill>
              </a:rPr>
              <a:t>Press Enter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914400" y="3672511"/>
            <a:ext cx="7845552" cy="640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</a:rPr>
              <a:t>Power BI evaluates the formula instantly. If correct, the measure appears in the Fields pane with a ⚡ calculator icon. If there is a red error bar, press Escape and check your spelling.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274320" y="3964439"/>
            <a:ext cx="859536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274320" y="3964439"/>
            <a:ext cx="548640" cy="566928"/>
          </a:xfrm>
          <a:prstGeom prst="rect">
            <a:avLst/>
          </a:prstGeom>
          <a:solidFill>
            <a:srgbClr val="991B1B"/>
          </a:solidFill>
          <a:ln w="12700">
            <a:solidFill>
              <a:srgbClr val="991B1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274320" y="3964439"/>
            <a:ext cx="5486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6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914400" y="4019303"/>
            <a:ext cx="78455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991B1B"/>
                </a:solidFill>
              </a:rPr>
              <a:t>Format the measure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914400" y="4312591"/>
            <a:ext cx="7845552" cy="640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</a:rPr>
              <a:t>With the measure selected in the Fields pane, use the Measure Tools ribbon: click % for Percentage, $ for Currency, or set Decimal Places.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274320" y="4641095"/>
            <a:ext cx="8595360" cy="384048"/>
          </a:xfrm>
          <a:prstGeom prst="rect">
            <a:avLst/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384048" y="4641095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97706"/>
                </a:solidFill>
              </a:rPr>
              <a:t>💡  The Measure Tools ribbon only appears when a measure is selected. If you do not see it, click the measure name in the Fields pane first.</a:t>
            </a:r>
            <a:endParaRPr lang="en-US" sz="11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8608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74320" y="0"/>
            <a:ext cx="7406640" cy="38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DAX Measure 1 of 4 – Total Admissions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7406640" y="109728"/>
            <a:ext cx="1554480" cy="248194"/>
          </a:xfrm>
          <a:prstGeom prst="roundRect">
            <a:avLst>
              <a:gd name="adj" fmla="val 17778"/>
            </a:avLst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406640" y="109728"/>
            <a:ext cx="1554480" cy="2481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STAGE 5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274320" y="424691"/>
            <a:ext cx="8595360" cy="438912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47472" y="424691"/>
            <a:ext cx="8412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MEASURE 1  ·  What it answers: How many admissions occurred in the selected period / filter?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74320" y="973331"/>
            <a:ext cx="8595360" cy="621792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11480" y="973331"/>
            <a:ext cx="84124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Total Admissions = COUNT(FactAdmissions[AdmissionID])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74320" y="1704851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3A6B"/>
                </a:solidFill>
              </a:rPr>
              <a:t>What this formula does: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74320" y="2052323"/>
            <a:ext cx="8595360" cy="49377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274320" y="2052323"/>
            <a:ext cx="1691640" cy="493776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274320" y="2052323"/>
            <a:ext cx="169164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COUNT()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057400" y="2052323"/>
            <a:ext cx="676656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</a:rPr>
              <a:t>Counts the number of non-blank values in the specified column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274320" y="2619251"/>
            <a:ext cx="8595360" cy="49377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274320" y="2619251"/>
            <a:ext cx="1691640" cy="493776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274320" y="2619251"/>
            <a:ext cx="169164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FactAdmissions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2057400" y="2619251"/>
            <a:ext cx="676656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</a:rPr>
              <a:t>The fact table — always reference with exact table name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274320" y="3186179"/>
            <a:ext cx="8595360" cy="49377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274320" y="3186179"/>
            <a:ext cx="1691640" cy="493776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274320" y="3186179"/>
            <a:ext cx="169164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[AdmissionID]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2057400" y="3186179"/>
            <a:ext cx="676656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</a:rPr>
              <a:t>Each row has a unique AdmissionID — counting these = counting admissions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74320" y="3753107"/>
            <a:ext cx="8595360" cy="49377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274320" y="3753107"/>
            <a:ext cx="1691640" cy="493776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274320" y="3753107"/>
            <a:ext cx="169164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Filter Context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2057400" y="3753107"/>
            <a:ext cx="676656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</a:rPr>
              <a:t>When a date slicer is active, COUNT automatically restricts to the filtered time period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274320" y="4356611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3A6B"/>
                </a:solidFill>
              </a:rPr>
              <a:t>Monthly admissions (actual data) — values your Line Chart will show: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274320" y="4658363"/>
            <a:ext cx="8595360" cy="384048"/>
          </a:xfrm>
          <a:prstGeom prst="rect">
            <a:avLst/>
          </a:prstGeom>
          <a:solidFill>
            <a:srgbClr val="DCFCE7"/>
          </a:solidFill>
          <a:ln w="12700">
            <a:solidFill>
              <a:srgbClr val="16653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7"/>
          <p:cNvSpPr/>
          <p:nvPr/>
        </p:nvSpPr>
        <p:spPr>
          <a:xfrm>
            <a:off x="384048" y="4658363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66534"/>
                </a:solidFill>
              </a:rPr>
              <a:t>✅  Expected value (no filter): 500 admissions  ·  Format: None (whole number)  ·  Verify: drag to a Card visual and confirm '500' displays</a:t>
            </a:r>
            <a:endParaRPr lang="en-US" sz="11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973E94C-A807-9FF6-EC0C-19A63884DE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1BC4F913-9B28-EAF8-E8BF-26A8C6749E85}"/>
              </a:ext>
            </a:extLst>
          </p:cNvPr>
          <p:cNvSpPr/>
          <p:nvPr/>
        </p:nvSpPr>
        <p:spPr>
          <a:xfrm>
            <a:off x="0" y="0"/>
            <a:ext cx="9144000" cy="38608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C58A4F05-42B3-D94D-DAC4-1956822E8275}"/>
              </a:ext>
            </a:extLst>
          </p:cNvPr>
          <p:cNvSpPr/>
          <p:nvPr/>
        </p:nvSpPr>
        <p:spPr>
          <a:xfrm>
            <a:off x="274320" y="0"/>
            <a:ext cx="7406640" cy="38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DAX Measure 1 of 4 – Total Admissions</a:t>
            </a:r>
            <a:endParaRPr lang="en-US" sz="19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0872091B-B140-65F2-4955-A54CE59BBFCB}"/>
              </a:ext>
            </a:extLst>
          </p:cNvPr>
          <p:cNvSpPr/>
          <p:nvPr/>
        </p:nvSpPr>
        <p:spPr>
          <a:xfrm>
            <a:off x="7406640" y="109728"/>
            <a:ext cx="1554480" cy="248194"/>
          </a:xfrm>
          <a:prstGeom prst="roundRect">
            <a:avLst>
              <a:gd name="adj" fmla="val 17778"/>
            </a:avLst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579ED0B9-399E-AA12-00D1-C5ABCFF084D7}"/>
              </a:ext>
            </a:extLst>
          </p:cNvPr>
          <p:cNvSpPr/>
          <p:nvPr/>
        </p:nvSpPr>
        <p:spPr>
          <a:xfrm>
            <a:off x="7406640" y="109728"/>
            <a:ext cx="1554480" cy="2481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STAGE 5</a:t>
            </a:r>
            <a:endParaRPr lang="en-US" sz="900" dirty="0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6BCE314A-FE44-2983-89B7-17F1F9BC5F6E}"/>
              </a:ext>
            </a:extLst>
          </p:cNvPr>
          <p:cNvSpPr/>
          <p:nvPr/>
        </p:nvSpPr>
        <p:spPr>
          <a:xfrm>
            <a:off x="274320" y="424691"/>
            <a:ext cx="8595360" cy="438912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C7FC1C95-D980-37A3-92F5-9751A6B8897D}"/>
              </a:ext>
            </a:extLst>
          </p:cNvPr>
          <p:cNvSpPr/>
          <p:nvPr/>
        </p:nvSpPr>
        <p:spPr>
          <a:xfrm>
            <a:off x="347472" y="424691"/>
            <a:ext cx="8412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MEASURE 1  ·  What it answers: How many admissions occurred in the selected period / filter?</a:t>
            </a:r>
            <a:endParaRPr lang="en-US" sz="1200" dirty="0"/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638BED54-3092-24F0-855F-9F2F3BEC6957}"/>
              </a:ext>
            </a:extLst>
          </p:cNvPr>
          <p:cNvSpPr/>
          <p:nvPr/>
        </p:nvSpPr>
        <p:spPr>
          <a:xfrm>
            <a:off x="274320" y="973331"/>
            <a:ext cx="8595360" cy="621792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C54FBB54-4215-28C0-2506-C2F5117BFA9D}"/>
              </a:ext>
            </a:extLst>
          </p:cNvPr>
          <p:cNvSpPr/>
          <p:nvPr/>
        </p:nvSpPr>
        <p:spPr>
          <a:xfrm>
            <a:off x="411480" y="973331"/>
            <a:ext cx="84124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Total Admissions = COUNT(FactAdmissions[AdmissionID])</a:t>
            </a:r>
            <a:endParaRPr lang="en-US" sz="1000" dirty="0"/>
          </a:p>
        </p:txBody>
      </p:sp>
      <p:graphicFrame>
        <p:nvGraphicFramePr>
          <p:cNvPr id="28" name="Chart 0">
            <a:extLst>
              <a:ext uri="{FF2B5EF4-FFF2-40B4-BE49-F238E27FC236}">
                <a16:creationId xmlns:a16="http://schemas.microsoft.com/office/drawing/2014/main" id="{A3262785-75B9-2A70-5D84-5670EE34D38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28270241"/>
              </p:ext>
            </p:extLst>
          </p:nvPr>
        </p:nvGraphicFramePr>
        <p:xfrm>
          <a:off x="274320" y="2187630"/>
          <a:ext cx="8595360" cy="25717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394174652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74320" y="0"/>
            <a:ext cx="7406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DAX Measure 2 of 4 – Average Length of Stay (ALOS)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7406640" y="109728"/>
            <a:ext cx="1554480" cy="411480"/>
          </a:xfrm>
          <a:prstGeom prst="roundRect">
            <a:avLst>
              <a:gd name="adj" fmla="val 17778"/>
            </a:avLst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406640" y="109728"/>
            <a:ext cx="1554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STAGE 5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274320" y="749808"/>
            <a:ext cx="8595360" cy="438912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47472" y="749808"/>
            <a:ext cx="8412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MEASURE 2  ·  What it answers: How many days do patients stay on average — the bed utilization indicator?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74320" y="1298448"/>
            <a:ext cx="8595360" cy="438912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11480" y="1298448"/>
            <a:ext cx="8412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ALOS = AVERAGE(FactAdmissions[LengthOfStay])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74320" y="1759803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7377"/>
                </a:solidFill>
              </a:rPr>
              <a:t>Why ALOS matters — the bed blocking diagnostic: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74320" y="2088987"/>
            <a:ext cx="8595360" cy="530352"/>
          </a:xfrm>
          <a:prstGeom prst="rect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65760" y="2088987"/>
            <a:ext cx="83667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D4ED8"/>
                </a:solidFill>
              </a:rPr>
              <a:t>Longer ALOS = fewer beds available for new patients = bed blocking. Every extra day a patient occupies a bed is a day another patient waits in the emergency department or is transferred to a more expensive facility.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74320" y="2729067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3A6B"/>
                </a:solidFill>
              </a:rPr>
              <a:t>ALOS by admission type (actual data):</a:t>
            </a:r>
            <a:endParaRPr lang="en-US" sz="1100" dirty="0"/>
          </a:p>
        </p:txBody>
      </p:sp>
      <p:graphicFrame>
        <p:nvGraphicFramePr>
          <p:cNvPr id="14" name="Chart 0"/>
          <p:cNvGraphicFramePr/>
          <p:nvPr>
            <p:extLst>
              <p:ext uri="{D42A27DB-BD31-4B8C-83A1-F6EECF244321}">
                <p14:modId xmlns:p14="http://schemas.microsoft.com/office/powerpoint/2010/main" val="3180839916"/>
              </p:ext>
            </p:extLst>
          </p:nvPr>
        </p:nvGraphicFramePr>
        <p:xfrm>
          <a:off x="274320" y="3039963"/>
          <a:ext cx="4114800" cy="15087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20600340"/>
              </p:ext>
            </p:extLst>
          </p:nvPr>
        </p:nvGraphicFramePr>
        <p:xfrm>
          <a:off x="4572000" y="2659240"/>
          <a:ext cx="4297680" cy="1859280"/>
        </p:xfrm>
        <a:graphic>
          <a:graphicData uri="http://schemas.openxmlformats.org/drawingml/2006/table">
            <a:tbl>
              <a:tblPr/>
              <a:tblGrid>
                <a:gridCol w="147532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973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5262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1553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Department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Avg LOS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Insight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553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Diabetes &amp; Metabolism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4.48 days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⚠️ Longest — complex management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553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Kidney Care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4.28 days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⚠️ High — dialysis coordination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553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Neuroscience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4.05 days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Moderate — diagnostic delays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553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Cardiac Care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3.69 days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Near average — good protocols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1553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Respiratory Care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3.51 days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Below average — efficient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1553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Surgery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3.00 days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✅ Shortest — planned procedures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6" name="Shape 12"/>
          <p:cNvSpPr/>
          <p:nvPr/>
        </p:nvSpPr>
        <p:spPr>
          <a:xfrm>
            <a:off x="274320" y="4649307"/>
            <a:ext cx="8595360" cy="384048"/>
          </a:xfrm>
          <a:prstGeom prst="rect">
            <a:avLst/>
          </a:prstGeom>
          <a:solidFill>
            <a:srgbClr val="DCFCE7"/>
          </a:solidFill>
          <a:ln w="12700">
            <a:solidFill>
              <a:srgbClr val="16653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3"/>
          <p:cNvSpPr/>
          <p:nvPr/>
        </p:nvSpPr>
        <p:spPr>
          <a:xfrm>
            <a:off x="384048" y="4649307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66534"/>
                </a:solidFill>
              </a:rPr>
              <a:t>✅  Expected value (no filter): 3.83 days  ·  Format: Decimal, 2 places  ·  National average: ~4.5 days (US 2023) — this hospital is performing well</a:t>
            </a:r>
            <a:endParaRPr lang="en-US" sz="11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74320" y="0"/>
            <a:ext cx="7406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DAX Measure 3 of 4 – 30-Day Readmission Rate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7406640" y="109728"/>
            <a:ext cx="1554480" cy="411480"/>
          </a:xfrm>
          <a:prstGeom prst="roundRect">
            <a:avLst>
              <a:gd name="adj" fmla="val 17778"/>
            </a:avLst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406640" y="109728"/>
            <a:ext cx="1554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STAGE 5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274320" y="675305"/>
            <a:ext cx="8595360" cy="293282"/>
          </a:xfrm>
          <a:prstGeom prst="rect">
            <a:avLst/>
          </a:prstGeom>
          <a:solidFill>
            <a:srgbClr val="991B1B"/>
          </a:solidFill>
          <a:ln w="12700">
            <a:solidFill>
              <a:srgbClr val="991B1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47472" y="675305"/>
            <a:ext cx="8412480" cy="29328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MEASURE 3  ·  What it answers: What % of patients were readmitted within 30 days — the quality &amp; penalty metric?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74320" y="995688"/>
            <a:ext cx="8595360" cy="1372955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11480" y="1088483"/>
            <a:ext cx="8412480" cy="11704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Readmission Rate = 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DIVIDE(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CALCULATE(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COUNT(FactAdmissions[AdmissionID]),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FactAdmissions[ReadmissionFlag] = 1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),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COUNT(FactAdmissions[AdmissionID]),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0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74320" y="2368643"/>
            <a:ext cx="8595360" cy="20310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991B1B"/>
                </a:solidFill>
              </a:rPr>
              <a:t>Breaking down every function: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74320" y="2562367"/>
            <a:ext cx="859536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274320" y="2562367"/>
            <a:ext cx="2194560" cy="347472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274320" y="2562367"/>
            <a:ext cx="2194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DIVIDE(A, B, 0)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578608" y="2562367"/>
            <a:ext cx="623620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</a:rPr>
              <a:t>Divides A by B. If B=0 (no admissions in filter), returns 0 instead of an error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274320" y="2982991"/>
            <a:ext cx="859536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274320" y="2982991"/>
            <a:ext cx="2194560" cy="347472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274320" y="2982991"/>
            <a:ext cx="2194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CALCULATE(...)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2578608" y="2982991"/>
            <a:ext cx="623620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</a:rPr>
              <a:t>Evaluates COUNT but with an ADDED filter — only rows where ReadmissionFlag = 1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274320" y="3403615"/>
            <a:ext cx="859536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274320" y="3403615"/>
            <a:ext cx="2194560" cy="347472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274320" y="3403615"/>
            <a:ext cx="2194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COUNT([AdmissionID])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2578608" y="3403615"/>
            <a:ext cx="623620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</a:rPr>
              <a:t>Numerator: counts ONLY readmitted admissions (flag=1). There are 58 of them.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74320" y="3824239"/>
            <a:ext cx="859536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274320" y="3824239"/>
            <a:ext cx="2194560" cy="34747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274320" y="3824239"/>
            <a:ext cx="2194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COUNT([AdmissionID])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2578608" y="3824239"/>
            <a:ext cx="623620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</a:rPr>
              <a:t>Denominator: counts ALL admissions in the current filter context — 500 total.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274320" y="4244863"/>
            <a:ext cx="859536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274320" y="4244863"/>
            <a:ext cx="2194560" cy="347472"/>
          </a:xfrm>
          <a:prstGeom prst="rect">
            <a:avLst/>
          </a:prstGeom>
          <a:solidFill>
            <a:srgbClr val="166534"/>
          </a:solidFill>
          <a:ln w="12700">
            <a:solidFill>
              <a:srgbClr val="16653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274320" y="4244863"/>
            <a:ext cx="2194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Result: 58 ÷ 500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2578608" y="4244863"/>
            <a:ext cx="623620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</a:rPr>
              <a:t>= 0.116 = 11.6%  →  format as Percentage. WELL BELOW the 21.9% national benchmark.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274320" y="4647199"/>
            <a:ext cx="8595360" cy="384048"/>
          </a:xfrm>
          <a:prstGeom prst="rect">
            <a:avLst/>
          </a:prstGeom>
          <a:solidFill>
            <a:srgbClr val="DCFCE7"/>
          </a:solidFill>
          <a:ln w="12700">
            <a:solidFill>
              <a:srgbClr val="16653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384048" y="4647199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66534"/>
                </a:solidFill>
              </a:rPr>
              <a:t>✅  Expected value: 11.6% (58 of 500)  ·  Format: Percentage (%)  ·  Benchmark: 21.9% national average for heart failure patients  ·  This hospital = EXCELLENT</a:t>
            </a:r>
            <a:endParaRPr lang="en-US" sz="11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84048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74320" y="0"/>
            <a:ext cx="7406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DAX Measure 4 of 4 – Average Cost per Patient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7406640" y="68166"/>
            <a:ext cx="1554480" cy="246888"/>
          </a:xfrm>
          <a:prstGeom prst="roundRect">
            <a:avLst>
              <a:gd name="adj" fmla="val 17778"/>
            </a:avLst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406640" y="68166"/>
            <a:ext cx="15544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STAGE 5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274320" y="438084"/>
            <a:ext cx="8595360" cy="31079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47472" y="438084"/>
            <a:ext cx="8412480" cy="31079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MEASURE 4  ·  What it answers: What does the average admission cost — and where are the cost drivers?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74320" y="792763"/>
            <a:ext cx="8595360" cy="440297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11480" y="792763"/>
            <a:ext cx="8412480" cy="44029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Avg Cost per Patient = AVERAGE(FactAdmissions[Cost])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74320" y="1254121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3A6B"/>
                </a:solidFill>
              </a:rPr>
              <a:t>Cost analysis by key dimensions (actual data):</a:t>
            </a:r>
            <a:endParaRPr lang="en-US" sz="1200" dirty="0"/>
          </a:p>
        </p:txBody>
      </p:sp>
      <p:graphicFrame>
        <p:nvGraphicFramePr>
          <p:cNvPr id="11" name="Chart 0"/>
          <p:cNvGraphicFramePr/>
          <p:nvPr>
            <p:extLst>
              <p:ext uri="{D42A27DB-BD31-4B8C-83A1-F6EECF244321}">
                <p14:modId xmlns:p14="http://schemas.microsoft.com/office/powerpoint/2010/main" val="3647224780"/>
              </p:ext>
            </p:extLst>
          </p:nvPr>
        </p:nvGraphicFramePr>
        <p:xfrm>
          <a:off x="274320" y="1583305"/>
          <a:ext cx="4734098" cy="26517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2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2517429"/>
              </p:ext>
            </p:extLst>
          </p:nvPr>
        </p:nvGraphicFramePr>
        <p:xfrm>
          <a:off x="5029200" y="1262253"/>
          <a:ext cx="3794760" cy="3342640"/>
        </p:xfrm>
        <a:graphic>
          <a:graphicData uri="http://schemas.openxmlformats.org/drawingml/2006/table">
            <a:tbl>
              <a:tblPr/>
              <a:tblGrid>
                <a:gridCol w="109848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324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6381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94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Dimension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Value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Insight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4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Kidney Care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$14,390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Highest cost dept — dialysis and specialist coordination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4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Cardiac Care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$14,312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High cost + 18.5% readmit = CMO priority target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4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Heart Failure pts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$16,968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Most expensive chronic condition — 41 admissions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4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75+ age group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$16,202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Highest cost AND highest readmit rate (16.7%)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4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Transfer type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$17,289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Most expensive admission type — arrives critically ill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94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North Medical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$12,600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Highest readmit (15%) despite near-average cost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94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Surgery dept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$8,956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Lowest cost — planned, efficient procedures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94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35-49 age group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$11,030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Lowest cost group — healthiest population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13" name="Shape 9"/>
          <p:cNvSpPr/>
          <p:nvPr/>
        </p:nvSpPr>
        <p:spPr>
          <a:xfrm>
            <a:off x="274320" y="4656517"/>
            <a:ext cx="8595360" cy="384048"/>
          </a:xfrm>
          <a:prstGeom prst="rect">
            <a:avLst/>
          </a:prstGeom>
          <a:solidFill>
            <a:srgbClr val="DCFCE7"/>
          </a:solidFill>
          <a:ln w="12700">
            <a:solidFill>
              <a:srgbClr val="16653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0"/>
          <p:cNvSpPr/>
          <p:nvPr/>
        </p:nvSpPr>
        <p:spPr>
          <a:xfrm>
            <a:off x="384048" y="4656517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66534"/>
                </a:solidFill>
              </a:rPr>
              <a:t>✅  Expected value: $12,728 per patient  ·  Format: Currency ($) with 2 decimal places  ·  Apply via Measure Tools → $ icon in the ribbon</a:t>
            </a:r>
            <a:endParaRPr lang="en-US" sz="11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33426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74320" y="0"/>
            <a:ext cx="7406640" cy="43342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4 DAX Measures – Quick Reference &amp; Verification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7406640" y="109728"/>
            <a:ext cx="1554480" cy="278631"/>
          </a:xfrm>
          <a:prstGeom prst="roundRect">
            <a:avLst>
              <a:gd name="adj" fmla="val 17778"/>
            </a:avLst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406640" y="109728"/>
            <a:ext cx="1554480" cy="27863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STAGE 5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274320" y="389593"/>
            <a:ext cx="8595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334155"/>
                </a:solidFill>
              </a:rPr>
              <a:t>After creating all 4 measures, drag each one to a Card visual to verify. These are your ground-truth values.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74320" y="846793"/>
            <a:ext cx="1920240" cy="132588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274320" y="901657"/>
            <a:ext cx="1920240" cy="68945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</a:rPr>
              <a:t>500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274320" y="1576027"/>
            <a:ext cx="1920240" cy="37124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Total Admissions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274320" y="1907497"/>
            <a:ext cx="1920240" cy="23865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FFFFFF"/>
                </a:solidFill>
              </a:rPr>
              <a:t>COUNT([AdmissionID])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359152" y="846793"/>
            <a:ext cx="1920240" cy="132588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2359152" y="901657"/>
            <a:ext cx="1920240" cy="68945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</a:rPr>
              <a:t>3.83 days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2359152" y="1576027"/>
            <a:ext cx="1920240" cy="37124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Avg LOS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2359152" y="1907497"/>
            <a:ext cx="1920240" cy="23865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FFFFFF"/>
                </a:solidFill>
              </a:rPr>
              <a:t>AVERAGE([LengthOfStay])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443984" y="846793"/>
            <a:ext cx="1920240" cy="1325880"/>
          </a:xfrm>
          <a:prstGeom prst="rect">
            <a:avLst/>
          </a:prstGeom>
          <a:solidFill>
            <a:srgbClr val="991B1B"/>
          </a:solidFill>
          <a:ln w="12700">
            <a:solidFill>
              <a:srgbClr val="991B1B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443984" y="901657"/>
            <a:ext cx="1920240" cy="68945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</a:rPr>
              <a:t>11.6%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4443984" y="1576027"/>
            <a:ext cx="1920240" cy="37124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Readmission Rate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4443984" y="1907497"/>
            <a:ext cx="1920240" cy="23865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FFFFFF"/>
                </a:solidFill>
              </a:rPr>
              <a:t>58 of 500 admissions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6528816" y="846793"/>
            <a:ext cx="1920240" cy="132588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6528816" y="901657"/>
            <a:ext cx="1920240" cy="68945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</a:rPr>
              <a:t>$12,728</a:t>
            </a:r>
            <a:endParaRPr lang="en-US" sz="2600" dirty="0"/>
          </a:p>
        </p:txBody>
      </p:sp>
      <p:sp>
        <p:nvSpPr>
          <p:cNvPr id="21" name="Text 19"/>
          <p:cNvSpPr/>
          <p:nvPr/>
        </p:nvSpPr>
        <p:spPr>
          <a:xfrm>
            <a:off x="6528816" y="1576027"/>
            <a:ext cx="1920240" cy="37124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Avg Cost / Patient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6528816" y="1907497"/>
            <a:ext cx="1920240" cy="23865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FFFFFF"/>
                </a:solidFill>
              </a:rPr>
              <a:t>AVERAGE([Cost])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274320" y="2291545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3A6B"/>
                </a:solidFill>
              </a:rPr>
              <a:t>Breakdown by facility (use as slicer test — filter to each facility and verify):</a:t>
            </a:r>
            <a:endParaRPr lang="en-US" sz="1100" dirty="0"/>
          </a:p>
        </p:txBody>
      </p:sp>
      <p:graphicFrame>
        <p:nvGraphicFramePr>
          <p:cNvPr id="2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30826808"/>
              </p:ext>
            </p:extLst>
          </p:nvPr>
        </p:nvGraphicFramePr>
        <p:xfrm>
          <a:off x="274320" y="2602441"/>
          <a:ext cx="8595360" cy="1257300"/>
        </p:xfrm>
        <a:graphic>
          <a:graphicData uri="http://schemas.openxmlformats.org/drawingml/2006/table">
            <a:tbl>
              <a:tblPr/>
              <a:tblGrid>
                <a:gridCol w="19835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744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9177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9177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744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47943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19751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Facility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Admissions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Avg LOS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Readmit%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Avg Cost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Flag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751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Downtown Campus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124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3.98 days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8.1%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$12,913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✅ Best readmit rate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9751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East Wing Facility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124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4.02 days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9.7%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$13,648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✅ Above average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751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North Medical Center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133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3.67 days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15.0%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$12,600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⚠️ Highest readmit!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9751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West Community Hospital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119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3.64 days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13.4%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$11,719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⚠️ 2nd highest readmit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5" name="Shape 22"/>
          <p:cNvSpPr/>
          <p:nvPr/>
        </p:nvSpPr>
        <p:spPr>
          <a:xfrm>
            <a:off x="274320" y="3930814"/>
            <a:ext cx="8595360" cy="384048"/>
          </a:xfrm>
          <a:prstGeom prst="rect">
            <a:avLst/>
          </a:prstGeom>
          <a:solidFill>
            <a:srgbClr val="FEE2E2"/>
          </a:solidFill>
          <a:ln w="12700">
            <a:solidFill>
              <a:srgbClr val="991B1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3"/>
          <p:cNvSpPr/>
          <p:nvPr/>
        </p:nvSpPr>
        <p:spPr>
          <a:xfrm>
            <a:off x="384048" y="3930814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991B1B"/>
                </a:solidFill>
              </a:rPr>
              <a:t>🔑  North Medical Center has the highest readmission rate (15.0%) but NOT the highest cost. This suggests a process or protocol issue, not a case-mix issue.</a:t>
            </a:r>
            <a:endParaRPr lang="en-US" sz="1100" dirty="0"/>
          </a:p>
        </p:txBody>
      </p:sp>
      <p:sp>
        <p:nvSpPr>
          <p:cNvPr id="27" name="Text 24"/>
          <p:cNvSpPr/>
          <p:nvPr/>
        </p:nvSpPr>
        <p:spPr>
          <a:xfrm>
            <a:off x="274320" y="4415446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3A6B"/>
                </a:solidFill>
              </a:rPr>
              <a:t>How to use measures as slicer tests:</a:t>
            </a:r>
            <a:endParaRPr lang="en-US" sz="1100" dirty="0"/>
          </a:p>
        </p:txBody>
      </p:sp>
      <p:sp>
        <p:nvSpPr>
          <p:cNvPr id="28" name="Text 25"/>
          <p:cNvSpPr/>
          <p:nvPr/>
        </p:nvSpPr>
        <p:spPr>
          <a:xfrm>
            <a:off x="274320" y="4717198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</a:rPr>
              <a:t>① Add a Slicer visual  ② Drag FacilityID to the slicer  ③ Select 'North Medical Center'  ④ Confirm your 4 Card visuals change to: 133 admissions · 3.67 days · 15.0% · $12,600  ⑤ If they do not change, your relationships are not active.</a:t>
            </a:r>
            <a:endParaRPr lang="en-US" sz="10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16653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" cy="514350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0" y="1097280"/>
            <a:ext cx="91440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200" dirty="0">
                <a:solidFill>
                  <a:srgbClr val="000000"/>
                </a:solidFill>
              </a:rPr>
              <a:t>📊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457200" y="2176272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6: Build the KPI Cards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457200" y="31546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14BDBD"/>
                </a:solidFill>
              </a:rPr>
              <a:t>4 Cards on the Top Row · Format · Benchmark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474720" y="3886200"/>
            <a:ext cx="2194560" cy="365760"/>
          </a:xfrm>
          <a:prstGeom prst="roundRect">
            <a:avLst>
              <a:gd name="adj" fmla="val 25000"/>
            </a:avLst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474720" y="388620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STEP-BY-STEP GUIDE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74320" y="0"/>
            <a:ext cx="7406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the 4 KPI Card Visuals – Top Row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7406640" y="109728"/>
            <a:ext cx="1554480" cy="411480"/>
          </a:xfrm>
          <a:prstGeom prst="roundRect">
            <a:avLst>
              <a:gd name="adj" fmla="val 17778"/>
            </a:avLst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406640" y="109728"/>
            <a:ext cx="1554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STAGE 6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274320" y="569700"/>
            <a:ext cx="8595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334155"/>
                </a:solidFill>
              </a:rPr>
              <a:t>Cards answer “are we on track?” in under five seconds. The CMO should read these before looking at any chart.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74320" y="890853"/>
            <a:ext cx="1965960" cy="1261872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274320" y="945717"/>
            <a:ext cx="1965960" cy="65617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</a:rPr>
              <a:t>500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274320" y="1584883"/>
            <a:ext cx="1965960" cy="3533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Total Admissions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274320" y="1900351"/>
            <a:ext cx="1965960" cy="22713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FFFFFF"/>
                </a:solidFill>
              </a:rPr>
              <a:t>Target: track monthly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377440" y="890853"/>
            <a:ext cx="1965960" cy="1261872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2377440" y="945717"/>
            <a:ext cx="1965960" cy="65617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</a:rPr>
              <a:t>3.83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2377440" y="1584883"/>
            <a:ext cx="1965960" cy="3533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Avg LOS (days)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2377440" y="1900351"/>
            <a:ext cx="1965960" cy="22713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FFFFFF"/>
                </a:solidFill>
              </a:rPr>
              <a:t>National avg: 4.5 days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480560" y="890853"/>
            <a:ext cx="1965960" cy="1261872"/>
          </a:xfrm>
          <a:prstGeom prst="rect">
            <a:avLst/>
          </a:prstGeom>
          <a:solidFill>
            <a:srgbClr val="166534"/>
          </a:solidFill>
          <a:ln w="12700">
            <a:solidFill>
              <a:srgbClr val="166534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480560" y="945717"/>
            <a:ext cx="1965960" cy="65617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</a:rPr>
              <a:t>11.6%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4480560" y="1584883"/>
            <a:ext cx="1965960" cy="3533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Readmission Rate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4480560" y="1900351"/>
            <a:ext cx="1965960" cy="22713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FFFFFF"/>
                </a:solidFill>
              </a:rPr>
              <a:t>Benchmark: 21.9%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6583680" y="890853"/>
            <a:ext cx="1965960" cy="126187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6583680" y="945717"/>
            <a:ext cx="1965960" cy="65617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</a:rPr>
              <a:t>$12,728</a:t>
            </a:r>
            <a:endParaRPr lang="en-US" sz="2600" dirty="0"/>
          </a:p>
        </p:txBody>
      </p:sp>
      <p:sp>
        <p:nvSpPr>
          <p:cNvPr id="21" name="Text 19"/>
          <p:cNvSpPr/>
          <p:nvPr/>
        </p:nvSpPr>
        <p:spPr>
          <a:xfrm>
            <a:off x="6583680" y="1584883"/>
            <a:ext cx="1965960" cy="3533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Avg Cost / Patient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6583680" y="1900351"/>
            <a:ext cx="1965960" cy="22713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FFFFFF"/>
                </a:solidFill>
              </a:rPr>
              <a:t>Format: Currency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274320" y="2280741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3A6B"/>
                </a:solidFill>
              </a:rPr>
              <a:t>Step-by-step for each card: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274320" y="2609925"/>
            <a:ext cx="859536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274320" y="2609925"/>
            <a:ext cx="658368" cy="438912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274320" y="2609925"/>
            <a:ext cx="65836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Card 1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1005840" y="2609925"/>
            <a:ext cx="1371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3A6B"/>
                </a:solidFill>
              </a:rPr>
              <a:t>Total Admissions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2468880" y="2609925"/>
            <a:ext cx="63550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</a:rPr>
              <a:t>① Click the Card icon in Visualizations (looks like a rectangle with '123'). ② A blank card appears. ③ Drag [Total Admissions] from the Fields pane into the Fields bucket. ④ Format → Callout value → Font size: 28. ⑤ Add title: 'Total Admissions'.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274320" y="3121989"/>
            <a:ext cx="859536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274320" y="3121989"/>
            <a:ext cx="658368" cy="438912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274320" y="3121989"/>
            <a:ext cx="65836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Card 2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1005840" y="3121989"/>
            <a:ext cx="1371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7377"/>
                </a:solidFill>
              </a:rPr>
              <a:t>Avg LOS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2468880" y="3121989"/>
            <a:ext cx="63550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</a:rPr>
              <a:t>① Add another Card. ② Drag [ALOS] into the field. ③ Format → Callout value → Decimal places: 2. ④ Format → Category label → On → text: 'Avg Length of Stay (days)'. ⑤ Add subtitle: 'National avg: 4.5 days'.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274320" y="3634053"/>
            <a:ext cx="859536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274320" y="3634053"/>
            <a:ext cx="658368" cy="438912"/>
          </a:xfrm>
          <a:prstGeom prst="rect">
            <a:avLst/>
          </a:prstGeom>
          <a:solidFill>
            <a:srgbClr val="166534"/>
          </a:solidFill>
          <a:ln w="12700">
            <a:solidFill>
              <a:srgbClr val="16653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274320" y="3634053"/>
            <a:ext cx="65836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Card 3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1005840" y="3634053"/>
            <a:ext cx="1371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66534"/>
                </a:solidFill>
              </a:rPr>
              <a:t>Readmission Rate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2468880" y="3634053"/>
            <a:ext cx="63550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</a:rPr>
              <a:t>① Add Card. ② Drag [Readmission Rate]. ③ Format as Percentage (Measure Tools → %). ④ IMPORTANT: Add a reference text box near the card: 'Benchmark: 21.9%'. ⑤ Color the card green since 11.6% is BELOW benchmark.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274320" y="4146117"/>
            <a:ext cx="859536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Shape 38"/>
          <p:cNvSpPr/>
          <p:nvPr/>
        </p:nvSpPr>
        <p:spPr>
          <a:xfrm>
            <a:off x="274320" y="4146117"/>
            <a:ext cx="658368" cy="43891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274320" y="4146117"/>
            <a:ext cx="65836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Card 4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1005840" y="4146117"/>
            <a:ext cx="1371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97706"/>
                </a:solidFill>
              </a:rPr>
              <a:t>Avg Cost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2468880" y="4146117"/>
            <a:ext cx="63550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</a:rPr>
              <a:t>① Add Card. ② Drag [Avg Cost per Patient]. ③ Format as Currency (Measure Tools → $). ④ Set decimal places: 2. ⑤ Title: 'Avg Cost per Patient'.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274320" y="4676469"/>
            <a:ext cx="8595360" cy="384048"/>
          </a:xfrm>
          <a:prstGeom prst="rect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384048" y="4676469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D4ED8"/>
                </a:solidFill>
              </a:rPr>
              <a:t>💡  Arrange all 4 cards in a single row at the top. Make them equal width and equal height. Lock positions: Format → Lock position in each card.</a:t>
            </a:r>
            <a:endParaRPr lang="en-US" sz="11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991B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" cy="514350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0" y="1097280"/>
            <a:ext cx="91440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200" dirty="0">
                <a:solidFill>
                  <a:srgbClr val="000000"/>
                </a:solidFill>
              </a:rPr>
              <a:t>📈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457200" y="2176272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7: Trend Line + Department Bar Chart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457200" y="31546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14BDBD"/>
                </a:solidFill>
              </a:rPr>
              <a:t>Monthly Admissions · Bed Blocking Indicator · Readmission Benchmark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474720" y="3886200"/>
            <a:ext cx="2194560" cy="365760"/>
          </a:xfrm>
          <a:prstGeom prst="roundRect">
            <a:avLst>
              <a:gd name="adj" fmla="val 25000"/>
            </a:avLst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474720" y="388620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STEP-BY-STEP GUIDE</a:t>
            </a:r>
            <a:endParaRPr lang="en-US" sz="9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13173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74320" y="0"/>
            <a:ext cx="7406640" cy="41317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1 of 5 – Monthly Admissions Trend Line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7406640" y="109728"/>
            <a:ext cx="1554480" cy="265611"/>
          </a:xfrm>
          <a:prstGeom prst="roundRect">
            <a:avLst>
              <a:gd name="adj" fmla="val 17778"/>
            </a:avLst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406640" y="109728"/>
            <a:ext cx="1554480" cy="26561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STAGE 7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274320" y="431462"/>
            <a:ext cx="8595360" cy="1835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334155"/>
                </a:solidFill>
              </a:rPr>
              <a:t>This chart detects bed blocking. When the admissions line consistently runs above the discharge line, beds are being blocked.</a:t>
            </a:r>
            <a:endParaRPr lang="en-US" sz="1200" dirty="0"/>
          </a:p>
        </p:txBody>
      </p:sp>
      <p:graphicFrame>
        <p:nvGraphicFramePr>
          <p:cNvPr id="7" name="Chart 0"/>
          <p:cNvGraphicFramePr/>
          <p:nvPr>
            <p:extLst>
              <p:ext uri="{D42A27DB-BD31-4B8C-83A1-F6EECF244321}">
                <p14:modId xmlns:p14="http://schemas.microsoft.com/office/powerpoint/2010/main" val="4276133201"/>
              </p:ext>
            </p:extLst>
          </p:nvPr>
        </p:nvGraphicFramePr>
        <p:xfrm>
          <a:off x="274320" y="615027"/>
          <a:ext cx="4954693" cy="247362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8" name="Shape 5"/>
          <p:cNvSpPr/>
          <p:nvPr/>
        </p:nvSpPr>
        <p:spPr>
          <a:xfrm>
            <a:off x="5486400" y="615026"/>
            <a:ext cx="3383280" cy="347472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5486400" y="615026"/>
            <a:ext cx="3383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How to Build This Chart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5486400" y="1017362"/>
            <a:ext cx="3383280" cy="212688"/>
          </a:xfrm>
          <a:prstGeom prst="rect">
            <a:avLst/>
          </a:prstGeom>
          <a:solidFill>
            <a:srgbClr val="F4F7FB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5486400" y="1017362"/>
            <a:ext cx="347472" cy="21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B3A6B"/>
                </a:solidFill>
              </a:rPr>
              <a:t>①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5852160" y="1017362"/>
            <a:ext cx="2980944" cy="21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</a:rPr>
              <a:t>Click Line Chart icon in Visualizations pane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5486400" y="1279491"/>
            <a:ext cx="3383280" cy="2126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5486400" y="1279491"/>
            <a:ext cx="347472" cy="21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B3A6B"/>
                </a:solidFill>
              </a:rPr>
              <a:t>②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5852160" y="1279491"/>
            <a:ext cx="2980944" cy="21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</a:rPr>
              <a:t>X Axis: drag Date from DimDate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5486400" y="1521301"/>
            <a:ext cx="3383280" cy="212688"/>
          </a:xfrm>
          <a:prstGeom prst="rect">
            <a:avLst/>
          </a:prstGeom>
          <a:solidFill>
            <a:srgbClr val="F4F7FB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5486400" y="1521301"/>
            <a:ext cx="347472" cy="21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B3A6B"/>
                </a:solidFill>
              </a:rPr>
              <a:t>③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5852160" y="1521301"/>
            <a:ext cx="2980944" cy="21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</a:rPr>
              <a:t>Drill down to Month level: click the double-arrow icon</a:t>
            </a:r>
            <a:endParaRPr lang="en-US" sz="950" dirty="0"/>
          </a:p>
        </p:txBody>
      </p:sp>
      <p:sp>
        <p:nvSpPr>
          <p:cNvPr id="19" name="Shape 16"/>
          <p:cNvSpPr/>
          <p:nvPr/>
        </p:nvSpPr>
        <p:spPr>
          <a:xfrm>
            <a:off x="5486400" y="1790207"/>
            <a:ext cx="3383280" cy="2126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/>
          <p:nvPr/>
        </p:nvSpPr>
        <p:spPr>
          <a:xfrm>
            <a:off x="5486400" y="1790207"/>
            <a:ext cx="347472" cy="21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B3A6B"/>
                </a:solidFill>
              </a:rPr>
              <a:t>④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5852160" y="1790207"/>
            <a:ext cx="2980944" cy="21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</a:rPr>
              <a:t>Y Axis: drag [Total Admissions] measure</a:t>
            </a:r>
            <a:endParaRPr lang="en-US" sz="950" dirty="0"/>
          </a:p>
        </p:txBody>
      </p:sp>
      <p:sp>
        <p:nvSpPr>
          <p:cNvPr id="22" name="Shape 19"/>
          <p:cNvSpPr/>
          <p:nvPr/>
        </p:nvSpPr>
        <p:spPr>
          <a:xfrm>
            <a:off x="5486400" y="2045562"/>
            <a:ext cx="3383280" cy="212688"/>
          </a:xfrm>
          <a:prstGeom prst="rect">
            <a:avLst/>
          </a:prstGeom>
          <a:solidFill>
            <a:srgbClr val="F4F7FB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0"/>
          <p:cNvSpPr/>
          <p:nvPr/>
        </p:nvSpPr>
        <p:spPr>
          <a:xfrm>
            <a:off x="5486400" y="2045562"/>
            <a:ext cx="347472" cy="21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B3A6B"/>
                </a:solidFill>
              </a:rPr>
              <a:t>⑤</a:t>
            </a:r>
            <a:endParaRPr lang="en-US" sz="1000" dirty="0"/>
          </a:p>
        </p:txBody>
      </p:sp>
      <p:sp>
        <p:nvSpPr>
          <p:cNvPr id="24" name="Text 21"/>
          <p:cNvSpPr/>
          <p:nvPr/>
        </p:nvSpPr>
        <p:spPr>
          <a:xfrm>
            <a:off x="5852160" y="2045562"/>
            <a:ext cx="2980944" cy="21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</a:rPr>
              <a:t>Format → X-axis → set to Month level</a:t>
            </a:r>
            <a:endParaRPr lang="en-US" sz="950" dirty="0"/>
          </a:p>
        </p:txBody>
      </p:sp>
      <p:sp>
        <p:nvSpPr>
          <p:cNvPr id="25" name="Shape 22"/>
          <p:cNvSpPr/>
          <p:nvPr/>
        </p:nvSpPr>
        <p:spPr>
          <a:xfrm>
            <a:off x="5486400" y="2294144"/>
            <a:ext cx="3383280" cy="2126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3"/>
          <p:cNvSpPr/>
          <p:nvPr/>
        </p:nvSpPr>
        <p:spPr>
          <a:xfrm>
            <a:off x="5486400" y="2294144"/>
            <a:ext cx="347472" cy="21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B3A6B"/>
                </a:solidFill>
              </a:rPr>
              <a:t>⑥</a:t>
            </a:r>
            <a:endParaRPr lang="en-US" sz="1000" dirty="0"/>
          </a:p>
        </p:txBody>
      </p:sp>
      <p:sp>
        <p:nvSpPr>
          <p:cNvPr id="27" name="Text 24"/>
          <p:cNvSpPr/>
          <p:nvPr/>
        </p:nvSpPr>
        <p:spPr>
          <a:xfrm>
            <a:off x="5852160" y="2294144"/>
            <a:ext cx="2980944" cy="21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</a:rPr>
              <a:t>Format → Title: 'Monthly Admissions Trend'</a:t>
            </a:r>
            <a:endParaRPr lang="en-US" sz="950" dirty="0"/>
          </a:p>
        </p:txBody>
      </p:sp>
      <p:sp>
        <p:nvSpPr>
          <p:cNvPr id="28" name="Shape 25"/>
          <p:cNvSpPr/>
          <p:nvPr/>
        </p:nvSpPr>
        <p:spPr>
          <a:xfrm>
            <a:off x="5486400" y="2549499"/>
            <a:ext cx="3383280" cy="212688"/>
          </a:xfrm>
          <a:prstGeom prst="rect">
            <a:avLst/>
          </a:prstGeom>
          <a:solidFill>
            <a:srgbClr val="F4F7FB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6"/>
          <p:cNvSpPr/>
          <p:nvPr/>
        </p:nvSpPr>
        <p:spPr>
          <a:xfrm>
            <a:off x="5486400" y="2549499"/>
            <a:ext cx="347472" cy="21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B3A6B"/>
                </a:solidFill>
              </a:rPr>
              <a:t>⑦</a:t>
            </a:r>
            <a:endParaRPr lang="en-US" sz="1000" dirty="0"/>
          </a:p>
        </p:txBody>
      </p:sp>
      <p:sp>
        <p:nvSpPr>
          <p:cNvPr id="30" name="Text 27"/>
          <p:cNvSpPr/>
          <p:nvPr/>
        </p:nvSpPr>
        <p:spPr>
          <a:xfrm>
            <a:off x="5852160" y="2549499"/>
            <a:ext cx="2980944" cy="21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</a:rPr>
              <a:t>BONUS: drag [Readmission Rate] to a second Y axis to overlay trend</a:t>
            </a:r>
            <a:endParaRPr lang="en-US" sz="950" dirty="0"/>
          </a:p>
        </p:txBody>
      </p:sp>
      <p:sp>
        <p:nvSpPr>
          <p:cNvPr id="31" name="Shape 28"/>
          <p:cNvSpPr/>
          <p:nvPr/>
        </p:nvSpPr>
        <p:spPr>
          <a:xfrm>
            <a:off x="5486400" y="2825174"/>
            <a:ext cx="3383280" cy="2126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29"/>
          <p:cNvSpPr/>
          <p:nvPr/>
        </p:nvSpPr>
        <p:spPr>
          <a:xfrm>
            <a:off x="5486400" y="2825174"/>
            <a:ext cx="347472" cy="21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B3A6B"/>
                </a:solidFill>
              </a:rPr>
              <a:t>⑧</a:t>
            </a:r>
            <a:endParaRPr lang="en-US" sz="1000" dirty="0"/>
          </a:p>
        </p:txBody>
      </p:sp>
      <p:sp>
        <p:nvSpPr>
          <p:cNvPr id="33" name="Text 30"/>
          <p:cNvSpPr/>
          <p:nvPr/>
        </p:nvSpPr>
        <p:spPr>
          <a:xfrm>
            <a:off x="5852160" y="2825174"/>
            <a:ext cx="2980944" cy="21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</a:rPr>
              <a:t>Analytics pane → Average Line → show overall average</a:t>
            </a:r>
            <a:endParaRPr lang="en-US" sz="950" dirty="0"/>
          </a:p>
        </p:txBody>
      </p:sp>
      <p:sp>
        <p:nvSpPr>
          <p:cNvPr id="34" name="Text 31"/>
          <p:cNvSpPr/>
          <p:nvPr/>
        </p:nvSpPr>
        <p:spPr>
          <a:xfrm>
            <a:off x="274320" y="3189593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3A6B"/>
                </a:solidFill>
              </a:rPr>
              <a:t>Key patterns in the monthly data:</a:t>
            </a:r>
            <a:endParaRPr lang="en-US" sz="1100" dirty="0"/>
          </a:p>
        </p:txBody>
      </p:sp>
      <p:sp>
        <p:nvSpPr>
          <p:cNvPr id="35" name="Shape 32"/>
          <p:cNvSpPr/>
          <p:nvPr/>
        </p:nvSpPr>
        <p:spPr>
          <a:xfrm>
            <a:off x="274320" y="3502506"/>
            <a:ext cx="8595360" cy="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Shape 33"/>
          <p:cNvSpPr/>
          <p:nvPr/>
        </p:nvSpPr>
        <p:spPr>
          <a:xfrm>
            <a:off x="274320" y="3502506"/>
            <a:ext cx="8595360" cy="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Shape 34"/>
          <p:cNvSpPr/>
          <p:nvPr/>
        </p:nvSpPr>
        <p:spPr>
          <a:xfrm>
            <a:off x="274320" y="3502506"/>
            <a:ext cx="8595360" cy="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Shape 35"/>
          <p:cNvSpPr/>
          <p:nvPr/>
        </p:nvSpPr>
        <p:spPr>
          <a:xfrm>
            <a:off x="274320" y="3502506"/>
            <a:ext cx="8595360" cy="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Shape 36"/>
          <p:cNvSpPr/>
          <p:nvPr/>
        </p:nvSpPr>
        <p:spPr>
          <a:xfrm>
            <a:off x="274320" y="3502506"/>
            <a:ext cx="8595360" cy="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graphicFrame>
        <p:nvGraphicFramePr>
          <p:cNvPr id="4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30849093"/>
              </p:ext>
            </p:extLst>
          </p:nvPr>
        </p:nvGraphicFramePr>
        <p:xfrm>
          <a:off x="274320" y="3587180"/>
          <a:ext cx="8595360" cy="1463040"/>
        </p:xfrm>
        <a:graphic>
          <a:graphicData uri="http://schemas.openxmlformats.org/drawingml/2006/table">
            <a:tbl>
              <a:tblPr/>
              <a:tblGrid>
                <a:gridCol w="12801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315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Month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Key Insight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September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58 admissions — PEAK month (11.6% of all admissions). Staff accordingly.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October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57 admissions — 2nd highest. Readmit rate spikes to 17.5% this month.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May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Readmit rate peaks at 20.5% — near the national benchmark. Investigate case mix.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February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Highest volume for a winter month (53). Readmit rate drops to 3.8% — investigate why it is so low.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April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Lowest volume (29 admissions) — potential for reduced staffing or scheduled maintenance.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47472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74320" y="0"/>
            <a:ext cx="7406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2 of 5 – Readmission Rate by Department (Bar Chart)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7406640" y="68166"/>
            <a:ext cx="1554480" cy="223375"/>
          </a:xfrm>
          <a:prstGeom prst="roundRect">
            <a:avLst>
              <a:gd name="adj" fmla="val 17778"/>
            </a:avLst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406640" y="68166"/>
            <a:ext cx="1554480" cy="22337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STAGE 7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274320" y="230273"/>
            <a:ext cx="8595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334155"/>
                </a:solidFill>
              </a:rPr>
              <a:t>The benchmark chart. Any bar extending past the 21.9% reference line identifies a department needing clinical protocol review.</a:t>
            </a:r>
            <a:endParaRPr lang="en-US" sz="1200" dirty="0"/>
          </a:p>
        </p:txBody>
      </p:sp>
      <p:graphicFrame>
        <p:nvGraphicFramePr>
          <p:cNvPr id="7" name="Chart 0"/>
          <p:cNvGraphicFramePr/>
          <p:nvPr>
            <p:extLst>
              <p:ext uri="{D42A27DB-BD31-4B8C-83A1-F6EECF244321}">
                <p14:modId xmlns:p14="http://schemas.microsoft.com/office/powerpoint/2010/main" val="2571868343"/>
              </p:ext>
            </p:extLst>
          </p:nvPr>
        </p:nvGraphicFramePr>
        <p:xfrm>
          <a:off x="491836" y="605177"/>
          <a:ext cx="4652356" cy="309067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8" name="Shape 5"/>
          <p:cNvSpPr/>
          <p:nvPr/>
        </p:nvSpPr>
        <p:spPr>
          <a:xfrm>
            <a:off x="5486400" y="650897"/>
            <a:ext cx="3383280" cy="347472"/>
          </a:xfrm>
          <a:prstGeom prst="rect">
            <a:avLst/>
          </a:prstGeom>
          <a:solidFill>
            <a:srgbClr val="991B1B"/>
          </a:solidFill>
          <a:ln w="12700">
            <a:solidFill>
              <a:srgbClr val="991B1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5486400" y="650897"/>
            <a:ext cx="3383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Build Instructions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5486400" y="1053233"/>
            <a:ext cx="3383280" cy="329184"/>
          </a:xfrm>
          <a:prstGeom prst="rect">
            <a:avLst/>
          </a:prstGeom>
          <a:solidFill>
            <a:srgbClr val="F4F7FB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5486400" y="1053233"/>
            <a:ext cx="34747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991B1B"/>
                </a:solidFill>
              </a:rPr>
              <a:t>①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5852160" y="1053233"/>
            <a:ext cx="298094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</a:rPr>
              <a:t>Click Clustered Bar Chart icon in Visualizations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5486400" y="1437281"/>
            <a:ext cx="338328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5486400" y="1437281"/>
            <a:ext cx="34747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991B1B"/>
                </a:solidFill>
              </a:rPr>
              <a:t>②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5852160" y="1437281"/>
            <a:ext cx="298094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</a:rPr>
              <a:t>Y Axis: drag Department from DimDoctor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5486400" y="1821329"/>
            <a:ext cx="3383280" cy="329184"/>
          </a:xfrm>
          <a:prstGeom prst="rect">
            <a:avLst/>
          </a:prstGeom>
          <a:solidFill>
            <a:srgbClr val="F4F7FB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5486400" y="1821329"/>
            <a:ext cx="34747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991B1B"/>
                </a:solidFill>
              </a:rPr>
              <a:t>③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5852160" y="1821329"/>
            <a:ext cx="298094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</a:rPr>
              <a:t>X Axis: drag [Readmission Rate] measure</a:t>
            </a:r>
            <a:endParaRPr lang="en-US" sz="950" dirty="0"/>
          </a:p>
        </p:txBody>
      </p:sp>
      <p:sp>
        <p:nvSpPr>
          <p:cNvPr id="19" name="Shape 16"/>
          <p:cNvSpPr/>
          <p:nvPr/>
        </p:nvSpPr>
        <p:spPr>
          <a:xfrm>
            <a:off x="5486400" y="2205377"/>
            <a:ext cx="338328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/>
          <p:nvPr/>
        </p:nvSpPr>
        <p:spPr>
          <a:xfrm>
            <a:off x="5486400" y="2205377"/>
            <a:ext cx="34747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991B1B"/>
                </a:solidFill>
              </a:rPr>
              <a:t>④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5852160" y="2205377"/>
            <a:ext cx="298094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</a:rPr>
              <a:t>Sort: click '...' → Sort by Readmission Rate, Descending</a:t>
            </a:r>
            <a:endParaRPr lang="en-US" sz="950" dirty="0"/>
          </a:p>
        </p:txBody>
      </p:sp>
      <p:sp>
        <p:nvSpPr>
          <p:cNvPr id="22" name="Shape 19"/>
          <p:cNvSpPr/>
          <p:nvPr/>
        </p:nvSpPr>
        <p:spPr>
          <a:xfrm>
            <a:off x="5486400" y="2589425"/>
            <a:ext cx="3383280" cy="329184"/>
          </a:xfrm>
          <a:prstGeom prst="rect">
            <a:avLst/>
          </a:prstGeom>
          <a:solidFill>
            <a:srgbClr val="F4F7FB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0"/>
          <p:cNvSpPr/>
          <p:nvPr/>
        </p:nvSpPr>
        <p:spPr>
          <a:xfrm>
            <a:off x="5486400" y="2589425"/>
            <a:ext cx="34747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991B1B"/>
                </a:solidFill>
              </a:rPr>
              <a:t>⑤</a:t>
            </a:r>
            <a:endParaRPr lang="en-US" sz="1000" dirty="0"/>
          </a:p>
        </p:txBody>
      </p:sp>
      <p:sp>
        <p:nvSpPr>
          <p:cNvPr id="24" name="Text 21"/>
          <p:cNvSpPr/>
          <p:nvPr/>
        </p:nvSpPr>
        <p:spPr>
          <a:xfrm>
            <a:off x="5852160" y="2589425"/>
            <a:ext cx="298094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</a:rPr>
              <a:t>Analytics pane → Constant Line → Value: 0.219</a:t>
            </a:r>
            <a:endParaRPr lang="en-US" sz="950" dirty="0"/>
          </a:p>
        </p:txBody>
      </p:sp>
      <p:sp>
        <p:nvSpPr>
          <p:cNvPr id="25" name="Shape 22"/>
          <p:cNvSpPr/>
          <p:nvPr/>
        </p:nvSpPr>
        <p:spPr>
          <a:xfrm>
            <a:off x="5486400" y="2973473"/>
            <a:ext cx="338328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3"/>
          <p:cNvSpPr/>
          <p:nvPr/>
        </p:nvSpPr>
        <p:spPr>
          <a:xfrm>
            <a:off x="5486400" y="2973473"/>
            <a:ext cx="34747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991B1B"/>
                </a:solidFill>
              </a:rPr>
              <a:t>⑥</a:t>
            </a:r>
            <a:endParaRPr lang="en-US" sz="1000" dirty="0"/>
          </a:p>
        </p:txBody>
      </p:sp>
      <p:sp>
        <p:nvSpPr>
          <p:cNvPr id="27" name="Text 24"/>
          <p:cNvSpPr/>
          <p:nvPr/>
        </p:nvSpPr>
        <p:spPr>
          <a:xfrm>
            <a:off x="5852160" y="2973473"/>
            <a:ext cx="298094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</a:rPr>
              <a:t>Format the line: Color=Red, Line style=Dashed, Width=2px</a:t>
            </a:r>
            <a:endParaRPr lang="en-US" sz="950" dirty="0"/>
          </a:p>
        </p:txBody>
      </p:sp>
      <p:sp>
        <p:nvSpPr>
          <p:cNvPr id="28" name="Shape 25"/>
          <p:cNvSpPr/>
          <p:nvPr/>
        </p:nvSpPr>
        <p:spPr>
          <a:xfrm>
            <a:off x="5486400" y="3357521"/>
            <a:ext cx="3383280" cy="329184"/>
          </a:xfrm>
          <a:prstGeom prst="rect">
            <a:avLst/>
          </a:prstGeom>
          <a:solidFill>
            <a:srgbClr val="F4F7FB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6"/>
          <p:cNvSpPr/>
          <p:nvPr/>
        </p:nvSpPr>
        <p:spPr>
          <a:xfrm>
            <a:off x="5486400" y="3357521"/>
            <a:ext cx="34747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991B1B"/>
                </a:solidFill>
              </a:rPr>
              <a:t>⑦</a:t>
            </a:r>
            <a:endParaRPr lang="en-US" sz="1000" dirty="0"/>
          </a:p>
        </p:txBody>
      </p:sp>
      <p:sp>
        <p:nvSpPr>
          <p:cNvPr id="30" name="Text 27"/>
          <p:cNvSpPr/>
          <p:nvPr/>
        </p:nvSpPr>
        <p:spPr>
          <a:xfrm>
            <a:off x="5852160" y="3357521"/>
            <a:ext cx="298094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</a:rPr>
              <a:t>Add data label on the constant line: '21.9% Benchmark'</a:t>
            </a:r>
            <a:endParaRPr lang="en-US" sz="950" dirty="0"/>
          </a:p>
        </p:txBody>
      </p:sp>
      <p:sp>
        <p:nvSpPr>
          <p:cNvPr id="31" name="Shape 28"/>
          <p:cNvSpPr/>
          <p:nvPr/>
        </p:nvSpPr>
        <p:spPr>
          <a:xfrm>
            <a:off x="5486400" y="3741569"/>
            <a:ext cx="338328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29"/>
          <p:cNvSpPr/>
          <p:nvPr/>
        </p:nvSpPr>
        <p:spPr>
          <a:xfrm>
            <a:off x="5486400" y="3741569"/>
            <a:ext cx="34747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991B1B"/>
                </a:solidFill>
              </a:rPr>
              <a:t>⑧</a:t>
            </a:r>
            <a:endParaRPr lang="en-US" sz="1000" dirty="0"/>
          </a:p>
        </p:txBody>
      </p:sp>
      <p:sp>
        <p:nvSpPr>
          <p:cNvPr id="33" name="Text 30"/>
          <p:cNvSpPr/>
          <p:nvPr/>
        </p:nvSpPr>
        <p:spPr>
          <a:xfrm>
            <a:off x="5852160" y="3741569"/>
            <a:ext cx="298094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</a:rPr>
              <a:t>Format data labels: show as %, 1 decimal place</a:t>
            </a:r>
            <a:endParaRPr lang="en-US" sz="950" dirty="0"/>
          </a:p>
        </p:txBody>
      </p:sp>
      <p:sp>
        <p:nvSpPr>
          <p:cNvPr id="34" name="Shape 31"/>
          <p:cNvSpPr/>
          <p:nvPr/>
        </p:nvSpPr>
        <p:spPr>
          <a:xfrm>
            <a:off x="5486400" y="4113733"/>
            <a:ext cx="3383280" cy="347472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2"/>
          <p:cNvSpPr/>
          <p:nvPr/>
        </p:nvSpPr>
        <p:spPr>
          <a:xfrm>
            <a:off x="5486400" y="4198769"/>
            <a:ext cx="3383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Key Findings</a:t>
            </a:r>
            <a:endParaRPr lang="en-US" sz="1100" dirty="0"/>
          </a:p>
        </p:txBody>
      </p:sp>
      <p:graphicFrame>
        <p:nvGraphicFramePr>
          <p:cNvPr id="3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58162076"/>
              </p:ext>
            </p:extLst>
          </p:nvPr>
        </p:nvGraphicFramePr>
        <p:xfrm>
          <a:off x="237744" y="3729086"/>
          <a:ext cx="5212080" cy="944880"/>
        </p:xfrm>
        <a:graphic>
          <a:graphicData uri="http://schemas.openxmlformats.org/drawingml/2006/table">
            <a:tbl>
              <a:tblPr/>
              <a:tblGrid>
                <a:gridCol w="1417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632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Dept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Rate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vs. Benchmark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Surgery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20.8%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⚠️ ABOVE 21.9% almost — #1 concern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Cardiac Care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18.5%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⚠️ High — cardiologists alert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Cancer Center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2.3%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✅ BEST — strong oncology protocols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37" name="Shape 33"/>
          <p:cNvSpPr/>
          <p:nvPr/>
        </p:nvSpPr>
        <p:spPr>
          <a:xfrm>
            <a:off x="237744" y="4721203"/>
            <a:ext cx="8595360" cy="384048"/>
          </a:xfrm>
          <a:prstGeom prst="rect">
            <a:avLst/>
          </a:prstGeom>
          <a:solidFill>
            <a:srgbClr val="FEE2E2"/>
          </a:solidFill>
          <a:ln w="12700">
            <a:solidFill>
              <a:srgbClr val="991B1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4"/>
          <p:cNvSpPr/>
          <p:nvPr/>
        </p:nvSpPr>
        <p:spPr>
          <a:xfrm>
            <a:off x="347472" y="4721203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991B1B"/>
                </a:solidFill>
              </a:rPr>
              <a:t>🔑  Surgery at 20.8% readmit is the closest to the 21.9% penalty threshold. Cardiac Care at 18.5% has the highest absolute cost ($14,312 avg). These two departments are the CMO's top priorities.</a:t>
            </a:r>
            <a:endParaRPr lang="en-US" sz="11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C2410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" cy="514350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0" y="1097280"/>
            <a:ext cx="91440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200" dirty="0">
                <a:solidFill>
                  <a:srgbClr val="000000"/>
                </a:solidFill>
              </a:rPr>
              <a:t>🔥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457200" y="2176272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8: Heatmap · Decomposition Tree · Treemap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457200" y="31546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14BDBD"/>
                </a:solidFill>
              </a:rPr>
              <a:t>3 Deep-Dive Visuals · Root Cause Analysis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474720" y="3886200"/>
            <a:ext cx="2194560" cy="365760"/>
          </a:xfrm>
          <a:prstGeom prst="roundRect">
            <a:avLst>
              <a:gd name="adj" fmla="val 25000"/>
            </a:avLst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474720" y="388620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STEP-BY-STEP GUIDE</a:t>
            </a:r>
            <a:endParaRPr lang="en-US" sz="9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9624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74320" y="0"/>
            <a:ext cx="7406640" cy="396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3 of 5 – Peak Admission Times Heatmap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7406640" y="109728"/>
            <a:ext cx="1554480" cy="254726"/>
          </a:xfrm>
          <a:prstGeom prst="roundRect">
            <a:avLst>
              <a:gd name="adj" fmla="val 17778"/>
            </a:avLst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406640" y="109728"/>
            <a:ext cx="1554480" cy="25472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STAGE 8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274320" y="316313"/>
            <a:ext cx="8595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334155"/>
                </a:solidFill>
              </a:rPr>
              <a:t>The heatmap answers: when should we schedule extra nurses and physicians? Dark cells = peak demand = more staff needed.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74320" y="608249"/>
            <a:ext cx="4206240" cy="347472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274320" y="608249"/>
            <a:ext cx="4206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How to Build the Heatmap (Matrix Visual)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74320" y="1010585"/>
            <a:ext cx="4206240" cy="329184"/>
          </a:xfrm>
          <a:prstGeom prst="rect">
            <a:avLst/>
          </a:prstGeom>
          <a:solidFill>
            <a:srgbClr val="F4F7FB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274320" y="1010585"/>
            <a:ext cx="34747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C2410C"/>
                </a:solidFill>
              </a:rPr>
              <a:t>①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40080" y="1010585"/>
            <a:ext cx="380390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</a:rPr>
              <a:t>Click the Matrix visual icon (grid/table icon in Visualizations)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274320" y="1394633"/>
            <a:ext cx="420624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274320" y="1394633"/>
            <a:ext cx="34747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C2410C"/>
                </a:solidFill>
              </a:rPr>
              <a:t>②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40080" y="1394633"/>
            <a:ext cx="380390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</a:rPr>
              <a:t>Rows: drag DayOfWeek from DimDate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274320" y="1778681"/>
            <a:ext cx="4206240" cy="329184"/>
          </a:xfrm>
          <a:prstGeom prst="rect">
            <a:avLst/>
          </a:prstGeom>
          <a:solidFill>
            <a:srgbClr val="F4F7FB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274320" y="1778681"/>
            <a:ext cx="34747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C2410C"/>
                </a:solidFill>
              </a:rPr>
              <a:t>③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40080" y="1778681"/>
            <a:ext cx="380390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</a:rPr>
              <a:t>Columns: drag Month from DimDate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274320" y="2162729"/>
            <a:ext cx="420624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274320" y="2162729"/>
            <a:ext cx="34747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C2410C"/>
                </a:solidFill>
              </a:rPr>
              <a:t>④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40080" y="2162729"/>
            <a:ext cx="380390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</a:rPr>
              <a:t>Values: drag [Total Admissions] measure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274320" y="2546777"/>
            <a:ext cx="4206240" cy="329184"/>
          </a:xfrm>
          <a:prstGeom prst="rect">
            <a:avLst/>
          </a:prstGeom>
          <a:solidFill>
            <a:srgbClr val="F4F7FB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274320" y="2546777"/>
            <a:ext cx="34747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C2410C"/>
                </a:solidFill>
              </a:rPr>
              <a:t>⑤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40080" y="2546777"/>
            <a:ext cx="380390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</a:rPr>
              <a:t>Sort rows: manually order Mon, Tue, Wed, Thu, Fri, Sat, Sun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274320" y="2930825"/>
            <a:ext cx="420624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274320" y="2930825"/>
            <a:ext cx="34747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C2410C"/>
                </a:solidFill>
              </a:rPr>
              <a:t>⑥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40080" y="2930825"/>
            <a:ext cx="380390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</a:rPr>
              <a:t>Sort columns: Jan, Feb, ... Nov (use MonthNum from DimDate to force sort)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274320" y="3314873"/>
            <a:ext cx="4206240" cy="329184"/>
          </a:xfrm>
          <a:prstGeom prst="rect">
            <a:avLst/>
          </a:prstGeom>
          <a:solidFill>
            <a:srgbClr val="F4F7FB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274320" y="3314873"/>
            <a:ext cx="34747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C2410C"/>
                </a:solidFill>
              </a:rPr>
              <a:t>⑦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40080" y="3314873"/>
            <a:ext cx="380390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</a:rPr>
              <a:t>Conditional Formatting: click Values → Conditional Formatting → Background color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274320" y="3698921"/>
            <a:ext cx="420624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274320" y="3698921"/>
            <a:ext cx="34747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C2410C"/>
                </a:solidFill>
              </a:rPr>
              <a:t>⑧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640080" y="3698921"/>
            <a:ext cx="380390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</a:rPr>
              <a:t>Set gradient: minimum = light green (#DCFCE7), maximum = dark red (#991B1B)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274320" y="4082969"/>
            <a:ext cx="4206240" cy="329184"/>
          </a:xfrm>
          <a:prstGeom prst="rect">
            <a:avLst/>
          </a:prstGeom>
          <a:solidFill>
            <a:srgbClr val="F4F7FB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274320" y="4082969"/>
            <a:ext cx="34747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C2410C"/>
                </a:solidFill>
              </a:rPr>
              <a:t>⑨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640080" y="4082969"/>
            <a:ext cx="380390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</a:rPr>
              <a:t>Title: 'Peak Admission Times by Day of Week and Month'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4663440" y="608249"/>
            <a:ext cx="4206240" cy="347472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4663440" y="608249"/>
            <a:ext cx="4206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Monthly Pattern — Key Findings</a:t>
            </a:r>
            <a:endParaRPr lang="en-US" sz="1100" dirty="0"/>
          </a:p>
        </p:txBody>
      </p:sp>
      <p:graphicFrame>
        <p:nvGraphicFramePr>
          <p:cNvPr id="3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0487224"/>
              </p:ext>
            </p:extLst>
          </p:nvPr>
        </p:nvGraphicFramePr>
        <p:xfrm>
          <a:off x="4663440" y="1010585"/>
          <a:ext cx="4206241" cy="2517648"/>
        </p:xfrm>
        <a:graphic>
          <a:graphicData uri="http://schemas.openxmlformats.org/drawingml/2006/table">
            <a:tbl>
              <a:tblPr/>
              <a:tblGrid>
                <a:gridCol w="60879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207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257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3959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Month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Adm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Readmit%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Staffing Recommendation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September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58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10.3%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Peak volume — fully staff all shifts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October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57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17.5%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2nd peak + high readmit — double alert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May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44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20.5%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Readmit spike — review discharge protocols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February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53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3.8%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High volume, low readmit — model month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April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29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6.9%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Lowest volume — reduce elective procedure slots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January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31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9.7%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Low volume — good for staff training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39" name="Shape 36"/>
          <p:cNvSpPr/>
          <p:nvPr/>
        </p:nvSpPr>
        <p:spPr>
          <a:xfrm>
            <a:off x="4663440" y="3260009"/>
            <a:ext cx="4206240" cy="347472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7"/>
          <p:cNvSpPr/>
          <p:nvPr/>
        </p:nvSpPr>
        <p:spPr>
          <a:xfrm>
            <a:off x="4663440" y="3260009"/>
            <a:ext cx="4206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Interpreting the Heatmap</a:t>
            </a:r>
            <a:endParaRPr lang="en-US" sz="1100" dirty="0"/>
          </a:p>
        </p:txBody>
      </p:sp>
      <p:sp>
        <p:nvSpPr>
          <p:cNvPr id="41" name="Shape 38"/>
          <p:cNvSpPr/>
          <p:nvPr/>
        </p:nvSpPr>
        <p:spPr>
          <a:xfrm>
            <a:off x="4663440" y="3662345"/>
            <a:ext cx="4206240" cy="292608"/>
          </a:xfrm>
          <a:prstGeom prst="rect">
            <a:avLst/>
          </a:prstGeom>
          <a:solidFill>
            <a:srgbClr val="F4F7FB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39"/>
          <p:cNvSpPr/>
          <p:nvPr/>
        </p:nvSpPr>
        <p:spPr>
          <a:xfrm>
            <a:off x="4709160" y="3662345"/>
            <a:ext cx="1463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3A6B"/>
                </a:solidFill>
              </a:rPr>
              <a:t>Dark red cells</a:t>
            </a:r>
            <a:endParaRPr lang="en-US" sz="1000" dirty="0"/>
          </a:p>
        </p:txBody>
      </p:sp>
      <p:sp>
        <p:nvSpPr>
          <p:cNvPr id="43" name="Text 40"/>
          <p:cNvSpPr/>
          <p:nvPr/>
        </p:nvSpPr>
        <p:spPr>
          <a:xfrm>
            <a:off x="6236208" y="3662345"/>
            <a:ext cx="259689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</a:rPr>
              <a:t>= peak demand → add nursing and physician shifts</a:t>
            </a:r>
            <a:endParaRPr lang="en-US" sz="950" dirty="0"/>
          </a:p>
        </p:txBody>
      </p:sp>
      <p:sp>
        <p:nvSpPr>
          <p:cNvPr id="44" name="Shape 41"/>
          <p:cNvSpPr/>
          <p:nvPr/>
        </p:nvSpPr>
        <p:spPr>
          <a:xfrm>
            <a:off x="4663440" y="4009817"/>
            <a:ext cx="4206240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42"/>
          <p:cNvSpPr/>
          <p:nvPr/>
        </p:nvSpPr>
        <p:spPr>
          <a:xfrm>
            <a:off x="4709160" y="4009817"/>
            <a:ext cx="1463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3A6B"/>
                </a:solidFill>
              </a:rPr>
              <a:t>Light green cells</a:t>
            </a:r>
            <a:endParaRPr lang="en-US" sz="1000" dirty="0"/>
          </a:p>
        </p:txBody>
      </p:sp>
      <p:sp>
        <p:nvSpPr>
          <p:cNvPr id="46" name="Text 43"/>
          <p:cNvSpPr/>
          <p:nvPr/>
        </p:nvSpPr>
        <p:spPr>
          <a:xfrm>
            <a:off x="6236208" y="4009817"/>
            <a:ext cx="259689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</a:rPr>
              <a:t>= low volume → consider scheduled maintenance or training</a:t>
            </a:r>
            <a:endParaRPr lang="en-US" sz="950" dirty="0"/>
          </a:p>
        </p:txBody>
      </p:sp>
      <p:sp>
        <p:nvSpPr>
          <p:cNvPr id="47" name="Shape 44"/>
          <p:cNvSpPr/>
          <p:nvPr/>
        </p:nvSpPr>
        <p:spPr>
          <a:xfrm>
            <a:off x="4666827" y="4641095"/>
            <a:ext cx="4206240" cy="292608"/>
          </a:xfrm>
          <a:prstGeom prst="rect">
            <a:avLst/>
          </a:prstGeom>
          <a:solidFill>
            <a:srgbClr val="F4F7FB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Text 45"/>
          <p:cNvSpPr/>
          <p:nvPr/>
        </p:nvSpPr>
        <p:spPr>
          <a:xfrm>
            <a:off x="4712547" y="4641095"/>
            <a:ext cx="1463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3A6B"/>
                </a:solidFill>
              </a:rPr>
              <a:t>Consistent row</a:t>
            </a:r>
            <a:endParaRPr lang="en-US" sz="1000" dirty="0"/>
          </a:p>
        </p:txBody>
      </p:sp>
      <p:sp>
        <p:nvSpPr>
          <p:cNvPr id="49" name="Text 46"/>
          <p:cNvSpPr/>
          <p:nvPr/>
        </p:nvSpPr>
        <p:spPr>
          <a:xfrm>
            <a:off x="6239595" y="4641095"/>
            <a:ext cx="259689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</a:rPr>
              <a:t>= a day of week that is always high → structural pattern</a:t>
            </a:r>
            <a:endParaRPr lang="en-US" sz="950" dirty="0"/>
          </a:p>
        </p:txBody>
      </p:sp>
      <p:sp>
        <p:nvSpPr>
          <p:cNvPr id="50" name="Shape 47"/>
          <p:cNvSpPr/>
          <p:nvPr/>
        </p:nvSpPr>
        <p:spPr>
          <a:xfrm>
            <a:off x="4663440" y="4325456"/>
            <a:ext cx="4206240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Text 48"/>
          <p:cNvSpPr/>
          <p:nvPr/>
        </p:nvSpPr>
        <p:spPr>
          <a:xfrm>
            <a:off x="4709160" y="4325456"/>
            <a:ext cx="1463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3A6B"/>
                </a:solidFill>
              </a:rPr>
              <a:t>Single dark cell</a:t>
            </a:r>
            <a:endParaRPr lang="en-US" sz="1000" dirty="0"/>
          </a:p>
        </p:txBody>
      </p:sp>
      <p:sp>
        <p:nvSpPr>
          <p:cNvPr id="52" name="Text 49"/>
          <p:cNvSpPr/>
          <p:nvPr/>
        </p:nvSpPr>
        <p:spPr>
          <a:xfrm>
            <a:off x="6236208" y="4325456"/>
            <a:ext cx="259689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</a:rPr>
              <a:t>= one-off spike → investigate cause (e.g. local event)</a:t>
            </a:r>
            <a:endParaRPr lang="en-US" sz="950" dirty="0"/>
          </a:p>
        </p:txBody>
      </p:sp>
      <p:sp>
        <p:nvSpPr>
          <p:cNvPr id="53" name="Shape 50"/>
          <p:cNvSpPr/>
          <p:nvPr/>
        </p:nvSpPr>
        <p:spPr>
          <a:xfrm>
            <a:off x="277707" y="4641095"/>
            <a:ext cx="8595360" cy="384048"/>
          </a:xfrm>
          <a:prstGeom prst="rect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" name="Text 51"/>
          <p:cNvSpPr/>
          <p:nvPr/>
        </p:nvSpPr>
        <p:spPr>
          <a:xfrm>
            <a:off x="387435" y="4641095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D4ED8"/>
                </a:solidFill>
              </a:rPr>
              <a:t>💡  The heatmap is also useful for identifying weekday vs. weekend patterns. If weekend admissions are high but weekend staffing is lower, that gap explains delayed discharge and longer LOS.</a:t>
            </a:r>
            <a:endParaRPr lang="en-US" sz="11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74320" y="0"/>
            <a:ext cx="7406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4 of 5 – Decomposition Tree: LOS Root Causes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7406640" y="109728"/>
            <a:ext cx="1554480" cy="411480"/>
          </a:xfrm>
          <a:prstGeom prst="roundRect">
            <a:avLst>
              <a:gd name="adj" fmla="val 17778"/>
            </a:avLst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406640" y="109728"/>
            <a:ext cx="1554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STAGE 8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274320" y="566929"/>
            <a:ext cx="8595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334155"/>
                </a:solidFill>
              </a:rPr>
              <a:t>The decomposition tree answers: why is length of stay high in certain groups? The CMO can drill through without technical help.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74320" y="865639"/>
            <a:ext cx="4206240" cy="347472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274320" y="865639"/>
            <a:ext cx="4206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How to Build the Decomposition Tree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74320" y="1267975"/>
            <a:ext cx="4206240" cy="329184"/>
          </a:xfrm>
          <a:prstGeom prst="rect">
            <a:avLst/>
          </a:prstGeom>
          <a:solidFill>
            <a:srgbClr val="F4F7FB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274320" y="1267975"/>
            <a:ext cx="34747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D4ED8"/>
                </a:solidFill>
              </a:rPr>
              <a:t>①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40080" y="1267975"/>
            <a:ext cx="380390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</a:rPr>
              <a:t>Search 'Decomposition Tree' in the Visualizations search bar (scroll down or use search)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274320" y="1652023"/>
            <a:ext cx="420624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274320" y="1652023"/>
            <a:ext cx="34747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D4ED8"/>
                </a:solidFill>
              </a:rPr>
              <a:t>②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40080" y="1652023"/>
            <a:ext cx="380390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</a:rPr>
              <a:t>Analyze bucket: drag [ALOS] measure — this is what we are decomposing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274320" y="2036071"/>
            <a:ext cx="4206240" cy="329184"/>
          </a:xfrm>
          <a:prstGeom prst="rect">
            <a:avLst/>
          </a:prstGeom>
          <a:solidFill>
            <a:srgbClr val="F4F7FB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274320" y="2036071"/>
            <a:ext cx="34747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D4ED8"/>
                </a:solidFill>
              </a:rPr>
              <a:t>③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40080" y="2036071"/>
            <a:ext cx="380390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</a:rPr>
              <a:t>Explain By: drag Department from DimDoctor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274320" y="2420119"/>
            <a:ext cx="420624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274320" y="2420119"/>
            <a:ext cx="34747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D4ED8"/>
                </a:solidFill>
              </a:rPr>
              <a:t>④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40080" y="2420119"/>
            <a:ext cx="380390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</a:rPr>
              <a:t>Explain By: drag Age Group (calculated column) from DimPatient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274320" y="2804167"/>
            <a:ext cx="4206240" cy="329184"/>
          </a:xfrm>
          <a:prstGeom prst="rect">
            <a:avLst/>
          </a:prstGeom>
          <a:solidFill>
            <a:srgbClr val="F4F7FB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274320" y="2804167"/>
            <a:ext cx="34747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D4ED8"/>
                </a:solidFill>
              </a:rPr>
              <a:t>⑤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40080" y="2804167"/>
            <a:ext cx="380390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</a:rPr>
              <a:t>Explain By: drag InsuranceProvider from DimPatient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274320" y="3188215"/>
            <a:ext cx="420624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274320" y="3188215"/>
            <a:ext cx="34747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D4ED8"/>
                </a:solidFill>
              </a:rPr>
              <a:t>⑥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40080" y="3188215"/>
            <a:ext cx="380390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</a:rPr>
              <a:t>Explain By: drag ChronicCondition from DimPatient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274320" y="3572263"/>
            <a:ext cx="4206240" cy="329184"/>
          </a:xfrm>
          <a:prstGeom prst="rect">
            <a:avLst/>
          </a:prstGeom>
          <a:solidFill>
            <a:srgbClr val="F4F7FB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274320" y="3572263"/>
            <a:ext cx="34747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D4ED8"/>
                </a:solidFill>
              </a:rPr>
              <a:t>⑦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40080" y="3572263"/>
            <a:ext cx="380390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</a:rPr>
              <a:t>In the visual, click the '+' at the root to expand. Choose 'High Value' to let AI find the biggest LOS driver.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274320" y="3956311"/>
            <a:ext cx="420624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274320" y="3956311"/>
            <a:ext cx="34747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D4ED8"/>
                </a:solidFill>
              </a:rPr>
              <a:t>⑧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640080" y="3956311"/>
            <a:ext cx="380390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</a:rPr>
              <a:t>Title: 'Length of Stay Root Cause Analysis'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4663440" y="865639"/>
            <a:ext cx="4206240" cy="347472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4663440" y="865639"/>
            <a:ext cx="4206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Example Drill Paths (Actual Data)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4663440" y="1267975"/>
            <a:ext cx="4206240" cy="493776"/>
          </a:xfrm>
          <a:prstGeom prst="rect">
            <a:avLst/>
          </a:prstGeom>
          <a:solidFill>
            <a:srgbClr val="FFFFFF"/>
          </a:solidFill>
          <a:ln w="12700">
            <a:solidFill>
              <a:srgbClr val="991B1B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6" name="Shape 34"/>
          <p:cNvSpPr/>
          <p:nvPr/>
        </p:nvSpPr>
        <p:spPr>
          <a:xfrm>
            <a:off x="4663440" y="1267975"/>
            <a:ext cx="109728" cy="493776"/>
          </a:xfrm>
          <a:prstGeom prst="rect">
            <a:avLst/>
          </a:prstGeom>
          <a:solidFill>
            <a:srgbClr val="991B1B"/>
          </a:solidFill>
          <a:ln w="12700">
            <a:solidFill>
              <a:srgbClr val="991B1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4828032" y="1295407"/>
            <a:ext cx="400507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991B1B"/>
                </a:solidFill>
              </a:rPr>
              <a:t>ALOS 3.83 → Diabetes &amp; Metab → 4.48 days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4828032" y="1542295"/>
            <a:ext cx="400507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334155"/>
                </a:solidFill>
              </a:rPr>
              <a:t>Endocrinology patients stay 17% longer than average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4663440" y="1834903"/>
            <a:ext cx="4206240" cy="493776"/>
          </a:xfrm>
          <a:prstGeom prst="rect">
            <a:avLst/>
          </a:prstGeom>
          <a:solidFill>
            <a:srgbClr val="FFFFFF"/>
          </a:solidFill>
          <a:ln w="12700">
            <a:solidFill>
              <a:srgbClr val="991B1B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0" name="Shape 38"/>
          <p:cNvSpPr/>
          <p:nvPr/>
        </p:nvSpPr>
        <p:spPr>
          <a:xfrm>
            <a:off x="4663440" y="1834903"/>
            <a:ext cx="109728" cy="493776"/>
          </a:xfrm>
          <a:prstGeom prst="rect">
            <a:avLst/>
          </a:prstGeom>
          <a:solidFill>
            <a:srgbClr val="991B1B"/>
          </a:solidFill>
          <a:ln w="12700">
            <a:solidFill>
              <a:srgbClr val="991B1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4828032" y="1862335"/>
            <a:ext cx="400507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991B1B"/>
                </a:solidFill>
              </a:rPr>
              <a:t>ALOS 3.83 → Diabetes &amp; Metab → 75+ age → 5.1+ days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4828032" y="2109223"/>
            <a:ext cx="400507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334155"/>
                </a:solidFill>
              </a:rPr>
              <a:t>Oldest patients in this dept have the longest stays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4663440" y="2401831"/>
            <a:ext cx="4206240" cy="493776"/>
          </a:xfrm>
          <a:prstGeom prst="rect">
            <a:avLst/>
          </a:prstGeom>
          <a:solidFill>
            <a:srgbClr val="FFFFFF"/>
          </a:solidFill>
          <a:ln w="12700">
            <a:solidFill>
              <a:srgbClr val="C2410C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4" name="Shape 42"/>
          <p:cNvSpPr/>
          <p:nvPr/>
        </p:nvSpPr>
        <p:spPr>
          <a:xfrm>
            <a:off x="4663440" y="2401831"/>
            <a:ext cx="109728" cy="493776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4828032" y="2429263"/>
            <a:ext cx="400507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C2410C"/>
                </a:solidFill>
              </a:rPr>
              <a:t>ALOS 3.83 → Kidney Care → 4.28 days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4828032" y="2676151"/>
            <a:ext cx="400507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334155"/>
                </a:solidFill>
              </a:rPr>
              <a:t>Nephrology is 2nd longest — dialysis and coordination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4663440" y="2968759"/>
            <a:ext cx="4206240" cy="493776"/>
          </a:xfrm>
          <a:prstGeom prst="rect">
            <a:avLst/>
          </a:prstGeom>
          <a:solidFill>
            <a:srgbClr val="FFFFFF"/>
          </a:solidFill>
          <a:ln w="12700">
            <a:solidFill>
              <a:srgbClr val="C2410C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8" name="Shape 46"/>
          <p:cNvSpPr/>
          <p:nvPr/>
        </p:nvSpPr>
        <p:spPr>
          <a:xfrm>
            <a:off x="4663440" y="2968759"/>
            <a:ext cx="109728" cy="493776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Text 47"/>
          <p:cNvSpPr/>
          <p:nvPr/>
        </p:nvSpPr>
        <p:spPr>
          <a:xfrm>
            <a:off x="4828032" y="2996191"/>
            <a:ext cx="400507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C2410C"/>
                </a:solidFill>
              </a:rPr>
              <a:t>ALOS 3.83 → Kidney Care → Chronic Kidney Dis → 4.12 days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4828032" y="3243079"/>
            <a:ext cx="400507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334155"/>
                </a:solidFill>
              </a:rPr>
              <a:t>CKD patients with kidney docs = complex, costly stays</a:t>
            </a:r>
            <a:endParaRPr lang="en-US" sz="950" dirty="0"/>
          </a:p>
        </p:txBody>
      </p:sp>
      <p:sp>
        <p:nvSpPr>
          <p:cNvPr id="51" name="Shape 49"/>
          <p:cNvSpPr/>
          <p:nvPr/>
        </p:nvSpPr>
        <p:spPr>
          <a:xfrm>
            <a:off x="4663440" y="3535687"/>
            <a:ext cx="4206240" cy="493776"/>
          </a:xfrm>
          <a:prstGeom prst="rect">
            <a:avLst/>
          </a:prstGeom>
          <a:solidFill>
            <a:srgbClr val="FFFFFF"/>
          </a:solidFill>
          <a:ln w="12700">
            <a:solidFill>
              <a:srgbClr val="166534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2" name="Shape 50"/>
          <p:cNvSpPr/>
          <p:nvPr/>
        </p:nvSpPr>
        <p:spPr>
          <a:xfrm>
            <a:off x="4663440" y="3535687"/>
            <a:ext cx="109728" cy="493776"/>
          </a:xfrm>
          <a:prstGeom prst="rect">
            <a:avLst/>
          </a:prstGeom>
          <a:solidFill>
            <a:srgbClr val="166534"/>
          </a:solidFill>
          <a:ln w="12700">
            <a:solidFill>
              <a:srgbClr val="16653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Text 51"/>
          <p:cNvSpPr/>
          <p:nvPr/>
        </p:nvSpPr>
        <p:spPr>
          <a:xfrm>
            <a:off x="4828032" y="3563119"/>
            <a:ext cx="400507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66534"/>
                </a:solidFill>
              </a:rPr>
              <a:t>ALOS 3.83 → Surgery → 3.00 days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4828032" y="3810007"/>
            <a:ext cx="400507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334155"/>
                </a:solidFill>
              </a:rPr>
              <a:t>Surgery is most efficient — planned, protocol-driven</a:t>
            </a:r>
            <a:endParaRPr lang="en-US" sz="950" dirty="0"/>
          </a:p>
        </p:txBody>
      </p:sp>
      <p:sp>
        <p:nvSpPr>
          <p:cNvPr id="55" name="Shape 53"/>
          <p:cNvSpPr/>
          <p:nvPr/>
        </p:nvSpPr>
        <p:spPr>
          <a:xfrm>
            <a:off x="4663440" y="4102615"/>
            <a:ext cx="4206240" cy="493776"/>
          </a:xfrm>
          <a:prstGeom prst="rect">
            <a:avLst/>
          </a:prstGeom>
          <a:solidFill>
            <a:srgbClr val="FFFFFF"/>
          </a:solidFill>
          <a:ln w="12700">
            <a:solidFill>
              <a:srgbClr val="0D7377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6" name="Shape 54"/>
          <p:cNvSpPr/>
          <p:nvPr/>
        </p:nvSpPr>
        <p:spPr>
          <a:xfrm>
            <a:off x="4663440" y="4102615"/>
            <a:ext cx="109728" cy="493776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7" name="Text 55"/>
          <p:cNvSpPr/>
          <p:nvPr/>
        </p:nvSpPr>
        <p:spPr>
          <a:xfrm>
            <a:off x="4828032" y="4130047"/>
            <a:ext cx="400507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D7377"/>
                </a:solidFill>
              </a:rPr>
              <a:t>ALOS 3.83 → Cancer Center → 4.00 days → 2.3% readmit</a:t>
            </a:r>
            <a:endParaRPr lang="en-US" sz="900" dirty="0"/>
          </a:p>
        </p:txBody>
      </p:sp>
      <p:sp>
        <p:nvSpPr>
          <p:cNvPr id="58" name="Text 56"/>
          <p:cNvSpPr/>
          <p:nvPr/>
        </p:nvSpPr>
        <p:spPr>
          <a:xfrm>
            <a:off x="4828032" y="4376935"/>
            <a:ext cx="400507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334155"/>
                </a:solidFill>
              </a:rPr>
              <a:t>Oncology: longer stay BUT near-zero readmission — worth it</a:t>
            </a:r>
            <a:endParaRPr lang="en-US" sz="950" dirty="0"/>
          </a:p>
        </p:txBody>
      </p:sp>
      <p:sp>
        <p:nvSpPr>
          <p:cNvPr id="59" name="Shape 57"/>
          <p:cNvSpPr/>
          <p:nvPr/>
        </p:nvSpPr>
        <p:spPr>
          <a:xfrm>
            <a:off x="274320" y="4640420"/>
            <a:ext cx="8595360" cy="384048"/>
          </a:xfrm>
          <a:prstGeom prst="rect">
            <a:avLst/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0" name="Text 58"/>
          <p:cNvSpPr/>
          <p:nvPr/>
        </p:nvSpPr>
        <p:spPr>
          <a:xfrm>
            <a:off x="384048" y="46404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97706"/>
                </a:solidFill>
              </a:rPr>
              <a:t>📋  For Q4 analysis: 'Diabetes &amp; Metabolism has the highest ALOS at 4.48 days, driven by the 75+ age group and patients with Diabetes as their chronic condition. Recommend a diabetes-focused discharge planning protocol targeting this cohort.'</a:t>
            </a:r>
            <a:endParaRPr lang="en-US" sz="11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8862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74320" y="0"/>
            <a:ext cx="7406640" cy="3886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5 of 5 – Readmissions by Specialty (Treemap)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7406640" y="69090"/>
            <a:ext cx="1554480" cy="249827"/>
          </a:xfrm>
          <a:prstGeom prst="roundRect">
            <a:avLst>
              <a:gd name="adj" fmla="val 17778"/>
            </a:avLst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406640" y="69090"/>
            <a:ext cx="1554480" cy="24982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STAGE 8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274320" y="397599"/>
            <a:ext cx="8595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334155"/>
                </a:solidFill>
              </a:rPr>
              <a:t>The treemap shows relative readmission volume by specialty at a glance. Largest rectangle = most readmissions = most intervention needed.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74320" y="818223"/>
            <a:ext cx="8595360" cy="329184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47472" y="818223"/>
            <a:ext cx="8412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First: create a new DAX measure — Readmission Count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74320" y="1147407"/>
            <a:ext cx="8595360" cy="621792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11480" y="1147407"/>
            <a:ext cx="84124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Readmission Count = 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CALCULATE( COUNT(FactAdmissions[AdmissionID]), FactAdmissions[ReadmissionFlag] = 1 )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74320" y="1878927"/>
            <a:ext cx="4206240" cy="347472"/>
          </a:xfrm>
          <a:prstGeom prst="rect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274320" y="1878927"/>
            <a:ext cx="4206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Then Build the Treemap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74320" y="2262975"/>
            <a:ext cx="4206240" cy="292608"/>
          </a:xfrm>
          <a:prstGeom prst="rect">
            <a:avLst/>
          </a:prstGeom>
          <a:solidFill>
            <a:srgbClr val="F4F7FB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274320" y="2262975"/>
            <a:ext cx="3474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6D28D9"/>
                </a:solidFill>
              </a:rPr>
              <a:t>①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40080" y="2262975"/>
            <a:ext cx="380390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</a:rPr>
              <a:t>Click the Treemap icon (nested squares) in Visualizations pane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274320" y="2610447"/>
            <a:ext cx="4206240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274320" y="2610447"/>
            <a:ext cx="3474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6D28D9"/>
                </a:solidFill>
              </a:rPr>
              <a:t>②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40080" y="2610447"/>
            <a:ext cx="380390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</a:rPr>
              <a:t>Category: drag Specialty from DimDoctor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274320" y="2957919"/>
            <a:ext cx="4206240" cy="292608"/>
          </a:xfrm>
          <a:prstGeom prst="rect">
            <a:avLst/>
          </a:prstGeom>
          <a:solidFill>
            <a:srgbClr val="F4F7FB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274320" y="2957919"/>
            <a:ext cx="3474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6D28D9"/>
                </a:solidFill>
              </a:rPr>
              <a:t>③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40080" y="2957919"/>
            <a:ext cx="380390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</a:rPr>
              <a:t>Values: drag [Readmission Count] measure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274320" y="3305391"/>
            <a:ext cx="4206240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274320" y="3305391"/>
            <a:ext cx="3474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6D28D9"/>
                </a:solidFill>
              </a:rPr>
              <a:t>④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40080" y="3305391"/>
            <a:ext cx="380390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</a:rPr>
              <a:t>Enable Data labels to show count inside each rectangle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274320" y="3652863"/>
            <a:ext cx="4206240" cy="292608"/>
          </a:xfrm>
          <a:prstGeom prst="rect">
            <a:avLst/>
          </a:prstGeom>
          <a:solidFill>
            <a:srgbClr val="F4F7FB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274320" y="3652863"/>
            <a:ext cx="3474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6D28D9"/>
                </a:solidFill>
              </a:rPr>
              <a:t>⑤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40080" y="3652863"/>
            <a:ext cx="380390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</a:rPr>
              <a:t>Format → Data colors: manually set colors per specialty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274320" y="4000335"/>
            <a:ext cx="4206240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274320" y="4000335"/>
            <a:ext cx="3474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6D28D9"/>
                </a:solidFill>
              </a:rPr>
              <a:t>⑥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40080" y="4000335"/>
            <a:ext cx="380390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</a:rPr>
              <a:t>Sort: largest rectangles should be at top-left (automatic)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274320" y="4347807"/>
            <a:ext cx="4206240" cy="292608"/>
          </a:xfrm>
          <a:prstGeom prst="rect">
            <a:avLst/>
          </a:prstGeom>
          <a:solidFill>
            <a:srgbClr val="F4F7FB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274320" y="4347807"/>
            <a:ext cx="3474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6D28D9"/>
                </a:solidFill>
              </a:rPr>
              <a:t>⑦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640080" y="4347807"/>
            <a:ext cx="380390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</a:rPr>
              <a:t>Title: 'Readmissions by Medical Specialty'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4663440" y="1878927"/>
            <a:ext cx="4206240" cy="347472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4663440" y="1878927"/>
            <a:ext cx="4206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Actual Readmission Counts by Department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4663440" y="2281263"/>
            <a:ext cx="420624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Shape 35"/>
          <p:cNvSpPr/>
          <p:nvPr/>
        </p:nvSpPr>
        <p:spPr>
          <a:xfrm>
            <a:off x="4663440" y="2281263"/>
            <a:ext cx="109728" cy="329184"/>
          </a:xfrm>
          <a:prstGeom prst="rect">
            <a:avLst/>
          </a:prstGeom>
          <a:solidFill>
            <a:srgbClr val="991B1B"/>
          </a:solidFill>
          <a:ln w="12700">
            <a:solidFill>
              <a:srgbClr val="991B1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4828032" y="2299551"/>
            <a:ext cx="3977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991B1B"/>
                </a:solidFill>
              </a:rPr>
              <a:t>Cardiac Care  (12 readmissions · 18.5% rate)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4828032" y="2464143"/>
            <a:ext cx="3977640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65 total admissions — largest rectangle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4663440" y="2665311"/>
            <a:ext cx="420624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Shape 39"/>
          <p:cNvSpPr/>
          <p:nvPr/>
        </p:nvSpPr>
        <p:spPr>
          <a:xfrm>
            <a:off x="4663440" y="2665311"/>
            <a:ext cx="109728" cy="329184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4828032" y="2683599"/>
            <a:ext cx="3977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2410C"/>
                </a:solidFill>
              </a:rPr>
              <a:t>Diabetes &amp; Metabolism  (10 readmissions · 16.4% rate)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4828032" y="2848191"/>
            <a:ext cx="3977640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61 admissions — endocrinology focus needed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4663440" y="3049359"/>
            <a:ext cx="420624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Shape 43"/>
          <p:cNvSpPr/>
          <p:nvPr/>
        </p:nvSpPr>
        <p:spPr>
          <a:xfrm>
            <a:off x="4663440" y="3049359"/>
            <a:ext cx="109728" cy="329184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/>
          <p:nvPr/>
        </p:nvSpPr>
        <p:spPr>
          <a:xfrm>
            <a:off x="4828032" y="3067647"/>
            <a:ext cx="3977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D97706"/>
                </a:solidFill>
              </a:rPr>
              <a:t>Surgery  (5 readmissions · 20.8% rate)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4828032" y="3232239"/>
            <a:ext cx="3977640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Only 24 admissions but highest rate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4663440" y="3433407"/>
            <a:ext cx="420624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Shape 47"/>
          <p:cNvSpPr/>
          <p:nvPr/>
        </p:nvSpPr>
        <p:spPr>
          <a:xfrm>
            <a:off x="4663440" y="3433407"/>
            <a:ext cx="109728" cy="329184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Text 48"/>
          <p:cNvSpPr/>
          <p:nvPr/>
        </p:nvSpPr>
        <p:spPr>
          <a:xfrm>
            <a:off x="4828032" y="3451695"/>
            <a:ext cx="3977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D4ED8"/>
                </a:solidFill>
              </a:rPr>
              <a:t>Kidney Care  (6 readmissions · 12.8% rate)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4828032" y="3616287"/>
            <a:ext cx="3977640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47 admissions — CKD patients high risk</a:t>
            </a:r>
            <a:endParaRPr lang="en-US" sz="950" dirty="0"/>
          </a:p>
        </p:txBody>
      </p:sp>
      <p:sp>
        <p:nvSpPr>
          <p:cNvPr id="52" name="Shape 50"/>
          <p:cNvSpPr/>
          <p:nvPr/>
        </p:nvSpPr>
        <p:spPr>
          <a:xfrm>
            <a:off x="4663440" y="3817455"/>
            <a:ext cx="420624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Shape 51"/>
          <p:cNvSpPr/>
          <p:nvPr/>
        </p:nvSpPr>
        <p:spPr>
          <a:xfrm>
            <a:off x="4663440" y="3817455"/>
            <a:ext cx="109728" cy="329184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" name="Text 52"/>
          <p:cNvSpPr/>
          <p:nvPr/>
        </p:nvSpPr>
        <p:spPr>
          <a:xfrm>
            <a:off x="4828032" y="3835743"/>
            <a:ext cx="3977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7377"/>
                </a:solidFill>
              </a:rPr>
              <a:t>Respiratory Care  (9 readmissions · 8.4% rate)</a:t>
            </a:r>
            <a:endParaRPr lang="en-US" sz="1000" dirty="0"/>
          </a:p>
        </p:txBody>
      </p:sp>
      <p:sp>
        <p:nvSpPr>
          <p:cNvPr id="55" name="Text 53"/>
          <p:cNvSpPr/>
          <p:nvPr/>
        </p:nvSpPr>
        <p:spPr>
          <a:xfrm>
            <a:off x="4828032" y="4000335"/>
            <a:ext cx="3977640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107 admissions — large volume, lower rate</a:t>
            </a:r>
            <a:endParaRPr lang="en-US" sz="950" dirty="0"/>
          </a:p>
        </p:txBody>
      </p:sp>
      <p:sp>
        <p:nvSpPr>
          <p:cNvPr id="56" name="Shape 54"/>
          <p:cNvSpPr/>
          <p:nvPr/>
        </p:nvSpPr>
        <p:spPr>
          <a:xfrm>
            <a:off x="4663440" y="4201503"/>
            <a:ext cx="420624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7" name="Shape 55"/>
          <p:cNvSpPr/>
          <p:nvPr/>
        </p:nvSpPr>
        <p:spPr>
          <a:xfrm>
            <a:off x="4663440" y="4201503"/>
            <a:ext cx="109728" cy="329184"/>
          </a:xfrm>
          <a:prstGeom prst="rect">
            <a:avLst/>
          </a:prstGeom>
          <a:solidFill>
            <a:srgbClr val="166534"/>
          </a:solidFill>
          <a:ln w="12700">
            <a:solidFill>
              <a:srgbClr val="16653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8" name="Text 56"/>
          <p:cNvSpPr/>
          <p:nvPr/>
        </p:nvSpPr>
        <p:spPr>
          <a:xfrm>
            <a:off x="4828032" y="4219791"/>
            <a:ext cx="3977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66534"/>
                </a:solidFill>
              </a:rPr>
              <a:t>Cancer Center  (1 readmissions · 2.3% rate)</a:t>
            </a:r>
            <a:endParaRPr lang="en-US" sz="1000" dirty="0"/>
          </a:p>
        </p:txBody>
      </p:sp>
      <p:sp>
        <p:nvSpPr>
          <p:cNvPr id="59" name="Text 57"/>
          <p:cNvSpPr/>
          <p:nvPr/>
        </p:nvSpPr>
        <p:spPr>
          <a:xfrm>
            <a:off x="4828032" y="4384383"/>
            <a:ext cx="3977640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✅ Best — 44 admissions, only 1 readmission</a:t>
            </a:r>
            <a:endParaRPr lang="en-US" sz="950" dirty="0"/>
          </a:p>
        </p:txBody>
      </p:sp>
      <p:sp>
        <p:nvSpPr>
          <p:cNvPr id="60" name="Shape 58"/>
          <p:cNvSpPr/>
          <p:nvPr/>
        </p:nvSpPr>
        <p:spPr>
          <a:xfrm>
            <a:off x="274320" y="4667507"/>
            <a:ext cx="8595360" cy="384048"/>
          </a:xfrm>
          <a:prstGeom prst="rect">
            <a:avLst/>
          </a:prstGeom>
          <a:solidFill>
            <a:srgbClr val="FEE2E2"/>
          </a:solidFill>
          <a:ln w="12700">
            <a:solidFill>
              <a:srgbClr val="991B1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1" name="Text 59"/>
          <p:cNvSpPr/>
          <p:nvPr/>
        </p:nvSpPr>
        <p:spPr>
          <a:xfrm>
            <a:off x="384048" y="4667507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991B1B"/>
                </a:solidFill>
              </a:rPr>
              <a:t>🔑  Cardiac Care generates the most readmissions (12) in absolute terms. Surgery has the highest RATE (20.8%). The treemap instantly surfaces both — without needing to read a table.</a:t>
            </a:r>
            <a:endParaRPr lang="en-US" sz="11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0D737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" cy="514350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0" y="1097280"/>
            <a:ext cx="91440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200" dirty="0">
                <a:solidFill>
                  <a:srgbClr val="000000"/>
                </a:solidFill>
              </a:rPr>
              <a:t>🎛️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457200" y="2176272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9: Final Dashboard Assembly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457200" y="31546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14BDBD"/>
                </a:solidFill>
              </a:rPr>
              <a:t>Layout · Slicers · Formatting · HIPAA Compliance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474720" y="3886200"/>
            <a:ext cx="2194560" cy="365760"/>
          </a:xfrm>
          <a:prstGeom prst="roundRect">
            <a:avLst>
              <a:gd name="adj" fmla="val 25000"/>
            </a:avLst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474720" y="388620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STEP-BY-STEP GUIDE</a:t>
            </a:r>
            <a:endParaRPr lang="en-US" sz="9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2672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74320" y="0"/>
            <a:ext cx="7406640" cy="426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Dashboard Layout – 3-Row Architecture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7406640" y="109728"/>
            <a:ext cx="1554480" cy="274320"/>
          </a:xfrm>
          <a:prstGeom prst="roundRect">
            <a:avLst>
              <a:gd name="adj" fmla="val 17778"/>
            </a:avLst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406640" y="109728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STAGE 9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274320" y="411145"/>
            <a:ext cx="8595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334155"/>
                </a:solidFill>
              </a:rPr>
              <a:t>Layout is information architecture. CMOs read top-to-bottom: headline → trend → root cause. Build in that order.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74320" y="716628"/>
            <a:ext cx="8595360" cy="329184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47472" y="716628"/>
            <a:ext cx="8412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TOP ROW: 4 KPI Cards (equal width across full page)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74320" y="1093223"/>
            <a:ext cx="2057400" cy="566928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274320" y="1093223"/>
            <a:ext cx="20574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500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Admissions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423160" y="1093223"/>
            <a:ext cx="2057400" cy="566928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2423160" y="1093223"/>
            <a:ext cx="20574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3.83 days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ALOS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0" y="1093223"/>
            <a:ext cx="2057400" cy="566928"/>
          </a:xfrm>
          <a:prstGeom prst="rect">
            <a:avLst/>
          </a:prstGeom>
          <a:solidFill>
            <a:srgbClr val="166534"/>
          </a:solidFill>
          <a:ln w="12700">
            <a:solidFill>
              <a:srgbClr val="166534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572000" y="1093223"/>
            <a:ext cx="20574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11.6%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Readmission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720840" y="1093223"/>
            <a:ext cx="2057400" cy="56692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720840" y="1093223"/>
            <a:ext cx="20574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$12,728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Avg Cost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274320" y="1722468"/>
            <a:ext cx="8595360" cy="329184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347472" y="1722468"/>
            <a:ext cx="8412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MIDDLE ROW: Trend Line (left 55%) + Readmission by Dept Bar Chart (right 45%)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274320" y="2051652"/>
            <a:ext cx="4846320" cy="822960"/>
          </a:xfrm>
          <a:prstGeom prst="rect">
            <a:avLst/>
          </a:prstGeom>
          <a:solidFill>
            <a:srgbClr val="E8F4FD"/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274320" y="2051652"/>
            <a:ext cx="4846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D7377"/>
                </a:solidFill>
              </a:rPr>
              <a:t>📈  Monthly Admissions Trend Line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0D7377"/>
                </a:solidFill>
              </a:rPr>
              <a:t>(Jan–Nov 2024 · Total Admissions measure)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285232" y="2051652"/>
            <a:ext cx="3584448" cy="822960"/>
          </a:xfrm>
          <a:prstGeom prst="rect">
            <a:avLst/>
          </a:prstGeom>
          <a:solidFill>
            <a:srgbClr val="FEE2E2"/>
          </a:solidFill>
          <a:ln w="12700">
            <a:solidFill>
              <a:srgbClr val="991B1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5285232" y="2051652"/>
            <a:ext cx="3584448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91B1B"/>
                </a:solidFill>
              </a:rPr>
              <a:t>📋  Readmission Rate by Department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991B1B"/>
                </a:solidFill>
              </a:rPr>
              <a:t>(Bar chart · 21.9% benchmark line)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74320" y="2903063"/>
            <a:ext cx="8595360" cy="329184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347472" y="2903063"/>
            <a:ext cx="8412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BOTTOM ROW: Heatmap (33%) + Decomposition Tree (34%) + Treemap (33%)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274320" y="3313524"/>
            <a:ext cx="2743200" cy="804672"/>
          </a:xfrm>
          <a:prstGeom prst="rect">
            <a:avLst/>
          </a:prstGeom>
          <a:solidFill>
            <a:srgbClr val="EFF2F7"/>
          </a:solidFill>
          <a:ln w="12700">
            <a:solidFill>
              <a:srgbClr val="C2410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274320" y="3313524"/>
            <a:ext cx="274320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2410C"/>
                </a:solidFill>
              </a:rPr>
              <a:t>🔥  Peak Admission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C2410C"/>
                </a:solidFill>
              </a:rPr>
              <a:t>Times Heatmap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154680" y="3313524"/>
            <a:ext cx="2743200" cy="804672"/>
          </a:xfrm>
          <a:prstGeom prst="rect">
            <a:avLst/>
          </a:prstGeom>
          <a:solidFill>
            <a:srgbClr val="EDF4FB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3154680" y="3313524"/>
            <a:ext cx="274320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D4ED8"/>
                </a:solidFill>
              </a:rPr>
              <a:t>🌳  LOS Root Cause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1D4ED8"/>
                </a:solidFill>
              </a:rPr>
              <a:t>Decomposition Tree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035040" y="3313524"/>
            <a:ext cx="2743200" cy="804672"/>
          </a:xfrm>
          <a:prstGeom prst="rect">
            <a:avLst/>
          </a:prstGeom>
          <a:solidFill>
            <a:srgbClr val="F5F3FF"/>
          </a:solidFill>
          <a:ln w="12700">
            <a:solidFill>
              <a:srgbClr val="6D28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6035040" y="3313524"/>
            <a:ext cx="274320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D28D9"/>
                </a:solidFill>
              </a:rPr>
              <a:t>🗺️  Readmissions by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6D28D9"/>
                </a:solidFill>
              </a:rPr>
              <a:t>Specialty Treemap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274320" y="4209636"/>
            <a:ext cx="8595360" cy="329184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347472" y="4209636"/>
            <a:ext cx="8412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SLICER PANEL (right edge or top): Facility · Date Range · Admission Type · Department · Insurance Provider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274320" y="4611972"/>
            <a:ext cx="8595360" cy="384048"/>
          </a:xfrm>
          <a:prstGeom prst="rect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384048" y="4611972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D4ED8"/>
                </a:solidFill>
              </a:rPr>
              <a:t>💡  Use View → Lock objects after positioning all visuals. This prevents accidental dragging during presentations.</a:t>
            </a:r>
            <a:endParaRPr lang="en-US" sz="11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74320" y="0"/>
            <a:ext cx="7406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Adding Slicers – 5 Interactive Filters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7406640" y="109728"/>
            <a:ext cx="1554480" cy="235131"/>
          </a:xfrm>
          <a:prstGeom prst="roundRect">
            <a:avLst>
              <a:gd name="adj" fmla="val 17778"/>
            </a:avLst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406640" y="109728"/>
            <a:ext cx="1554480" cy="23513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STAGE 9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274320" y="356955"/>
            <a:ext cx="8595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334155"/>
                </a:solidFill>
              </a:rPr>
              <a:t>Slicers transform a static report into an exploration tool. The CMO can filter to their department, facility, or time period.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74320" y="777579"/>
            <a:ext cx="8595360" cy="67665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274320" y="777579"/>
            <a:ext cx="109728" cy="676656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57200" y="814155"/>
            <a:ext cx="8046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3A6B"/>
                </a:solidFill>
              </a:rPr>
              <a:t>Date Range Slicer  ·  Field: Date from DimDate  ·  Style: Between (slider)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" y="1106763"/>
            <a:ext cx="4114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</a:rPr>
              <a:t>Why: Filter all visuals to a specific time period. The most-used slicer — enable 'Select All' to reset.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663440" y="1106763"/>
            <a:ext cx="41605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</a:rPr>
              <a:t>Build: ① Add Slicer. ② Drag Date from DimDate. ③ Format → Slicer settings → Style: Between. ④ A date range slider appears.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74320" y="1545675"/>
            <a:ext cx="8595360" cy="67665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274320" y="1545675"/>
            <a:ext cx="109728" cy="676656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57200" y="1582251"/>
            <a:ext cx="8046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7377"/>
                </a:solidFill>
              </a:rPr>
              <a:t>Facility Slicer  ·  Field: FacilityID from FactAdmissions  ·  Style: Dropdown or Tile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57200" y="1874859"/>
            <a:ext cx="4114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</a:rPr>
              <a:t>Why: Compare Downtown Campus vs North Medical. North Medical (15% readmit) vs Downtown (8.1%) — visible in seconds.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663440" y="1874859"/>
            <a:ext cx="41605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</a:rPr>
              <a:t>Build: ① Slicer visual. ② Drag FacilityID. ③ Style: Tile (button-style for 4 facilities). Each button is clickable.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74320" y="2313771"/>
            <a:ext cx="8595360" cy="67665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274320" y="2313771"/>
            <a:ext cx="109728" cy="676656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57200" y="2350347"/>
            <a:ext cx="8046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D4ED8"/>
                </a:solidFill>
              </a:rPr>
              <a:t>Admission Type Slicer  ·  Field: AdmissionType from FactAdmissions  ·  Style: Checkbox list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57200" y="2642955"/>
            <a:ext cx="4114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</a:rPr>
              <a:t>Why: Filter to Emergency admissions only — to see if emergency patients drive readmission differently from Elective.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663440" y="2642955"/>
            <a:ext cx="41605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</a:rPr>
              <a:t>Build: ① Slicer. ② Drag AdmissionType. ③ Style: List with multi-select. 4 values: Emergency, Elective, Urgent, Transfer.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274320" y="3081867"/>
            <a:ext cx="8595360" cy="67665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274320" y="3081867"/>
            <a:ext cx="109728" cy="676656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457200" y="3118443"/>
            <a:ext cx="8046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97706"/>
                </a:solidFill>
              </a:rPr>
              <a:t>Department Slicer  ·  Field: Department from DimDoctor  ·  Style: Dropdown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57200" y="3411051"/>
            <a:ext cx="4114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</a:rPr>
              <a:t>Why: Drill into one department's metrics — ALOS, readmit rate, cost. Cardiac Care CMO meeting: filter to Cardiac Care only.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663440" y="3411051"/>
            <a:ext cx="41605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</a:rPr>
              <a:t>Build: ① Slicer. ② Drag Department from DimDoctor. ③ Style: Dropdown (10 departments). Single select for focused analysis.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274320" y="3849963"/>
            <a:ext cx="8595360" cy="67665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274320" y="3849963"/>
            <a:ext cx="109728" cy="676656"/>
          </a:xfrm>
          <a:prstGeom prst="rect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457200" y="3886539"/>
            <a:ext cx="8046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D28D9"/>
                </a:solidFill>
              </a:rPr>
              <a:t>Insurance Provider Slicer  ·  Field: InsuranceProvider from DimPatient  ·  Style: Checkbox list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57200" y="4179147"/>
            <a:ext cx="4114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</a:rPr>
              <a:t>Why: Medicare patients have 14.0% readmit rate vs Kaiser's 3.4% — dramatically different by payer. Critical for value-based care analysis.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4663440" y="4179147"/>
            <a:ext cx="41605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</a:rPr>
              <a:t>Build: ① Slicer. ② Drag InsuranceProvider from DimPatient. ③ Style: List. 9 insurance types. Multi-select enabled.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274320" y="4672923"/>
            <a:ext cx="8595360" cy="384048"/>
          </a:xfrm>
          <a:prstGeom prst="rect">
            <a:avLst/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384048" y="4672923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97706"/>
                </a:solidFill>
              </a:rPr>
              <a:t>💡  After adding slicers, test each one: select a value and confirm all 5 visuals + 4 KPI cards update simultaneously. If a visual does not respond, use Format → Edit Interactions to enable filtering.</a:t>
            </a:r>
            <a:endParaRPr lang="en-US" sz="11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74320" y="0"/>
            <a:ext cx="7406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HIPAA Compliance — What to Hide Before Sharing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7406640" y="109728"/>
            <a:ext cx="1554480" cy="411480"/>
          </a:xfrm>
          <a:prstGeom prst="roundRect">
            <a:avLst>
              <a:gd name="adj" fmla="val 17778"/>
            </a:avLst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406640" y="109728"/>
            <a:ext cx="1554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STAGE 9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274320" y="749808"/>
            <a:ext cx="8595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334155"/>
                </a:solidFill>
              </a:rPr>
              <a:t>In healthcare analytics, data privacy is a legal requirement, not an option. These steps simulate HIPAA compliance in a class setting.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74320" y="1170432"/>
            <a:ext cx="8595360" cy="420624"/>
          </a:xfrm>
          <a:prstGeom prst="rect">
            <a:avLst/>
          </a:prstGeom>
          <a:solidFill>
            <a:srgbClr val="FEE2E2"/>
          </a:solidFill>
          <a:ln w="12700">
            <a:solidFill>
              <a:srgbClr val="991B1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274320" y="1170432"/>
            <a:ext cx="4572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</a:rPr>
              <a:t>🚫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04672" y="1197864"/>
            <a:ext cx="1645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991B1B"/>
                </a:solidFill>
              </a:rPr>
              <a:t>Hide PatientID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04672" y="1389888"/>
            <a:ext cx="7955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</a:rPr>
              <a:t>Right-click PatientID in the Fields pane → Hide in report view. PatientID must NEVER appear in any visual — it is a direct patient identifier.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74320" y="1664208"/>
            <a:ext cx="8595360" cy="420624"/>
          </a:xfrm>
          <a:prstGeom prst="rect">
            <a:avLst/>
          </a:prstGeom>
          <a:solidFill>
            <a:srgbClr val="FEE2E2"/>
          </a:solidFill>
          <a:ln w="12700">
            <a:solidFill>
              <a:srgbClr val="991B1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274320" y="1664208"/>
            <a:ext cx="4572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</a:rPr>
              <a:t>🚫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04672" y="1691640"/>
            <a:ext cx="1645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991B1B"/>
                </a:solidFill>
              </a:rPr>
              <a:t>Hide Patient Name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804672" y="1883664"/>
            <a:ext cx="7955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</a:rPr>
              <a:t>Right-click Name in DimPatient → Hide in report view. Patient names are PHI (Protected Health Information) under HIPAA.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74320" y="2157984"/>
            <a:ext cx="8595360" cy="420624"/>
          </a:xfrm>
          <a:prstGeom prst="rect">
            <a:avLst/>
          </a:prstGeom>
          <a:solidFill>
            <a:srgbClr val="FEE2E2"/>
          </a:solidFill>
          <a:ln w="12700">
            <a:solidFill>
              <a:srgbClr val="991B1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274320" y="2157984"/>
            <a:ext cx="4572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</a:rPr>
              <a:t>🚫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04672" y="2185416"/>
            <a:ext cx="1645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991B1B"/>
                </a:solidFill>
              </a:rPr>
              <a:t>No Individual Records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804672" y="2377440"/>
            <a:ext cx="7955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</a:rPr>
              <a:t>Never create a Table visual that shows individual admission rows. All visuals must show aggregates (averages, counts, rates).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274320" y="2651760"/>
            <a:ext cx="8595360" cy="420624"/>
          </a:xfrm>
          <a:prstGeom prst="rect">
            <a:avLst/>
          </a:prstGeom>
          <a:solidFill>
            <a:srgbClr val="DCFCE7"/>
          </a:solidFill>
          <a:ln w="12700">
            <a:solidFill>
              <a:srgbClr val="16653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274320" y="2651760"/>
            <a:ext cx="4572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</a:rPr>
              <a:t>✅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04672" y="2679192"/>
            <a:ext cx="1645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66534"/>
                </a:solidFill>
              </a:rPr>
              <a:t>Use Aggregate Data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804672" y="2871216"/>
            <a:ext cx="7955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</a:rPr>
              <a:t>All your visuals already aggregate correctly: COUNT, AVERAGE, DIVIDE. These are safe to share.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274320" y="3145536"/>
            <a:ext cx="8595360" cy="420624"/>
          </a:xfrm>
          <a:prstGeom prst="rect">
            <a:avLst/>
          </a:prstGeom>
          <a:solidFill>
            <a:srgbClr val="DCFCE7"/>
          </a:solidFill>
          <a:ln w="12700">
            <a:solidFill>
              <a:srgbClr val="16653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274320" y="3145536"/>
            <a:ext cx="4572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</a:rPr>
              <a:t>✅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804672" y="3172968"/>
            <a:ext cx="1645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66534"/>
                </a:solidFill>
              </a:rPr>
              <a:t>Row-Level Security (Production)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804672" y="3364992"/>
            <a:ext cx="7955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</a:rPr>
              <a:t>In a real deployment via Power BI Service, configure RLS so Dr. Johnson sees only her own patients' data, not the full hospital.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274320" y="3639312"/>
            <a:ext cx="8595360" cy="420624"/>
          </a:xfrm>
          <a:prstGeom prst="rect">
            <a:avLst/>
          </a:prstGeom>
          <a:solidFill>
            <a:srgbClr val="DCFCE7"/>
          </a:solidFill>
          <a:ln w="12700">
            <a:solidFill>
              <a:srgbClr val="16653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274320" y="3639312"/>
            <a:ext cx="4572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</a:rPr>
              <a:t>✅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804672" y="3666744"/>
            <a:ext cx="1645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66534"/>
                </a:solidFill>
              </a:rPr>
              <a:t>Sensitivity Labels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804672" y="3858768"/>
            <a:ext cx="7955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</a:rPr>
              <a:t>In Power BI Service, mark the dataset as 'Confidential' using Microsoft Information Protection labels.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274320" y="4133088"/>
            <a:ext cx="8595360" cy="420624"/>
          </a:xfrm>
          <a:prstGeom prst="rect">
            <a:avLst/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274320" y="4133088"/>
            <a:ext cx="4572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</a:rPr>
              <a:t>⚠️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804672" y="4160520"/>
            <a:ext cx="1645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97706"/>
                </a:solidFill>
              </a:rPr>
              <a:t>WasReadmission Column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804672" y="4352544"/>
            <a:ext cx="7955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</a:rPr>
              <a:t>The WasReadmission column (0/1) is acceptable in aggregate analysis. Do not display it at the individual row level.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274320" y="4626864"/>
            <a:ext cx="8595360" cy="420624"/>
          </a:xfrm>
          <a:prstGeom prst="rect">
            <a:avLst/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274320" y="4626864"/>
            <a:ext cx="4572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</a:rPr>
              <a:t>⚠️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804672" y="4654296"/>
            <a:ext cx="1645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97706"/>
                </a:solidFill>
              </a:rPr>
              <a:t>Diagnosis Field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804672" y="4846320"/>
            <a:ext cx="7955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</a:rPr>
              <a:t>Diagnosis names are acceptable in aggregate charts (e.g. count of Bronchitis admissions). Do not show individual patient-diagnosis pairs.</a:t>
            </a:r>
            <a:endParaRPr lang="en-US" sz="10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19947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74320" y="0"/>
            <a:ext cx="7406640" cy="41994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Data Summary – All Key Metrics for Verification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7406640" y="109728"/>
            <a:ext cx="1554480" cy="269966"/>
          </a:xfrm>
          <a:prstGeom prst="roundRect">
            <a:avLst>
              <a:gd name="adj" fmla="val 17778"/>
            </a:avLst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406640" y="109728"/>
            <a:ext cx="1554480" cy="26996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REFERENCE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274320" y="458562"/>
            <a:ext cx="8595360" cy="329184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47472" y="458562"/>
            <a:ext cx="8412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Use this table to verify your dashboard shows correct values for every slicer combination</a:t>
            </a:r>
            <a:endParaRPr lang="en-US" sz="1100" dirty="0"/>
          </a:p>
        </p:txBody>
      </p:sp>
      <p:graphicFrame>
        <p:nvGraphicFramePr>
          <p:cNvPr id="3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8684723"/>
              </p:ext>
            </p:extLst>
          </p:nvPr>
        </p:nvGraphicFramePr>
        <p:xfrm>
          <a:off x="274320" y="808739"/>
          <a:ext cx="8595360" cy="4160520"/>
        </p:xfrm>
        <a:graphic>
          <a:graphicData uri="http://schemas.openxmlformats.org/drawingml/2006/table">
            <a:tbl>
              <a:tblPr/>
              <a:tblGrid>
                <a:gridCol w="15087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78308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18723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</a:rPr>
                        <a:t>Dimension</a:t>
                      </a:r>
                      <a:endParaRPr lang="en-US" sz="7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</a:rPr>
                        <a:t>Value</a:t>
                      </a:r>
                      <a:endParaRPr lang="en-US" sz="7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</a:rPr>
                        <a:t>Admissions</a:t>
                      </a:r>
                      <a:endParaRPr lang="en-US" sz="7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</a:rPr>
                        <a:t>Avg LOS</a:t>
                      </a:r>
                      <a:endParaRPr lang="en-US" sz="7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</a:rPr>
                        <a:t>Readmit%</a:t>
                      </a:r>
                      <a:endParaRPr lang="en-US" sz="7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</a:rPr>
                        <a:t>Avg Cost</a:t>
                      </a:r>
                      <a:endParaRPr lang="en-US" sz="7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723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b="1" dirty="0">
                          <a:solidFill>
                            <a:srgbClr val="000000"/>
                          </a:solidFill>
                        </a:rPr>
                        <a:t>OVERALL</a:t>
                      </a:r>
                      <a:endParaRPr lang="en-US" sz="7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b="1" dirty="0">
                          <a:solidFill>
                            <a:srgbClr val="000000"/>
                          </a:solidFill>
                        </a:rPr>
                        <a:t>All</a:t>
                      </a:r>
                      <a:endParaRPr lang="en-US" sz="7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</a:rPr>
                        <a:t>500</a:t>
                      </a:r>
                      <a:endParaRPr lang="en-US" sz="7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</a:rPr>
                        <a:t>3.83 days</a:t>
                      </a:r>
                      <a:endParaRPr lang="en-US" sz="7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</a:rPr>
                        <a:t>11.6%</a:t>
                      </a:r>
                      <a:endParaRPr lang="en-US" sz="7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</a:rPr>
                        <a:t>$12,728</a:t>
                      </a:r>
                      <a:endParaRPr lang="en-US" sz="7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723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</a:rPr>
                        <a:t>Facility</a:t>
                      </a:r>
                      <a:endParaRPr lang="en-US" sz="7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</a:rPr>
                        <a:t>Downtown Campus</a:t>
                      </a:r>
                      <a:endParaRPr lang="en-US" sz="7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</a:rPr>
                        <a:t>124</a:t>
                      </a:r>
                      <a:endParaRPr lang="en-US" sz="7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</a:rPr>
                        <a:t>3.98</a:t>
                      </a:r>
                      <a:endParaRPr lang="en-US" sz="7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</a:rPr>
                        <a:t>8.1%</a:t>
                      </a:r>
                      <a:endParaRPr lang="en-US" sz="7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</a:rPr>
                        <a:t>$12,913</a:t>
                      </a:r>
                      <a:endParaRPr lang="en-US" sz="7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8723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</a:rPr>
                        <a:t>Facility</a:t>
                      </a:r>
                      <a:endParaRPr lang="en-US" sz="7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</a:rPr>
                        <a:t>East Wing</a:t>
                      </a:r>
                      <a:endParaRPr lang="en-US" sz="7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</a:rPr>
                        <a:t>124</a:t>
                      </a:r>
                      <a:endParaRPr lang="en-US" sz="7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</a:rPr>
                        <a:t>4.02</a:t>
                      </a:r>
                      <a:endParaRPr lang="en-US" sz="7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</a:rPr>
                        <a:t>9.7%</a:t>
                      </a:r>
                      <a:endParaRPr lang="en-US" sz="7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</a:rPr>
                        <a:t>$13,648</a:t>
                      </a:r>
                      <a:endParaRPr lang="en-US" sz="7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8723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</a:rPr>
                        <a:t>Facility</a:t>
                      </a:r>
                      <a:endParaRPr lang="en-US" sz="7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</a:rPr>
                        <a:t>North Medical</a:t>
                      </a:r>
                      <a:endParaRPr lang="en-US" sz="7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</a:rPr>
                        <a:t>133</a:t>
                      </a:r>
                      <a:endParaRPr lang="en-US" sz="7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</a:rPr>
                        <a:t>3.67</a:t>
                      </a:r>
                      <a:endParaRPr lang="en-US" sz="7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</a:rPr>
                        <a:t>15.0%</a:t>
                      </a:r>
                      <a:endParaRPr lang="en-US" sz="7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</a:rPr>
                        <a:t>$12,600</a:t>
                      </a:r>
                      <a:endParaRPr lang="en-US" sz="7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8723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</a:rPr>
                        <a:t>Facility</a:t>
                      </a:r>
                      <a:endParaRPr lang="en-US" sz="7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</a:rPr>
                        <a:t>West Community</a:t>
                      </a:r>
                      <a:endParaRPr lang="en-US" sz="7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</a:rPr>
                        <a:t>119</a:t>
                      </a:r>
                      <a:endParaRPr lang="en-US" sz="7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</a:rPr>
                        <a:t>3.64</a:t>
                      </a:r>
                      <a:endParaRPr lang="en-US" sz="7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</a:rPr>
                        <a:t>13.4%</a:t>
                      </a:r>
                      <a:endParaRPr lang="en-US" sz="7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</a:rPr>
                        <a:t>$11,719</a:t>
                      </a:r>
                      <a:endParaRPr lang="en-US" sz="7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8723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</a:rPr>
                        <a:t>Admission Type</a:t>
                      </a:r>
                      <a:endParaRPr lang="en-US" sz="7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</a:rPr>
                        <a:t>Emergency</a:t>
                      </a:r>
                      <a:endParaRPr lang="en-US" sz="7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</a:rPr>
                        <a:t>189</a:t>
                      </a:r>
                      <a:endParaRPr lang="en-US" sz="7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</a:rPr>
                        <a:t>3.80</a:t>
                      </a:r>
                      <a:endParaRPr lang="en-US" sz="7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</a:rPr>
                        <a:t>10.1%</a:t>
                      </a:r>
                      <a:endParaRPr lang="en-US" sz="7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</a:rPr>
                        <a:t>$13,581</a:t>
                      </a:r>
                      <a:endParaRPr lang="en-US" sz="7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8723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</a:rPr>
                        <a:t>Admission Type</a:t>
                      </a:r>
                      <a:endParaRPr lang="en-US" sz="7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</a:rPr>
                        <a:t>Elective</a:t>
                      </a:r>
                      <a:endParaRPr lang="en-US" sz="7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</a:rPr>
                        <a:t>153</a:t>
                      </a:r>
                      <a:endParaRPr lang="en-US" sz="7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</a:rPr>
                        <a:t>2.59</a:t>
                      </a:r>
                      <a:endParaRPr lang="en-US" sz="7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</a:rPr>
                        <a:t>15.0%</a:t>
                      </a:r>
                      <a:endParaRPr lang="en-US" sz="7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</a:rPr>
                        <a:t>$7,895</a:t>
                      </a:r>
                      <a:endParaRPr lang="en-US" sz="7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8723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</a:rPr>
                        <a:t>Admission Type</a:t>
                      </a:r>
                      <a:endParaRPr lang="en-US" sz="7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</a:rPr>
                        <a:t>Urgent</a:t>
                      </a:r>
                      <a:endParaRPr lang="en-US" sz="7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</a:rPr>
                        <a:t>118</a:t>
                      </a:r>
                      <a:endParaRPr lang="en-US" sz="7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</a:rPr>
                        <a:t>5.19</a:t>
                      </a:r>
                      <a:endParaRPr lang="en-US" sz="7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</a:rPr>
                        <a:t>8.5%</a:t>
                      </a:r>
                      <a:endParaRPr lang="en-US" sz="7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</a:rPr>
                        <a:t>$16,082</a:t>
                      </a:r>
                      <a:endParaRPr lang="en-US" sz="7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8723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</a:rPr>
                        <a:t>Admission Type</a:t>
                      </a:r>
                      <a:endParaRPr lang="en-US" sz="7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</a:rPr>
                        <a:t>Transfer</a:t>
                      </a:r>
                      <a:endParaRPr lang="en-US" sz="7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</a:rPr>
                        <a:t>40</a:t>
                      </a:r>
                      <a:endParaRPr lang="en-US" sz="7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</a:rPr>
                        <a:t>4.67</a:t>
                      </a:r>
                      <a:endParaRPr lang="en-US" sz="7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</a:rPr>
                        <a:t>15.0%</a:t>
                      </a:r>
                      <a:endParaRPr lang="en-US" sz="7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</a:rPr>
                        <a:t>$17,289</a:t>
                      </a:r>
                      <a:endParaRPr lang="en-US" sz="7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8723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</a:rPr>
                        <a:t>Department</a:t>
                      </a:r>
                      <a:endParaRPr lang="en-US" sz="7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</a:rPr>
                        <a:t>Cardiac Care</a:t>
                      </a:r>
                      <a:endParaRPr lang="en-US" sz="7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</a:rPr>
                        <a:t>65</a:t>
                      </a:r>
                      <a:endParaRPr lang="en-US" sz="7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</a:rPr>
                        <a:t>3.69</a:t>
                      </a:r>
                      <a:endParaRPr lang="en-US" sz="7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</a:rPr>
                        <a:t>18.5%</a:t>
                      </a:r>
                      <a:endParaRPr lang="en-US" sz="7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</a:rPr>
                        <a:t>$14,312</a:t>
                      </a:r>
                      <a:endParaRPr lang="en-US" sz="7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8723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</a:rPr>
                        <a:t>Department</a:t>
                      </a:r>
                      <a:endParaRPr lang="en-US" sz="7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</a:rPr>
                        <a:t>Resp Care</a:t>
                      </a:r>
                      <a:endParaRPr lang="en-US" sz="7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</a:rPr>
                        <a:t>107</a:t>
                      </a:r>
                      <a:endParaRPr lang="en-US" sz="7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</a:rPr>
                        <a:t>3.51</a:t>
                      </a:r>
                      <a:endParaRPr lang="en-US" sz="7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</a:rPr>
                        <a:t>8.4%</a:t>
                      </a:r>
                      <a:endParaRPr lang="en-US" sz="7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</a:rPr>
                        <a:t>$11,843</a:t>
                      </a:r>
                      <a:endParaRPr lang="en-US" sz="7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18723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</a:rPr>
                        <a:t>Department</a:t>
                      </a:r>
                      <a:endParaRPr lang="en-US" sz="7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</a:rPr>
                        <a:t>Diabetes &amp; Metab</a:t>
                      </a:r>
                      <a:endParaRPr lang="en-US" sz="7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</a:rPr>
                        <a:t>61</a:t>
                      </a:r>
                      <a:endParaRPr lang="en-US" sz="7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</a:rPr>
                        <a:t>4.48</a:t>
                      </a:r>
                      <a:endParaRPr lang="en-US" sz="7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</a:rPr>
                        <a:t>16.4%</a:t>
                      </a:r>
                      <a:endParaRPr lang="en-US" sz="7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</a:rPr>
                        <a:t>$14,048</a:t>
                      </a:r>
                      <a:endParaRPr lang="en-US" sz="7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18723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</a:rPr>
                        <a:t>Department</a:t>
                      </a:r>
                      <a:endParaRPr lang="en-US" sz="7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</a:rPr>
                        <a:t>Cancer Center</a:t>
                      </a:r>
                      <a:endParaRPr lang="en-US" sz="7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</a:rPr>
                        <a:t>44</a:t>
                      </a:r>
                      <a:endParaRPr lang="en-US" sz="7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</a:rPr>
                        <a:t>4.00</a:t>
                      </a:r>
                      <a:endParaRPr lang="en-US" sz="7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</a:rPr>
                        <a:t>2.3%</a:t>
                      </a:r>
                      <a:endParaRPr lang="en-US" sz="7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</a:rPr>
                        <a:t>$12,045</a:t>
                      </a:r>
                      <a:endParaRPr lang="en-US" sz="7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18723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</a:rPr>
                        <a:t>Age Group</a:t>
                      </a:r>
                      <a:endParaRPr lang="en-US" sz="7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</a:rPr>
                        <a:t>75+</a:t>
                      </a:r>
                      <a:endParaRPr lang="en-US" sz="7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</a:rPr>
                        <a:t>120</a:t>
                      </a:r>
                      <a:endParaRPr lang="en-US" sz="7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</a:rPr>
                        <a:t>4.47</a:t>
                      </a:r>
                      <a:endParaRPr lang="en-US" sz="7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</a:rPr>
                        <a:t>16.7%</a:t>
                      </a:r>
                      <a:endParaRPr lang="en-US" sz="7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</a:rPr>
                        <a:t>$16,202</a:t>
                      </a:r>
                      <a:endParaRPr lang="en-US" sz="7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18723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</a:rPr>
                        <a:t>Age Group</a:t>
                      </a:r>
                      <a:endParaRPr lang="en-US" sz="7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</a:rPr>
                        <a:t>18-34</a:t>
                      </a:r>
                      <a:endParaRPr lang="en-US" sz="7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</a:rPr>
                        <a:t>77</a:t>
                      </a:r>
                      <a:endParaRPr lang="en-US" sz="7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</a:rPr>
                        <a:t>3.95</a:t>
                      </a:r>
                      <a:endParaRPr lang="en-US" sz="7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</a:rPr>
                        <a:t>7.8%</a:t>
                      </a:r>
                      <a:endParaRPr lang="en-US" sz="7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</a:rPr>
                        <a:t>$12,660</a:t>
                      </a:r>
                      <a:endParaRPr lang="en-US" sz="7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18723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</a:rPr>
                        <a:t>Insurance</a:t>
                      </a:r>
                      <a:endParaRPr lang="en-US" sz="7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</a:rPr>
                        <a:t>Medicare</a:t>
                      </a:r>
                      <a:endParaRPr lang="en-US" sz="7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</a:rPr>
                        <a:t>164</a:t>
                      </a:r>
                      <a:endParaRPr lang="en-US" sz="7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</a:rPr>
                        <a:t>3.99</a:t>
                      </a:r>
                      <a:endParaRPr lang="en-US" sz="7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</a:rPr>
                        <a:t>14.0%</a:t>
                      </a:r>
                      <a:endParaRPr lang="en-US" sz="7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</a:rPr>
                        <a:t>$13,283</a:t>
                      </a:r>
                      <a:endParaRPr lang="en-US" sz="7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18723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</a:rPr>
                        <a:t>Insurance</a:t>
                      </a:r>
                      <a:endParaRPr lang="en-US" sz="7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</a:rPr>
                        <a:t>Kaiser</a:t>
                      </a:r>
                      <a:endParaRPr lang="en-US" sz="7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</a:rPr>
                        <a:t>29</a:t>
                      </a:r>
                      <a:endParaRPr lang="en-US" sz="7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</a:rPr>
                        <a:t>3.90</a:t>
                      </a:r>
                      <a:endParaRPr lang="en-US" sz="7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</a:rPr>
                        <a:t>3.4%</a:t>
                      </a:r>
                      <a:endParaRPr lang="en-US" sz="7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</a:rPr>
                        <a:t>$12,715</a:t>
                      </a:r>
                      <a:endParaRPr lang="en-US" sz="7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18723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</a:rPr>
                        <a:t>Condition</a:t>
                      </a:r>
                      <a:endParaRPr lang="en-US" sz="7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</a:rPr>
                        <a:t>CKD</a:t>
                      </a:r>
                      <a:endParaRPr lang="en-US" sz="7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</a:rPr>
                        <a:t>17</a:t>
                      </a:r>
                      <a:endParaRPr lang="en-US" sz="7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</a:rPr>
                        <a:t>4.12</a:t>
                      </a:r>
                      <a:endParaRPr lang="en-US" sz="7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</a:rPr>
                        <a:t>29.4%</a:t>
                      </a:r>
                      <a:endParaRPr lang="en-US" sz="7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</a:rPr>
                        <a:t>$16,704</a:t>
                      </a:r>
                      <a:endParaRPr lang="en-US" sz="7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18723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</a:rPr>
                        <a:t>Condition</a:t>
                      </a:r>
                      <a:endParaRPr lang="en-US" sz="7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</a:rPr>
                        <a:t>Heart Failure</a:t>
                      </a:r>
                      <a:endParaRPr lang="en-US" sz="7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</a:rPr>
                        <a:t>41</a:t>
                      </a:r>
                      <a:endParaRPr lang="en-US" sz="7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</a:rPr>
                        <a:t>3.95</a:t>
                      </a:r>
                      <a:endParaRPr lang="en-US" sz="7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</a:rPr>
                        <a:t>19.5%</a:t>
                      </a:r>
                      <a:endParaRPr lang="en-US" sz="7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</a:rPr>
                        <a:t>$16,968</a:t>
                      </a:r>
                      <a:endParaRPr lang="en-US" sz="7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  <a:tr h="18723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</a:rPr>
                        <a:t>Condition</a:t>
                      </a:r>
                      <a:endParaRPr lang="en-US" sz="7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</a:rPr>
                        <a:t>None</a:t>
                      </a:r>
                      <a:endParaRPr lang="en-US" sz="7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</a:rPr>
                        <a:t>157</a:t>
                      </a:r>
                      <a:endParaRPr lang="en-US" sz="7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</a:rPr>
                        <a:t>3.71</a:t>
                      </a:r>
                      <a:endParaRPr lang="en-US" sz="7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</a:rPr>
                        <a:t>5.7%</a:t>
                      </a:r>
                      <a:endParaRPr lang="en-US" sz="7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</a:rPr>
                        <a:t>$11,735</a:t>
                      </a:r>
                      <a:endParaRPr lang="en-US" sz="7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3434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74320" y="0"/>
            <a:ext cx="7406640" cy="4343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 Questions – Model Answers (Q6B &amp; Q8)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7406640" y="109728"/>
            <a:ext cx="1554480" cy="279219"/>
          </a:xfrm>
          <a:prstGeom prst="roundRect">
            <a:avLst>
              <a:gd name="adj" fmla="val 17778"/>
            </a:avLst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406640" y="109728"/>
            <a:ext cx="1554480" cy="279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REFERENCE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274320" y="465332"/>
            <a:ext cx="8595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334155"/>
                </a:solidFill>
              </a:rPr>
              <a:t>These data-backed answers are templates. Use exact numbers from your dashboard. Vague answers lose marks.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74320" y="885955"/>
            <a:ext cx="8595360" cy="732871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274320" y="885955"/>
            <a:ext cx="109728" cy="732871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57200" y="913388"/>
            <a:ext cx="8321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B3A6B"/>
                </a:solidFill>
              </a:rPr>
              <a:t>Q1: Are there periods where admissions consistently exceed discharges?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57200" y="1160276"/>
            <a:ext cx="8321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</a:rPr>
              <a:t>→ September (58) and October (57) are the two peak admission months, together representing 23% of annual volume. October's readmission rate spikes to 17.5% — near the national benchmark. If discharge volume does not match admission volume in these months, bed blocking is occurring. Recommend adding weekend discharge rounds in September–October.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74320" y="1544323"/>
            <a:ext cx="8595360" cy="732871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274320" y="1544323"/>
            <a:ext cx="109728" cy="732871"/>
          </a:xfrm>
          <a:prstGeom prst="rect">
            <a:avLst/>
          </a:prstGeom>
          <a:solidFill>
            <a:srgbClr val="991B1B"/>
          </a:solidFill>
          <a:ln w="12700">
            <a:solidFill>
              <a:srgbClr val="991B1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57200" y="1571756"/>
            <a:ext cx="8321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991B1B"/>
                </a:solidFill>
              </a:rPr>
              <a:t>Q2: Which departments exceed the 21.9% national readmission benchmark?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457200" y="1818644"/>
            <a:ext cx="8321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</a:rPr>
              <a:t>→ No department exceeds 21.9% — the hospital is performing below the benchmark overall. However, Surgery (20.8%) is the closest and should be monitored. Cardiac Care (18.5%) has the highest absolute readmission count (12 patients) and the highest average cost ($14,312). Both departments should be prioritized for discharge protocol review.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74320" y="2202691"/>
            <a:ext cx="8595360" cy="732871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274320" y="2202691"/>
            <a:ext cx="109728" cy="732871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57200" y="2230124"/>
            <a:ext cx="8321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C2410C"/>
                </a:solidFill>
              </a:rPr>
              <a:t>Q3: Which day of week / month shows peak admissions? How should staffing be adjusted?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457200" y="2477012"/>
            <a:ext cx="8321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</a:rPr>
              <a:t>→ September has the highest monthly volume (58 admissions). May has the highest readmission rate spike (20.5% — near the benchmark). Recommend full staffing in September–October, and a focused care coordinator deployment in May to address the readmission spike. April (29 admissions) is the lowest volume month — suitable for planned maintenance and staff training.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274320" y="2861059"/>
            <a:ext cx="8595360" cy="732871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274320" y="2861059"/>
            <a:ext cx="109728" cy="732871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57200" y="2888492"/>
            <a:ext cx="8321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D4ED8"/>
                </a:solidFill>
              </a:rPr>
              <a:t>Q4: Which department has the longest LOS? What patient profile drives it?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457200" y="3135380"/>
            <a:ext cx="8321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</a:rPr>
              <a:t>→ Diabetes &amp; Metabolism has the highest ALOS at 4.48 days. The decomposition tree reveals the highest-risk profile is: Diabetes &amp; Metabolism → Age 75+ → Medicare insurance → Diabetes as chronic condition. These patients have the longest stays because complex glycemic management in elderly patients requires extended monitoring and specialist coordination. Recommend a dedicated geriatric diabetes fast-track protocol.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274320" y="3519427"/>
            <a:ext cx="8595360" cy="732871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274320" y="3519427"/>
            <a:ext cx="109728" cy="732871"/>
          </a:xfrm>
          <a:prstGeom prst="rect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457200" y="3546860"/>
            <a:ext cx="8321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6D28D9"/>
                </a:solidFill>
              </a:rPr>
              <a:t>Q5: Which specialty accounts for the most readmissions?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457200" y="3793748"/>
            <a:ext cx="8321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</a:rPr>
              <a:t>→ Cardiac Care has the most readmissions in absolute terms (12 patients, 18.5% rate). Surgery has the highest rate (20.8%) but lower volume (5 readmissions from 24 admissions). Cancer Center is the strongest performer: 44 admissions with only 1 readmission (2.3%). Recommend Cardiac Care implement a 30-day post-discharge follow-up call program — evidence shows this reduces readmissions by 15–25%.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274320" y="4177795"/>
            <a:ext cx="8595360" cy="732871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274320" y="4177795"/>
            <a:ext cx="109728" cy="732871"/>
          </a:xfrm>
          <a:prstGeom prst="rect">
            <a:avLst/>
          </a:prstGeom>
          <a:solidFill>
            <a:srgbClr val="166534"/>
          </a:solidFill>
          <a:ln w="12700">
            <a:solidFill>
              <a:srgbClr val="16653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457200" y="4137498"/>
            <a:ext cx="8321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66534"/>
                </a:solidFill>
              </a:rPr>
              <a:t>Q6: What is the average cost? Is readmission above or below the 21.9% benchmark?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457200" y="4452116"/>
            <a:ext cx="8321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</a:rPr>
              <a:t>→ Average cost per admission is $12,728. At 11.6%, the hospital's overall readmission rate is 47% BELOW the national benchmark of 21.9% — an excellent quality indicator. The relationship between LOS and cost is positive: departments with the longest stays (Diabetes &amp; Metabolism 4.48d, Kidney Care 4.28d) also have the highest average costs ($14,048 and $14,390). Reducing ALOS by 0.5 days across 500 admissions would save approximately $600,000 annually based on average per-day cost.</a:t>
            </a:r>
            <a:endParaRPr lang="en-US" sz="10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13173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74320" y="0"/>
            <a:ext cx="7406640" cy="41317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Q8: Written Analysis – CMO Memo Template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7406640" y="109728"/>
            <a:ext cx="1554480" cy="265611"/>
          </a:xfrm>
          <a:prstGeom prst="roundRect">
            <a:avLst>
              <a:gd name="adj" fmla="val 17778"/>
            </a:avLst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406640" y="109728"/>
            <a:ext cx="1554480" cy="26561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REFERENCE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274320" y="411147"/>
            <a:ext cx="8595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334155"/>
                </a:solidFill>
              </a:rPr>
              <a:t>Question 8 is worth 10 points. A strong memo has: specific numbers, named departments, connected recommendations, and a measurable outcome.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74320" y="831771"/>
            <a:ext cx="8595360" cy="384048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47472" y="831771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MEMO  TO: Chief Medical Officer  ·  FROM: Data Analyst  ·  RE: Patient Flow &amp; Readmission Dashboard Findings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74320" y="1288970"/>
            <a:ext cx="8595360" cy="624411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274320" y="1288970"/>
            <a:ext cx="109728" cy="624411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57200" y="1316403"/>
            <a:ext cx="8321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34155"/>
                </a:solidFill>
              </a:rPr>
              <a:t>Executive Summary (2–3 sentences)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57200" y="1563291"/>
            <a:ext cx="8321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</a:rPr>
              <a:t>The hospital processed 500 admissions with a 3.83-day average length of stay and an 11.6% readmission rate — well below the 21.9% national benchmark. Total cost across all admissions was $6.36M, averaging $12,728 per admission. This dashboard identifies two clinical priority areas requiring CMO attention.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74320" y="1947338"/>
            <a:ext cx="8595360" cy="624411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274320" y="1947338"/>
            <a:ext cx="109728" cy="624411"/>
          </a:xfrm>
          <a:prstGeom prst="rect">
            <a:avLst/>
          </a:prstGeom>
          <a:solidFill>
            <a:srgbClr val="991B1B"/>
          </a:solidFill>
          <a:ln w="12700">
            <a:solidFill>
              <a:srgbClr val="991B1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57200" y="1974771"/>
            <a:ext cx="8321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991B1B"/>
                </a:solidFill>
              </a:rPr>
              <a:t>Finding 1 – Cardiac Care &amp; Surgery Readmission Risk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57200" y="2221659"/>
            <a:ext cx="8321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</a:rPr>
              <a:t>Cardiac Care generated the most readmissions in absolute terms: 12 patients (18.5% rate) at an average cost of $14,312 — the 2nd highest department cost. Surgery has the highest readmission rate (20.8%, approaching the 21.9% penalty threshold) from 24 admissions. Combined, these two departments account for 17 of 58 total readmissions (29%).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74320" y="2605706"/>
            <a:ext cx="8595360" cy="624411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274320" y="2605706"/>
            <a:ext cx="109728" cy="624411"/>
          </a:xfrm>
          <a:prstGeom prst="rect">
            <a:avLst/>
          </a:prstGeom>
          <a:solidFill>
            <a:srgbClr val="991B1B"/>
          </a:solidFill>
          <a:ln w="12700">
            <a:solidFill>
              <a:srgbClr val="991B1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57200" y="2633139"/>
            <a:ext cx="8321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991B1B"/>
                </a:solidFill>
              </a:rPr>
              <a:t>Recommendation 1 – 30-Day Follow-Up Protocol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57200" y="2880027"/>
            <a:ext cx="8321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</a:rPr>
              <a:t>Implement a structured 30-day post-discharge call program for all Cardiac Care and Surgery patients. Clinical evidence shows this reduces readmissions by 15–25%. Estimated impact: reducing cardiac readmissions from 18.5% to 14% would prevent approximately 3 readmissions, saving $42,000 in direct costs and avoiding potential Medicare penalty exposure.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274320" y="3264074"/>
            <a:ext cx="8595360" cy="624411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274320" y="3264074"/>
            <a:ext cx="109728" cy="624411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457200" y="3291507"/>
            <a:ext cx="8321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2410C"/>
                </a:solidFill>
              </a:rPr>
              <a:t>Finding 2 – LOS Driver: Diabetes &amp; Metabolism Department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57200" y="3538395"/>
            <a:ext cx="8321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</a:rPr>
              <a:t>Diabetes &amp; Metabolism has the longest average LOS at 4.48 days (vs. 3.83 hospital average) and a 16.4% readmission rate. The highest-risk patient profile is Age 75+ with Diabetes as their chronic condition and Medicare as their insurer. This cohort has both the longest stays and the highest costs.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274320" y="3922442"/>
            <a:ext cx="8595360" cy="624411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274320" y="3922442"/>
            <a:ext cx="109728" cy="624411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457200" y="3949875"/>
            <a:ext cx="8321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2410C"/>
                </a:solidFill>
              </a:rPr>
              <a:t>Recommendation 2 – Geriatric Diabetes Fast-Track Protocol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57200" y="4196763"/>
            <a:ext cx="8321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</a:rPr>
              <a:t>Establish a geriatric diabetes discharge planning protocol for patients aged 75+ with Diabetes chronic condition. Assign a dedicated care coordinator to this cohort. If LOS in this group is reduced by 0.5 days across 61 Diabetes &amp; Metabolism admissions, the annual saving is approximately $305,000 (based on $10,000/day average for this cohort).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274320" y="4627551"/>
            <a:ext cx="8595360" cy="384048"/>
          </a:xfrm>
          <a:prstGeom prst="rect">
            <a:avLst/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384048" y="4627551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97706"/>
                </a:solidFill>
              </a:rPr>
              <a:t>💡  High-scoring memos cite specific numbers, name specific departments, estimate financial impact, and connect every recommendation to a chart in the dashboard.</a:t>
            </a:r>
            <a:endParaRPr lang="en-US" sz="11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74320" y="0"/>
            <a:ext cx="7406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Troubleshooting Guide – 10 Common Problems &amp; Fixes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7406640" y="109728"/>
            <a:ext cx="1554480" cy="411480"/>
          </a:xfrm>
          <a:prstGeom prst="roundRect">
            <a:avLst>
              <a:gd name="adj" fmla="val 17778"/>
            </a:avLst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406640" y="109728"/>
            <a:ext cx="1554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REFERENCE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274320" y="749808"/>
            <a:ext cx="8595360" cy="3749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274320" y="749808"/>
            <a:ext cx="201168" cy="374904"/>
          </a:xfrm>
          <a:prstGeom prst="rect">
            <a:avLst/>
          </a:prstGeom>
          <a:solidFill>
            <a:srgbClr val="991B1B"/>
          </a:solidFill>
          <a:ln w="12700">
            <a:solidFill>
              <a:srgbClr val="991B1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274320" y="749808"/>
            <a:ext cx="201168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30352" y="749808"/>
            <a:ext cx="1737360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991B1B"/>
                </a:solidFill>
              </a:rPr>
              <a:t>Readmission Rate returns blank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331720" y="749808"/>
            <a:ext cx="2286000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64748B"/>
                </a:solidFill>
              </a:rPr>
              <a:t>Cause: ReadmissionFlag not numeric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663440" y="749808"/>
            <a:ext cx="4160520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</a:rPr>
              <a:t>Fix: Power Query → select ReadmissionFlag column → Data Type → Whole Number → Close &amp; Apply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274320" y="1188720"/>
            <a:ext cx="8595360" cy="374904"/>
          </a:xfrm>
          <a:prstGeom prst="rect">
            <a:avLst/>
          </a:prstGeom>
          <a:solidFill>
            <a:srgbClr val="F4F7FB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274320" y="1188720"/>
            <a:ext cx="201168" cy="374904"/>
          </a:xfrm>
          <a:prstGeom prst="rect">
            <a:avLst/>
          </a:prstGeom>
          <a:solidFill>
            <a:srgbClr val="991B1B"/>
          </a:solidFill>
          <a:ln w="12700">
            <a:solidFill>
              <a:srgbClr val="991B1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274320" y="1188720"/>
            <a:ext cx="201168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2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30352" y="1188720"/>
            <a:ext cx="1737360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991B1B"/>
                </a:solidFill>
              </a:rPr>
              <a:t>ALOS shows wrong value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2331720" y="1188720"/>
            <a:ext cx="2286000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64748B"/>
                </a:solidFill>
              </a:rPr>
              <a:t>Cause: LengthOfStay is Text type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4663440" y="1188720"/>
            <a:ext cx="4160520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</a:rPr>
              <a:t>Fix: Power Query → LengthOfStay → Data Type → Whole Number. Verify values like 3,4,7 appear without quotes.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274320" y="1627632"/>
            <a:ext cx="8595360" cy="3749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274320" y="1627632"/>
            <a:ext cx="201168" cy="374904"/>
          </a:xfrm>
          <a:prstGeom prst="rect">
            <a:avLst/>
          </a:prstGeom>
          <a:solidFill>
            <a:srgbClr val="991B1B"/>
          </a:solidFill>
          <a:ln w="12700">
            <a:solidFill>
              <a:srgbClr val="991B1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274320" y="1627632"/>
            <a:ext cx="201168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3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30352" y="1627632"/>
            <a:ext cx="1737360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991B1B"/>
                </a:solidFill>
              </a:rPr>
              <a:t>Card shows $0 for Avg Cost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2331720" y="1627632"/>
            <a:ext cx="2286000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64748B"/>
                </a:solidFill>
              </a:rPr>
              <a:t>Cause: Cost column has $ or comma characters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4663440" y="1627632"/>
            <a:ext cx="4160520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</a:rPr>
              <a:t>Fix: Power Query → Cost column → Transform → Replace Values → remove '$' and ',' → change type to Decimal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274320" y="2066544"/>
            <a:ext cx="8595360" cy="374904"/>
          </a:xfrm>
          <a:prstGeom prst="rect">
            <a:avLst/>
          </a:prstGeom>
          <a:solidFill>
            <a:srgbClr val="F4F7FB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274320" y="2066544"/>
            <a:ext cx="201168" cy="374904"/>
          </a:xfrm>
          <a:prstGeom prst="rect">
            <a:avLst/>
          </a:prstGeom>
          <a:solidFill>
            <a:srgbClr val="991B1B"/>
          </a:solidFill>
          <a:ln w="12700">
            <a:solidFill>
              <a:srgbClr val="991B1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274320" y="2066544"/>
            <a:ext cx="201168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4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30352" y="2066544"/>
            <a:ext cx="1737360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991B1B"/>
                </a:solidFill>
              </a:rPr>
              <a:t>Date slicer shows no months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2331720" y="2066544"/>
            <a:ext cx="2286000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64748B"/>
                </a:solidFill>
              </a:rPr>
              <a:t>Cause: DimDate.Date is stored as Text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4663440" y="2066544"/>
            <a:ext cx="4160520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</a:rPr>
              <a:t>Fix: Power Query → DimDate → Date column → Data Type → Date → Close &amp; Apply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274320" y="2505456"/>
            <a:ext cx="8595360" cy="3749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274320" y="2505456"/>
            <a:ext cx="201168" cy="374904"/>
          </a:xfrm>
          <a:prstGeom prst="rect">
            <a:avLst/>
          </a:prstGeom>
          <a:solidFill>
            <a:srgbClr val="991B1B"/>
          </a:solidFill>
          <a:ln w="12700">
            <a:solidFill>
              <a:srgbClr val="991B1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274320" y="2505456"/>
            <a:ext cx="201168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5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530352" y="2505456"/>
            <a:ext cx="1737360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991B1B"/>
                </a:solidFill>
              </a:rPr>
              <a:t>Department chart shows 'blank'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2331720" y="2505456"/>
            <a:ext cx="2286000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64748B"/>
                </a:solidFill>
              </a:rPr>
              <a:t>Cause: Admissions with DoctorIDs not in DimDoctor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4663440" y="2505456"/>
            <a:ext cx="4160520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</a:rPr>
              <a:t>Fix: Check FactAdmissions for DoctorIDs that do not exist in DimDoctor. Filter them out in Power Query.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274320" y="2944368"/>
            <a:ext cx="8595360" cy="374904"/>
          </a:xfrm>
          <a:prstGeom prst="rect">
            <a:avLst/>
          </a:prstGeom>
          <a:solidFill>
            <a:srgbClr val="F4F7FB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Shape 35"/>
          <p:cNvSpPr/>
          <p:nvPr/>
        </p:nvSpPr>
        <p:spPr>
          <a:xfrm>
            <a:off x="274320" y="2944368"/>
            <a:ext cx="201168" cy="374904"/>
          </a:xfrm>
          <a:prstGeom prst="rect">
            <a:avLst/>
          </a:prstGeom>
          <a:solidFill>
            <a:srgbClr val="991B1B"/>
          </a:solidFill>
          <a:ln w="12700">
            <a:solidFill>
              <a:srgbClr val="991B1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274320" y="2944368"/>
            <a:ext cx="201168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6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530352" y="2944368"/>
            <a:ext cx="1737360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991B1B"/>
                </a:solidFill>
              </a:rPr>
              <a:t>Slicer doesn't filter a visual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2331720" y="2944368"/>
            <a:ext cx="2286000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64748B"/>
                </a:solidFill>
              </a:rPr>
              <a:t>Cause: Edit Interactions not configured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4663440" y="2944368"/>
            <a:ext cx="4160520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</a:rPr>
              <a:t>Fix: Format menu → Edit Interactions → click slicer → find the visual with X icon → click Filter icon instead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274320" y="3383280"/>
            <a:ext cx="8595360" cy="3749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Shape 41"/>
          <p:cNvSpPr/>
          <p:nvPr/>
        </p:nvSpPr>
        <p:spPr>
          <a:xfrm>
            <a:off x="274320" y="3383280"/>
            <a:ext cx="201168" cy="374904"/>
          </a:xfrm>
          <a:prstGeom prst="rect">
            <a:avLst/>
          </a:prstGeom>
          <a:solidFill>
            <a:srgbClr val="991B1B"/>
          </a:solidFill>
          <a:ln w="12700">
            <a:solidFill>
              <a:srgbClr val="991B1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274320" y="3383280"/>
            <a:ext cx="201168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7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530352" y="3383280"/>
            <a:ext cx="1737360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991B1B"/>
                </a:solidFill>
              </a:rPr>
              <a:t>Many-to-Many relationship error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2331720" y="3383280"/>
            <a:ext cx="2286000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64748B"/>
                </a:solidFill>
              </a:rPr>
              <a:t>Cause: Duplicate PatientID in DimPatient</a:t>
            </a:r>
            <a:endParaRPr lang="en-US" sz="950" dirty="0"/>
          </a:p>
        </p:txBody>
      </p:sp>
      <p:sp>
        <p:nvSpPr>
          <p:cNvPr id="47" name="Text 45"/>
          <p:cNvSpPr/>
          <p:nvPr/>
        </p:nvSpPr>
        <p:spPr>
          <a:xfrm>
            <a:off x="4663440" y="3383280"/>
            <a:ext cx="4160520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</a:rPr>
              <a:t>Fix: Power Query → DimPatient → Home → Remove Duplicates on PatientID column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274320" y="3822192"/>
            <a:ext cx="8595360" cy="374904"/>
          </a:xfrm>
          <a:prstGeom prst="rect">
            <a:avLst/>
          </a:prstGeom>
          <a:solidFill>
            <a:srgbClr val="F4F7FB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Shape 47"/>
          <p:cNvSpPr/>
          <p:nvPr/>
        </p:nvSpPr>
        <p:spPr>
          <a:xfrm>
            <a:off x="274320" y="3822192"/>
            <a:ext cx="201168" cy="374904"/>
          </a:xfrm>
          <a:prstGeom prst="rect">
            <a:avLst/>
          </a:prstGeom>
          <a:solidFill>
            <a:srgbClr val="991B1B"/>
          </a:solidFill>
          <a:ln w="12700">
            <a:solidFill>
              <a:srgbClr val="991B1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Text 48"/>
          <p:cNvSpPr/>
          <p:nvPr/>
        </p:nvSpPr>
        <p:spPr>
          <a:xfrm>
            <a:off x="274320" y="3822192"/>
            <a:ext cx="201168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8</a:t>
            </a: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530352" y="3822192"/>
            <a:ext cx="1737360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991B1B"/>
                </a:solidFill>
              </a:rPr>
              <a:t>Age Group column not appearing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2331720" y="3822192"/>
            <a:ext cx="2286000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64748B"/>
                </a:solidFill>
              </a:rPr>
              <a:t>Cause: Column created in wrong table</a:t>
            </a:r>
            <a:endParaRPr lang="en-US" sz="950" dirty="0"/>
          </a:p>
        </p:txBody>
      </p:sp>
      <p:sp>
        <p:nvSpPr>
          <p:cNvPr id="53" name="Text 51"/>
          <p:cNvSpPr/>
          <p:nvPr/>
        </p:nvSpPr>
        <p:spPr>
          <a:xfrm>
            <a:off x="4663440" y="3822192"/>
            <a:ext cx="4160520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</a:rPr>
              <a:t>Fix: Ensure Age Group was created in DimPatient (not FactAdmissions). Check which table name appears in the formula bar.</a:t>
            </a:r>
            <a:endParaRPr lang="en-US" sz="950" dirty="0"/>
          </a:p>
        </p:txBody>
      </p:sp>
      <p:sp>
        <p:nvSpPr>
          <p:cNvPr id="54" name="Shape 52"/>
          <p:cNvSpPr/>
          <p:nvPr/>
        </p:nvSpPr>
        <p:spPr>
          <a:xfrm>
            <a:off x="274320" y="4261104"/>
            <a:ext cx="8595360" cy="3749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" name="Shape 53"/>
          <p:cNvSpPr/>
          <p:nvPr/>
        </p:nvSpPr>
        <p:spPr>
          <a:xfrm>
            <a:off x="274320" y="4261104"/>
            <a:ext cx="201168" cy="374904"/>
          </a:xfrm>
          <a:prstGeom prst="rect">
            <a:avLst/>
          </a:prstGeom>
          <a:solidFill>
            <a:srgbClr val="991B1B"/>
          </a:solidFill>
          <a:ln w="12700">
            <a:solidFill>
              <a:srgbClr val="991B1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6" name="Text 54"/>
          <p:cNvSpPr/>
          <p:nvPr/>
        </p:nvSpPr>
        <p:spPr>
          <a:xfrm>
            <a:off x="274320" y="4261104"/>
            <a:ext cx="201168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9</a:t>
            </a:r>
            <a:endParaRPr lang="en-US" sz="1100" dirty="0"/>
          </a:p>
        </p:txBody>
      </p:sp>
      <p:sp>
        <p:nvSpPr>
          <p:cNvPr id="57" name="Text 55"/>
          <p:cNvSpPr/>
          <p:nvPr/>
        </p:nvSpPr>
        <p:spPr>
          <a:xfrm>
            <a:off x="530352" y="4261104"/>
            <a:ext cx="1737360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991B1B"/>
                </a:solidFill>
              </a:rPr>
              <a:t>Decomposition tree is blank</a:t>
            </a:r>
            <a:endParaRPr lang="en-US" sz="1000" dirty="0"/>
          </a:p>
        </p:txBody>
      </p:sp>
      <p:sp>
        <p:nvSpPr>
          <p:cNvPr id="58" name="Text 56"/>
          <p:cNvSpPr/>
          <p:nvPr/>
        </p:nvSpPr>
        <p:spPr>
          <a:xfrm>
            <a:off x="2331720" y="4261104"/>
            <a:ext cx="2286000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64748B"/>
                </a:solidFill>
              </a:rPr>
              <a:t>Cause: ALOS measure not in Analyze bucket</a:t>
            </a:r>
            <a:endParaRPr lang="en-US" sz="950" dirty="0"/>
          </a:p>
        </p:txBody>
      </p:sp>
      <p:sp>
        <p:nvSpPr>
          <p:cNvPr id="59" name="Text 57"/>
          <p:cNvSpPr/>
          <p:nvPr/>
        </p:nvSpPr>
        <p:spPr>
          <a:xfrm>
            <a:off x="4663440" y="4261104"/>
            <a:ext cx="4160520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</a:rPr>
              <a:t>Fix: Open the decomposition tree. Check the Analyze bucket — drag [ALOS] measure there. Ensure all 4 Explain By fields are populated.</a:t>
            </a:r>
            <a:endParaRPr lang="en-US" sz="950" dirty="0"/>
          </a:p>
        </p:txBody>
      </p:sp>
      <p:sp>
        <p:nvSpPr>
          <p:cNvPr id="60" name="Shape 58"/>
          <p:cNvSpPr/>
          <p:nvPr/>
        </p:nvSpPr>
        <p:spPr>
          <a:xfrm>
            <a:off x="274320" y="4700016"/>
            <a:ext cx="8595360" cy="374904"/>
          </a:xfrm>
          <a:prstGeom prst="rect">
            <a:avLst/>
          </a:prstGeom>
          <a:solidFill>
            <a:srgbClr val="F4F7FB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1" name="Shape 59"/>
          <p:cNvSpPr/>
          <p:nvPr/>
        </p:nvSpPr>
        <p:spPr>
          <a:xfrm>
            <a:off x="274320" y="4700016"/>
            <a:ext cx="201168" cy="374904"/>
          </a:xfrm>
          <a:prstGeom prst="rect">
            <a:avLst/>
          </a:prstGeom>
          <a:solidFill>
            <a:srgbClr val="991B1B"/>
          </a:solidFill>
          <a:ln w="12700">
            <a:solidFill>
              <a:srgbClr val="991B1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2" name="Text 60"/>
          <p:cNvSpPr/>
          <p:nvPr/>
        </p:nvSpPr>
        <p:spPr>
          <a:xfrm>
            <a:off x="274320" y="4700016"/>
            <a:ext cx="201168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10</a:t>
            </a:r>
            <a:endParaRPr lang="en-US" sz="1100" dirty="0"/>
          </a:p>
        </p:txBody>
      </p:sp>
      <p:sp>
        <p:nvSpPr>
          <p:cNvPr id="63" name="Text 61"/>
          <p:cNvSpPr/>
          <p:nvPr/>
        </p:nvSpPr>
        <p:spPr>
          <a:xfrm>
            <a:off x="530352" y="4700016"/>
            <a:ext cx="1737360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991B1B"/>
                </a:solidFill>
              </a:rPr>
              <a:t>Benchmark line not visible</a:t>
            </a:r>
            <a:endParaRPr lang="en-US" sz="1000" dirty="0"/>
          </a:p>
        </p:txBody>
      </p:sp>
      <p:sp>
        <p:nvSpPr>
          <p:cNvPr id="64" name="Text 62"/>
          <p:cNvSpPr/>
          <p:nvPr/>
        </p:nvSpPr>
        <p:spPr>
          <a:xfrm>
            <a:off x="2331720" y="4700016"/>
            <a:ext cx="2286000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64748B"/>
                </a:solidFill>
              </a:rPr>
              <a:t>Cause: Constant line value entered as decimal</a:t>
            </a:r>
            <a:endParaRPr lang="en-US" sz="950" dirty="0"/>
          </a:p>
        </p:txBody>
      </p:sp>
      <p:sp>
        <p:nvSpPr>
          <p:cNvPr id="65" name="Text 63"/>
          <p:cNvSpPr/>
          <p:nvPr/>
        </p:nvSpPr>
        <p:spPr>
          <a:xfrm>
            <a:off x="4663440" y="4700016"/>
            <a:ext cx="4160520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</a:rPr>
              <a:t>Fix: In Analytics pane, enter 0.219 (not 21.9) for the constant line — Power BI uses decimals for percentages.</a:t>
            </a:r>
            <a:endParaRPr lang="en-US" sz="95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74320" y="0"/>
            <a:ext cx="7406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Submission Checklist – Before You Submit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7406640" y="109728"/>
            <a:ext cx="1554480" cy="411480"/>
          </a:xfrm>
          <a:prstGeom prst="roundRect">
            <a:avLst>
              <a:gd name="adj" fmla="val 17778"/>
            </a:avLst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406640" y="109728"/>
            <a:ext cx="1554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CHECKLIST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274320" y="749808"/>
            <a:ext cx="8595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334155"/>
                </a:solidFill>
              </a:rPr>
              <a:t>Complete every item before submitting your .pbix file and written analysis document.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74320" y="1170432"/>
            <a:ext cx="411480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1B3A6B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274320" y="1170432"/>
            <a:ext cx="4114800" cy="347472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365760" y="1170432"/>
            <a:ext cx="3977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Data Model (Q1 – 10 pts)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65760" y="1572768"/>
            <a:ext cx="3950208" cy="1316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spcAft>
                <a:spcPts val="300"/>
              </a:spcAft>
              <a:buNone/>
            </a:pPr>
            <a:r>
              <a:rPr lang="en-US" sz="950" dirty="0">
                <a:solidFill>
                  <a:srgbClr val="334155"/>
                </a:solidFill>
              </a:rPr>
              <a:t>☐  All 4 CSV files loaded: FactAdmissions (500), DimPatient (150), DimDoctor (20), DimDate (551)</a:t>
            </a:r>
            <a:endParaRPr lang="en-US" sz="95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950" dirty="0">
                <a:solidFill>
                  <a:srgbClr val="334155"/>
                </a:solidFill>
              </a:rPr>
              <a:t>☐  3 relationships in Model View: PatientID, DoctorID, AdmissionDate → FactAdmissions</a:t>
            </a:r>
            <a:endParaRPr lang="en-US" sz="95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950" dirty="0">
                <a:solidFill>
                  <a:srgbClr val="334155"/>
                </a:solidFill>
              </a:rPr>
              <a:t>☐  All relationships: One-to-Many · Single cross-filter · Active = checked</a:t>
            </a:r>
            <a:endParaRPr lang="en-US" sz="95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950" dirty="0">
                <a:solidFill>
                  <a:srgbClr val="334155"/>
                </a:solidFill>
              </a:rPr>
              <a:t>☐  Model View screenshot taken, annotated with relationship names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617720" y="1170432"/>
            <a:ext cx="411480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0D7377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4617720" y="1170432"/>
            <a:ext cx="4114800" cy="347472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709160" y="1170432"/>
            <a:ext cx="3977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DAX Measures (Q2–Q5 – 10 pts each)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709160" y="1572768"/>
            <a:ext cx="3950208" cy="1316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spcAft>
                <a:spcPts val="300"/>
              </a:spcAft>
              <a:buNone/>
            </a:pPr>
            <a:r>
              <a:rPr lang="en-US" sz="950" dirty="0">
                <a:solidFill>
                  <a:srgbClr val="334155"/>
                </a:solidFill>
              </a:rPr>
              <a:t>☐  Total Admissions = 500  (verify with Card visual, no filter)</a:t>
            </a:r>
            <a:endParaRPr lang="en-US" sz="95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950" dirty="0">
                <a:solidFill>
                  <a:srgbClr val="334155"/>
                </a:solidFill>
              </a:rPr>
              <a:t>☐  ALOS = 3.83 days  (verify format: 2 decimal places)</a:t>
            </a:r>
            <a:endParaRPr lang="en-US" sz="95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950" dirty="0">
                <a:solidFill>
                  <a:srgbClr val="334155"/>
                </a:solidFill>
              </a:rPr>
              <a:t>☐  Readmission Rate = 11.6%  (verify 21.9% benchmark line is visible on bar chart)</a:t>
            </a:r>
            <a:endParaRPr lang="en-US" sz="95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950" dirty="0">
                <a:solidFill>
                  <a:srgbClr val="334155"/>
                </a:solidFill>
              </a:rPr>
              <a:t>☐  Avg Cost per Patient = $12,728  (verify format: Currency $)</a:t>
            </a:r>
            <a:endParaRPr lang="en-US" sz="95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950" dirty="0">
                <a:solidFill>
                  <a:srgbClr val="334155"/>
                </a:solidFill>
              </a:rPr>
              <a:t>☐  Age Group column in DimPatient  ☐  Risk Level column in DimPatient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274320" y="3108960"/>
            <a:ext cx="411480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97706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274320" y="3108960"/>
            <a:ext cx="4114800" cy="34747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365760" y="3108960"/>
            <a:ext cx="3977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Dashboard Visuals (Q6 – 15 pts)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65760" y="3511296"/>
            <a:ext cx="3950208" cy="1316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spcAft>
                <a:spcPts val="300"/>
              </a:spcAft>
              <a:buNone/>
            </a:pPr>
            <a:r>
              <a:rPr lang="en-US" sz="950" dirty="0">
                <a:solidFill>
                  <a:srgbClr val="334155"/>
                </a:solidFill>
              </a:rPr>
              <a:t>☐  Line chart: Monthly Admissions trend (Jan–Nov 2024)</a:t>
            </a:r>
            <a:endParaRPr lang="en-US" sz="95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950" dirty="0">
                <a:solidFill>
                  <a:srgbClr val="334155"/>
                </a:solidFill>
              </a:rPr>
              <a:t>☐  Bar chart: Readmission Rate by Department with 21.9% constant line</a:t>
            </a:r>
            <a:endParaRPr lang="en-US" sz="95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950" dirty="0">
                <a:solidFill>
                  <a:srgbClr val="334155"/>
                </a:solidFill>
              </a:rPr>
              <a:t>☐  Heatmap/Matrix: Admissions by DayOfWeek × Month with conditional formatting</a:t>
            </a:r>
            <a:endParaRPr lang="en-US" sz="95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950" dirty="0">
                <a:solidFill>
                  <a:srgbClr val="334155"/>
                </a:solidFill>
              </a:rPr>
              <a:t>☐  Decomposition Tree: ALOS analyzed by Dept → Age Group → Insurance → Condition</a:t>
            </a:r>
            <a:endParaRPr lang="en-US" sz="95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950" dirty="0">
                <a:solidFill>
                  <a:srgbClr val="334155"/>
                </a:solidFill>
              </a:rPr>
              <a:t>☐  Treemap: Readmission Count by Specialty (Readmission Count measure used)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617720" y="3108960"/>
            <a:ext cx="411480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991B1B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4617720" y="3108960"/>
            <a:ext cx="4114800" cy="347472"/>
          </a:xfrm>
          <a:prstGeom prst="rect">
            <a:avLst/>
          </a:prstGeom>
          <a:solidFill>
            <a:srgbClr val="991B1B"/>
          </a:solidFill>
          <a:ln w="12700">
            <a:solidFill>
              <a:srgbClr val="991B1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709160" y="3108960"/>
            <a:ext cx="3977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Written Analysis (Q8 – 10 pts)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709160" y="3511296"/>
            <a:ext cx="3950208" cy="1316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spcAft>
                <a:spcPts val="300"/>
              </a:spcAft>
              <a:buNone/>
            </a:pPr>
            <a:r>
              <a:rPr lang="en-US" sz="950" dirty="0">
                <a:solidFill>
                  <a:srgbClr val="334155"/>
                </a:solidFill>
              </a:rPr>
              <a:t>☐  Identifies September/October as peak months with staffing recommendation</a:t>
            </a:r>
            <a:endParaRPr lang="en-US" sz="95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950" dirty="0">
                <a:solidFill>
                  <a:srgbClr val="334155"/>
                </a:solidFill>
              </a:rPr>
              <a:t>☐  Names Cardiac Care (18.5%) and Surgery (20.8%) as readmission priorities</a:t>
            </a:r>
            <a:endParaRPr lang="en-US" sz="95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950" dirty="0">
                <a:solidFill>
                  <a:srgbClr val="334155"/>
                </a:solidFill>
              </a:rPr>
              <a:t>☐  Describes Diabetes &amp; Metabolism as highest ALOS department with patient profile</a:t>
            </a:r>
            <a:endParaRPr lang="en-US" sz="95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950" dirty="0">
                <a:solidFill>
                  <a:srgbClr val="334155"/>
                </a:solidFill>
              </a:rPr>
              <a:t>☐  2 specific, data-backed recommendations with estimated financial impact</a:t>
            </a:r>
            <a:endParaRPr lang="en-US" sz="95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950" dirty="0">
                <a:solidFill>
                  <a:srgbClr val="334155"/>
                </a:solidFill>
              </a:rPr>
              <a:t>☐  HIPAA: PatientID and Name columns hidden in report view</a:t>
            </a:r>
            <a:endParaRPr lang="en-US" sz="95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1B3A6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4434840"/>
            <a:ext cx="9144000" cy="708660"/>
          </a:xfrm>
          <a:prstGeom prst="rect">
            <a:avLst/>
          </a:prstGeom>
          <a:solidFill>
            <a:srgbClr val="142B50"/>
          </a:solidFill>
          <a:ln w="12700">
            <a:solidFill>
              <a:srgbClr val="142B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0" y="731520"/>
            <a:ext cx="9144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400" dirty="0">
                <a:solidFill>
                  <a:srgbClr val="000000"/>
                </a:solidFill>
              </a:rPr>
              <a:t>✅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457200" y="1691640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</a:rPr>
              <a:t>Healthcare Dashboard Complete!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457200" y="2395728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14BDBD"/>
                </a:solidFill>
              </a:rPr>
              <a:t>You can now build a full Power BI analytics dashboard from raw clinical data.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2286000" y="2944368"/>
            <a:ext cx="4572000" cy="36576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57200" y="3054096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A0B4D0"/>
                </a:solidFill>
              </a:rPr>
              <a:t>4 CSV files loaded  ·  Star schema built  ·  2 calculated columns  ·  4 DAX measures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3438144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A0B4D0"/>
                </a:solidFill>
              </a:rPr>
              <a:t>4 KPI cards  ·  5 visuals  ·  5 slicers  ·  HIPAA compliance  ·  CMO memo ready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7200" y="3913632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7A9DC0"/>
                </a:solidFill>
              </a:rPr>
              <a:t>Submit: .pbix file + written analysis → course portal  |  Questions → office hours or discussion board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4462272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7A9DC0"/>
                </a:solidFill>
              </a:rPr>
              <a:t>MG628  ·  Week 6  ·  Data Analysis for Managerial Decision-Making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8085</Words>
  <Application>Microsoft Office PowerPoint</Application>
  <PresentationFormat>On-screen Show (16:9)</PresentationFormat>
  <Paragraphs>1202</Paragraphs>
  <Slides>43</Slides>
  <Notes>43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43</vt:i4>
      </vt:variant>
    </vt:vector>
  </HeadingPairs>
  <TitlesOfParts>
    <vt:vector size="47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Healthcare Patient Flow &amp; Readmission – Power BI Walkthrough</dc:title>
  <dc:subject>PptxGenJS Presentation</dc:subject>
  <dc:creator>PptxGenJS</dc:creator>
  <cp:lastModifiedBy>Fomba Kassoh</cp:lastModifiedBy>
  <cp:revision>3</cp:revision>
  <dcterms:created xsi:type="dcterms:W3CDTF">2026-05-30T08:02:44Z</dcterms:created>
  <dcterms:modified xsi:type="dcterms:W3CDTF">2026-05-30T17:51:01Z</dcterms:modified>
</cp:coreProperties>
</file>