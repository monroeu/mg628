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5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6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Readmission Rate by Dept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Readmission Rate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Surgery</c:v>
                </c:pt>
                <c:pt idx="1">
                  <c:v>Cardiac Care</c:v>
                </c:pt>
                <c:pt idx="2">
                  <c:v>Diabetes &amp; Metab</c:v>
                </c:pt>
                <c:pt idx="3">
                  <c:v>Kidney Care</c:v>
                </c:pt>
                <c:pt idx="4">
                  <c:v>General Medicine</c:v>
                </c:pt>
                <c:pt idx="5">
                  <c:v>Emergency</c:v>
                </c:pt>
                <c:pt idx="6">
                  <c:v>Neuroscience</c:v>
                </c:pt>
                <c:pt idx="7">
                  <c:v>Respiratory Care</c:v>
                </c:pt>
                <c:pt idx="8">
                  <c:v>Digestive Health</c:v>
                </c:pt>
                <c:pt idx="9">
                  <c:v>Cancer Center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0.20799999999999999</c:v>
                </c:pt>
                <c:pt idx="1">
                  <c:v>0.185</c:v>
                </c:pt>
                <c:pt idx="2">
                  <c:v>0.16400000000000001</c:v>
                </c:pt>
                <c:pt idx="3">
                  <c:v>0.128</c:v>
                </c:pt>
                <c:pt idx="4">
                  <c:v>0.111</c:v>
                </c:pt>
                <c:pt idx="5">
                  <c:v>0.1</c:v>
                </c:pt>
                <c:pt idx="6">
                  <c:v>9.8000000000000004E-2</c:v>
                </c:pt>
                <c:pt idx="7">
                  <c:v>8.4000000000000005E-2</c:v>
                </c:pt>
                <c:pt idx="8">
                  <c:v>7.3999999999999996E-2</c:v>
                </c:pt>
                <c:pt idx="9">
                  <c:v>2.3E-2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97-48ED-A7E5-1DF952A19E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Monthly Admissions &amp; Readmission Rate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</c:v>
                </c:pt>
              </c:strCache>
            </c:strRef>
          </c:tx>
          <c:spPr>
            <a:ln w="25400" cap="flat">
              <a:solidFill>
                <a:srgbClr val="1B3A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3A6B"/>
              </a:solidFill>
              <a:ln w="9525" cap="flat">
                <a:solidFill>
                  <a:srgbClr val="1B3A6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31</c:v>
                </c:pt>
                <c:pt idx="1">
                  <c:v>53</c:v>
                </c:pt>
                <c:pt idx="2">
                  <c:v>46</c:v>
                </c:pt>
                <c:pt idx="3">
                  <c:v>29</c:v>
                </c:pt>
                <c:pt idx="4">
                  <c:v>44</c:v>
                </c:pt>
                <c:pt idx="5">
                  <c:v>43</c:v>
                </c:pt>
                <c:pt idx="6">
                  <c:v>49</c:v>
                </c:pt>
                <c:pt idx="7">
                  <c:v>44</c:v>
                </c:pt>
                <c:pt idx="8">
                  <c:v>58</c:v>
                </c:pt>
                <c:pt idx="9">
                  <c:v>57</c:v>
                </c:pt>
                <c:pt idx="10">
                  <c:v>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BC-4E18-9F86-C26C850C71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Readmit%×100</c:v>
                </c:pt>
              </c:strCache>
            </c:strRef>
          </c:tx>
          <c:spPr>
            <a:ln w="25400" cap="flat">
              <a:solidFill>
                <a:srgbClr val="991B1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91B1B"/>
              </a:solidFill>
              <a:ln w="9525" cap="flat">
                <a:solidFill>
                  <a:srgbClr val="991B1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9.6999999999999993</c:v>
                </c:pt>
                <c:pt idx="1">
                  <c:v>3.8</c:v>
                </c:pt>
                <c:pt idx="2">
                  <c:v>13</c:v>
                </c:pt>
                <c:pt idx="3">
                  <c:v>6.9</c:v>
                </c:pt>
                <c:pt idx="4">
                  <c:v>20.5</c:v>
                </c:pt>
                <c:pt idx="5">
                  <c:v>9.3000000000000007</c:v>
                </c:pt>
                <c:pt idx="6">
                  <c:v>12.2</c:v>
                </c:pt>
                <c:pt idx="7">
                  <c:v>15.9</c:v>
                </c:pt>
                <c:pt idx="8">
                  <c:v>10.3</c:v>
                </c:pt>
                <c:pt idx="9">
                  <c:v>17.5</c:v>
                </c:pt>
                <c:pt idx="10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BC-4E18-9F86-C26C850C71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Admissions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31</c:v>
                </c:pt>
                <c:pt idx="1">
                  <c:v>53</c:v>
                </c:pt>
                <c:pt idx="2">
                  <c:v>46</c:v>
                </c:pt>
                <c:pt idx="3">
                  <c:v>29</c:v>
                </c:pt>
                <c:pt idx="4">
                  <c:v>44</c:v>
                </c:pt>
                <c:pt idx="5">
                  <c:v>43</c:v>
                </c:pt>
                <c:pt idx="6">
                  <c:v>49</c:v>
                </c:pt>
                <c:pt idx="7">
                  <c:v>44</c:v>
                </c:pt>
                <c:pt idx="8">
                  <c:v>58</c:v>
                </c:pt>
                <c:pt idx="9">
                  <c:v>57</c:v>
                </c:pt>
                <c:pt idx="10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82-44A8-99AC-4D21601C57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Avg LOS by Month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LOS (days)</c:v>
                </c:pt>
              </c:strCache>
            </c:strRef>
          </c:tx>
          <c:spPr>
            <a:ln w="25400" cap="flat">
              <a:solidFill>
                <a:srgbClr val="0D737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3.1</c:v>
                </c:pt>
                <c:pt idx="1">
                  <c:v>3.68</c:v>
                </c:pt>
                <c:pt idx="2">
                  <c:v>4.2</c:v>
                </c:pt>
                <c:pt idx="3">
                  <c:v>4.55</c:v>
                </c:pt>
                <c:pt idx="4">
                  <c:v>4.41</c:v>
                </c:pt>
                <c:pt idx="5">
                  <c:v>4.1900000000000004</c:v>
                </c:pt>
                <c:pt idx="6">
                  <c:v>3.8</c:v>
                </c:pt>
                <c:pt idx="7">
                  <c:v>3.16</c:v>
                </c:pt>
                <c:pt idx="8">
                  <c:v>3.67</c:v>
                </c:pt>
                <c:pt idx="9">
                  <c:v>3.37</c:v>
                </c:pt>
                <c:pt idx="10">
                  <c:v>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76-4F68-A016-8DB4FC8A46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Total Admissions by Day of Week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</c:v>
                </c:pt>
              </c:strCache>
            </c:strRef>
          </c:tx>
          <c:spPr>
            <a:solidFill>
              <a:srgbClr val="991B1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39A-4043-A09D-AC5381BC4D72}"/>
              </c:ext>
            </c:extLst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9A-4043-A09D-AC5381BC4D72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9A-4043-A09D-AC5381BC4D72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39A-4043-A09D-AC5381BC4D72}"/>
              </c:ext>
            </c:extLst>
          </c:dPt>
          <c:dPt>
            <c:idx val="4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39A-4043-A09D-AC5381BC4D72}"/>
              </c:ext>
            </c:extLst>
          </c:dPt>
          <c:dPt>
            <c:idx val="5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39A-4043-A09D-AC5381BC4D72}"/>
              </c:ext>
            </c:extLst>
          </c:dPt>
          <c:dPt>
            <c:idx val="6"/>
            <c:invertIfNegative val="0"/>
            <c:bubble3D val="0"/>
            <c:spPr>
              <a:solidFill>
                <a:srgbClr val="1665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39A-4043-A09D-AC5381BC4D7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Fri</c:v>
                </c:pt>
                <c:pt idx="2">
                  <c:v>Thu</c:v>
                </c:pt>
                <c:pt idx="3">
                  <c:v>Tue</c:v>
                </c:pt>
                <c:pt idx="4">
                  <c:v>Wed</c:v>
                </c:pt>
                <c:pt idx="5">
                  <c:v>Mon</c:v>
                </c:pt>
                <c:pt idx="6">
                  <c:v>Sat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88</c:v>
                </c:pt>
                <c:pt idx="1">
                  <c:v>79</c:v>
                </c:pt>
                <c:pt idx="2">
                  <c:v>72</c:v>
                </c:pt>
                <c:pt idx="3">
                  <c:v>71</c:v>
                </c:pt>
                <c:pt idx="4">
                  <c:v>68</c:v>
                </c:pt>
                <c:pt idx="5">
                  <c:v>64</c:v>
                </c:pt>
                <c:pt idx="6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39A-4043-A09D-AC5381BC4D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Avg LOS vs. Avg Cost by Dept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Cost</c:v>
                </c:pt>
              </c:strCache>
            </c:strRef>
          </c:tx>
          <c:spPr>
            <a:ln w="25400" cap="flat">
              <a:solidFill>
                <a:srgbClr val="0D737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3</c:v>
                </c:pt>
                <c:pt idx="1">
                  <c:v>3.69</c:v>
                </c:pt>
                <c:pt idx="2">
                  <c:v>4.4800000000000004</c:v>
                </c:pt>
                <c:pt idx="3">
                  <c:v>4.28</c:v>
                </c:pt>
                <c:pt idx="4">
                  <c:v>3.78</c:v>
                </c:pt>
                <c:pt idx="5">
                  <c:v>3.43</c:v>
                </c:pt>
                <c:pt idx="6">
                  <c:v>4.05</c:v>
                </c:pt>
                <c:pt idx="7">
                  <c:v>3.51</c:v>
                </c:pt>
                <c:pt idx="8">
                  <c:v>3.78</c:v>
                </c:pt>
                <c:pt idx="9">
                  <c:v>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8956</c:v>
                </c:pt>
                <c:pt idx="1">
                  <c:v>14312</c:v>
                </c:pt>
                <c:pt idx="2">
                  <c:v>14048</c:v>
                </c:pt>
                <c:pt idx="3">
                  <c:v>14390</c:v>
                </c:pt>
                <c:pt idx="4">
                  <c:v>12277</c:v>
                </c:pt>
                <c:pt idx="5">
                  <c:v>11250</c:v>
                </c:pt>
                <c:pt idx="6">
                  <c:v>13983</c:v>
                </c:pt>
                <c:pt idx="7">
                  <c:v>11843</c:v>
                </c:pt>
                <c:pt idx="8">
                  <c:v>11650</c:v>
                </c:pt>
                <c:pt idx="9">
                  <c:v>12045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576-413A-B982-8BAD983ED3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16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42B50"/>
          </a:solidFill>
          <a:ln w="12700">
            <a:solidFill>
              <a:srgbClr val="14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57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🏥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 &amp; Readmission Analysis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DBD"/>
                </a:solidFill>
              </a:rPr>
              <a:t>Tableau Dashboard – Full Step-by-Step Walkthrough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788920"/>
            <a:ext cx="2194560" cy="438912"/>
          </a:xfrm>
          <a:prstGeom prst="roundRect">
            <a:avLst>
              <a:gd name="adj" fmla="val 20833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278892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🟠  Built in Tableau Desktop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3337560"/>
            <a:ext cx="3657600" cy="36576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D0"/>
                </a:solidFill>
              </a:rPr>
              <a:t>500 Admissions  ·  150 Patients  ·  20 Doctors  ·  4 Facilities  ·  $6.36M Total Cost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DC0"/>
                </a:solidFill>
              </a:rPr>
              <a:t>MG628 – Data Analysis for Managerial Decision-Making  |  Week 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Build – 6 Tableau Visualizations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By the end of this walkthrough you will have a complete Tableau dashboard answering the CMO's two critical questions: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60520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🚨 Problem 1: Bed Blocking — patients waiting too long for beds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425196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18872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Problem 2: High Readmissions — patients returning within 30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274320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Bar Chart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18288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Sheet 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231136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Readmission Rate by Department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+ 21.9% national benchmark 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54680" y="1828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54680" y="1828800"/>
            <a:ext cx="27432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1828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 Line Chart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18288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Sheet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231136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Monthly Admissions &amp; Readmission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Trend — detect bed-blocking peaks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828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0" y="1828800"/>
            <a:ext cx="274320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0" y="1828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🔥  Heatmap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18288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Sheet 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6480" y="2231136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Peak Admission Times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Day × Month matrix, green→red gradient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2918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291840"/>
            <a:ext cx="274320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291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🌳  Treemap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68880" y="32918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Sheet 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3694176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Readmission Count by Specialty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Biggest box = most readmissions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54680" y="32918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54680" y="3291840"/>
            <a:ext cx="27432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46120" y="3291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🔵  Scatter Plot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32918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Sheet 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46120" y="3694176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LOS vs. Cost by Department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Bubbles = admission count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32918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35040" y="3291840"/>
            <a:ext cx="274320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26480" y="3291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🎛️  Dashboard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0" y="32918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Dashboard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26480" y="3694176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All 5 visuals + KPI cards + filters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Interactive, CMO-ready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Roadmap – 10 Stages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335062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335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029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594029"/>
            <a:ext cx="1005840" cy="38404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594029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71600" y="594029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132"/>
                </a:solidFill>
              </a:rPr>
              <a:t>Get Tableau Desktop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24528" y="594029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Download free student license or Tableau Public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051229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051229"/>
            <a:ext cx="100584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051229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71600" y="1051229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Connect All 4 CSV Files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24528" y="1051229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Data Source tab → relationships → verify field types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508429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1508429"/>
            <a:ext cx="10058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508429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71600" y="1508429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Interface Tour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24528" y="1508429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Data Pane · Shelves · Marks Card · Analytics pane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965629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1965629"/>
            <a:ext cx="100584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1965629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71600" y="1965629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Dimensions vs. Measures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24528" y="1965629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Blue pills vs. Green pills — the foundation of every chart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422829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2422829"/>
            <a:ext cx="1005840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422829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71600" y="2422829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Sheet 1 – Readmission Bar Chart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24528" y="2422829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Bar chart + 21.9% constant line + sort descending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2880029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2880029"/>
            <a:ext cx="100584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2880029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71600" y="2880029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Sheet 2 – Monthly Trend Line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24528" y="2880029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Dual-line chart: admissions + readmission rate overlay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337229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337229"/>
            <a:ext cx="1005840" cy="3840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337229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371600" y="3337229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</a:rPr>
              <a:t>Sheet 3 – Peak Times Heatmap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224528" y="3337229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Matrix visual: DayOfWeek × Month with color gradient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794429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3794429"/>
            <a:ext cx="100584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3794429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371600" y="3794429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</a:rPr>
              <a:t>Sheet 4 – Specialty Treemap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224528" y="3794429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Readmission Count by Specialty — size + color encoding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251629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74320" y="4251629"/>
            <a:ext cx="10058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4251629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9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371600" y="4251629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Sheet 5 – LOS vs. Cost Scatter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224528" y="4251629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Scatter: Avg LOS (X) vs. Avg Cost (Y), Size = admissions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4708829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74320" y="4708829"/>
            <a:ext cx="100584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708829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10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371600" y="4708829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Dashboard Assembly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224528" y="4708829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Combine + KPI cards + filters + actions + publish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🟠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Get Tableau Desktop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Free Student License  ·  Tableau Public  ·  Installation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404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349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33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Get Tableau — Choose Your Option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78674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78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51783"/>
            <a:ext cx="85953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451783"/>
            <a:ext cx="85953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488359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Option A: Tableau Desktop Student License — RECOMMENDED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60920" y="506647"/>
            <a:ext cx="1444752" cy="237744"/>
          </a:xfrm>
          <a:prstGeom prst="roundRect">
            <a:avLst>
              <a:gd name="adj" fmla="val 23077"/>
            </a:avLst>
          </a:prstGeom>
          <a:solidFill>
            <a:srgbClr val="16653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60920" y="506647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FREE · 1 YEAR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854119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① Go to: tableau.com/academic/students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② Click 'Get Tableau for Free'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③ Upload proof of enrollment: student ID, transcript, or letter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④ Approval arrives by email within 1–2 business days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⑤ Download Tableau Desktop installer (~500 MB)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⑥ Launch, enter product key → full professional license for one year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95744" y="854119"/>
            <a:ext cx="1700784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872407"/>
            <a:ext cx="162763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Full Tableau Desktop. All features. Windows AND Mac. Identical to the commercial version.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853864"/>
            <a:ext cx="85953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1853864"/>
            <a:ext cx="85953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18904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Option B: Tableau Public — Available Right Now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60920" y="1908728"/>
            <a:ext cx="1444752" cy="237744"/>
          </a:xfrm>
          <a:prstGeom prst="roundRect">
            <a:avLst>
              <a:gd name="adj" fmla="val 23077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60920" y="1908728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FREE · ALWAYS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4048" y="22562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① Go to: public.tableau.com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② Click 'Download Tableau Public' in the top navigation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③ Enter your email → download installer → install immediately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④ No license key needed — launches right away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⑤ Note: saves workbooks to the public Tableau gallery only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⑥ All required dashboard features for this assignment are available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95744" y="2256200"/>
            <a:ext cx="1700784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0" y="2274488"/>
            <a:ext cx="162763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90% of Tableau Desktop features. Perfect for learning and portfolio building. Cannot save locally — must publish to public gallery.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262720"/>
            <a:ext cx="85953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262720"/>
            <a:ext cx="85953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29929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Option C: Tableau Cloud 14-Day Trial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60920" y="3317584"/>
            <a:ext cx="1444752" cy="237744"/>
          </a:xfrm>
          <a:prstGeom prst="roundRect">
            <a:avLst>
              <a:gd name="adj" fmla="val 23077"/>
            </a:avLst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60920" y="331758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FREE · 14 DAYS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4048" y="3665056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① Go to: tableau.com/trial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② Enter your school email address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③ Access the browser-based version immediately — no install needed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④ Full Tableau features in your browser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⑤ Expires after 14 days — plan your work timeline accordingly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⑥ Good option for managed lab computers where you cannot install software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95744" y="3665056"/>
            <a:ext cx="1700784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0" y="3683344"/>
            <a:ext cx="162763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Browser-based. Good for quick access. Does not require local installation.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670896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467089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📌  For this MG628 assignment: Option A (student license) or Option B (Tableau Public) both produce identical dashboards. Option B is available instantly if you need to start today.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🔗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Connect All 4 CSV Files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Data Source Tab  ·  Relationships  ·  Field Type Verification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404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4 CSV Files — Understand Before Connecting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Read this before opening Tableau. Knowing the structure prevents every common connection error.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FactAdmissions.csv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FACT TABLE — 500 rows, one per hospital admission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865376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AdmissionID · PatientID 🔗 · DoctorID 🔗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FacilityID · AdmissionDate 🔗 · DischargeDate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LengthOfStay (days) · AdmissionType · Diagnosis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Cost ($) · ReadmissionFlag (0=No, 1=Yes) · WasReadmission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1887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DimPatient.csv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5727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</a:rPr>
              <a:t>WHO — 150 rows, one per patient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27448" y="1865376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PatientID 🔑 (unique primary key)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Name · Age · Gender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InsuranceProvider · ChronicCondition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27248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127248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1272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DimDoctor.csv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5112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WHO TREATED — 20 rows, one per doctor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803904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DoctorID 🔑 (unique primary key)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DoctorName · Specialty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Department (used for all department analysis)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127248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3127248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1272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DimDate.csv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5112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WHEN — 366 rows, one per calendar 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27448" y="3803904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Date 🔑 (unique primary key)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Month · MonthNum · Quarter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FiscalYear · CalendarYear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DayOfWeek · IsWeekend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349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33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Connecting All 4 CSV Files in Tableau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78674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78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210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Follow these steps exactly in the Data Source tab. The order matters — FactAdmissions must be your first (primary) table.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47210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472102"/>
            <a:ext cx="530352" cy="402336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472102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7210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132"/>
                </a:solidFill>
              </a:rPr>
              <a:t>Launch Tableau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0" y="472102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Open Tableau Desktop or Public. On the Start screen, under 'To a File', click Text file.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94759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947590"/>
            <a:ext cx="530352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947590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94759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Load FactAdmissions.csv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0" y="947590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Navigate to your CSV folder. Select FactAdmissions.csv. Click Open. This becomes your primary (fact) table in the Data Source canvas.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42307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1423078"/>
            <a:ext cx="530352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1423078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142307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</a:rPr>
              <a:t>Add DimPatient.csv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0" y="1423078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 the left Connections panel, click Add. Select Text file → DimPatient.csv. It appears in the left panel.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1898566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1898566"/>
            <a:ext cx="530352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1898566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189856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</a:rPr>
              <a:t>Drag DimPatient onto canvas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0" y="1898566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Drag the DimPatient sheet icon onto the center canvas next to FactAdmissions. A relationship dialog opens automatically.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2374054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374054"/>
            <a:ext cx="530352" cy="40233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2374054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237405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</a:rPr>
              <a:t>Set PatientID relationship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57600" y="2374054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Confirm: FactAdmissions[PatientID] = DimPatient[PatientID]. Click OK. A noodle (curved line) connects them.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284954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2849542"/>
            <a:ext cx="530352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2849542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" y="284954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</a:rPr>
              <a:t>Add &amp; connect DimDoctor.csv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657600" y="2849542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Add → Text file → DimDoctor. Drag onto canvas. Relationship: FactAdmissions[DoctorID] = DimDoctor[DoctorID]. Click OK.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32503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325030"/>
            <a:ext cx="530352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3325030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" y="332503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</a:rPr>
              <a:t>Add &amp; connect DimDate.csv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657600" y="3325030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Add → Text file → DimDate. Drag onto canvas. Relationship: FactAdmissions[AdmissionDate] = DimDate[Date]. Click OK.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380051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4320" y="3800518"/>
            <a:ext cx="530352" cy="40233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" y="3800518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14400" y="380051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91B1B"/>
                </a:solidFill>
              </a:rPr>
              <a:t>Verify all 3 noodle lines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657600" y="3800518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You should see 3 curved lines connecting FactAdmissions to DimPatient, DimDoctor, and DimDate. If any is missing, repeat steps 3–7.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4276006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" y="4276006"/>
            <a:ext cx="530352" cy="402336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4320" y="4276006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14400" y="427600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132"/>
                </a:solidFill>
              </a:rPr>
              <a:t>Click Sheet 1 tab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657600" y="4276006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At the bottom of the screen, click 'Sheet 1'. You enter the main build workspace with all 4 tables accessible in the Data pane.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711536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84048" y="471153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Expected result after Step 9: Data pane (left side of Sheet 1) shows all 4 tables — FactAdmissions, DimPatient, DimDoctor, DimDate — each expandable to show their fields.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Verify and Fix Data Types Before Building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Wrong data types cause incorrect charts and broken calculations. Check these in the Data Source tab before proceeding.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2070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AdmissionDate and DischargeDate are Date 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408176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Both must show a calendar icon (not 'Abc' text icon). If Abc shows: click the Abc icon → Change Type → Date.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66420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170078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LengthOfStay is Number (Whole)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1901952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Must be a number (# icon), not text. If wrong: click Abc → Change Type → Number (Whole).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57984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15798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19456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Cost is Number (Decimal)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395728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Must be decimal (#.# icon). If text: click Abc → Change Type → Number (Decimal).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65176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268833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ReadmissionFlag is Number (Whole)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2889504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0 and 1 values must be numeric for calculated fields and aggregations to work correctly.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145536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14553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318211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DimDate.Date matches FactAdmissions.AdmissionDate type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383280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CRITICAL: both must be Date type for the relationship to function. If one is text and one is date, the join will fail silently.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639312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63931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" y="367588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PatientID or DoctorID shows as green (Measure)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" y="3877056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These IDs should be blue (Dimension). Right-click in Data pane → Convert to Dimension. IDs are categories, not numbers.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133088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13308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416966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Age shows as text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" y="4370832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Right-click Age in DimPatient → Change Data Type → Number (Whole). Required for the Age Group calculated field.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626864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62686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4672" y="466344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Department or Specialty is missing from Data pane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" y="4864608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CAUSE: DimDoctor relationship not set. Go to Data Source tab and drag DimDoctor onto canvas. Set DoctorID relationship.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Relationships vs. Joins — Which One to Use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Understanding this distinction prevents the most common Tableau error: duplicated row counts that make your admissions total look wrong.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14800" cy="333756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🔗  RELATIONSHIPS (Default — Use This)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642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✅  Tables stay separate — Tableau picks the right join automatically for each chart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0665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✅  No row duplication: one patient → many admissions stays correct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468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✅  Preserves all rows even without a match in the other 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8712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✅  Best for star schema: FactAdmissions at center with 3 dimensions radiating out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273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✅  What you get by default when dragging tables onto the Data Source canvas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675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✅  Works correctly for SUM(Cost), COUNT(AdmissionID), and AVERAGE(LengthOfStay)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170432"/>
            <a:ext cx="4114800" cy="33375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2344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⚙️  JOINS (Advanced — Avoid for This Assignment)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16642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⚠️  Merges tables into one flat dataset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20665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⚠️  Can cause COUNT(AdmissionID) to return 1,500 instead of 500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2468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⚠️  Access via: double-click a table in Data Source tab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8712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⚠️  Requires specifying: Inner, Left, Right, or Full Outer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273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⚠️  Use ONLY if you need side-by-side columns from two tables in one row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3675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⚠️  Do NOT use for this walkthrough — Relationships handle everything needed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590288"/>
            <a:ext cx="859536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599432"/>
            <a:ext cx="8366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</a:rPr>
              <a:t>✅  For this entire walkthrough: use Relationships (the default). When you drag DimPatient, DimDoctor, and DimDate onto the Data Source canvas, Tableau automatically creates Relationships. Do not double-click tables — that activates Join mode instead.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🖥️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Tableau Interface Tour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Data Pane  ·  Shelves  ·  Marks Card  ·  Analytics Pane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404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 Interface — Every Area You Need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Spend 3 minutes learning these areas now — it prevents confusion during every build step that follows.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50292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225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Data Pane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5361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LEFT SIDE. All fields from all 4 tables. Blue = Dimensions (categories). Green = Measures (numbers). Drag fields from here onto shelves to build charts.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70432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170432"/>
            <a:ext cx="502920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170432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0368" y="1225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Columns Shelf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30368" y="15361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TOP of canvas. Drag a Dimension here to create columns (X-axis). Drag a Measure to create a continuous axis. Drop order determines chart structure.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50292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0116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" y="20665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Rows Shelf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37744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BELOW Columns shelf. Drag a Dimension → creates one row per value. Drag a Measure → continuous Y-axis. This controls what appears left to right.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01168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2011680"/>
            <a:ext cx="50292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20116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30368" y="20665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Marks Card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237744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CENTER-LEFT. Controls how data is ENCODED visually: Color, Size, Label, Detail, Tooltip, Shape. Drag any field here to add a layer of information.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52928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852928"/>
            <a:ext cx="502920" cy="7315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2852928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41248" y="2907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Filters Shelf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321868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ABOVE Marks Card. Drag any field here to filter what data is shown. Multi-select for text, range slider for numbers, date picker for dates.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852928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2852928"/>
            <a:ext cx="502920" cy="7315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2852928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30368" y="2907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Analytics Pane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0368" y="321868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TOP-LEFT toggle. Switch from 'Data' to 'Analytics' to drag in: Trend Lines, Reference Lines, Constant Lines (the 21.9% benchmark), Averages.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694176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694176"/>
            <a:ext cx="502920" cy="7315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369417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41248" y="3749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</a:rPr>
              <a:t>Show Me Panel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1248" y="4059936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TOP-RIGHT. Click to open. Shows all chart types. Highlights which are valid for your currently selected fields. Good starting point for any chart.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694176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63440" y="3694176"/>
            <a:ext cx="502920" cy="7315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369417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30368" y="3749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Sheet Tabs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0368" y="4059936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BOTTOM of screen. Each tab = one chart. Click '+' to add a new sheet. Right-click → Rename Sheet. Drag to reorder.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🎯  Quick start test: on Sheet 1, double-click 'Department' in the Data pane (from DimDoctor). It goes to Rows. Double-click 'Number of Records'. A bar chart appears instantly. This is how Tableau works.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🔵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Dimensions vs. Measures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Blue Pills vs. Green Pills  ·  The Most Important Tableau Concept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404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09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vs. Measures — The Foundation of Every Chart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302732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302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9759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Every field is either a Dimension (blue) or a Measure (green). Mis-classifying one field breaks the entire chart.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642119"/>
            <a:ext cx="4114800" cy="299923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706127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</a:rPr>
              <a:t>🔵  DIMENSIONS  (Blue pills)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135895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What: </a:t>
            </a:r>
            <a:r>
              <a:rPr lang="en-US" sz="1100" dirty="0">
                <a:solidFill>
                  <a:srgbClr val="334155"/>
                </a:solidFill>
              </a:rPr>
              <a:t>Categorical, qualitative, discrete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83367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Used for: </a:t>
            </a:r>
            <a:r>
              <a:rPr lang="en-US" sz="1100" dirty="0">
                <a:solidFill>
                  <a:srgbClr val="334155"/>
                </a:solidFill>
              </a:rPr>
              <a:t>Grouping, slicing, labeling, filtering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830839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Examples: </a:t>
            </a:r>
            <a:r>
              <a:rPr lang="en-US" sz="1100" dirty="0">
                <a:solidFill>
                  <a:srgbClr val="334155"/>
                </a:solidFill>
              </a:rPr>
              <a:t>Department, AdmissionType, DayOfWeek, Month, InsuranceProvider, ChronicCondition, Gender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178311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On Columns shelf: </a:t>
            </a:r>
            <a:r>
              <a:rPr lang="en-US" sz="1100" dirty="0">
                <a:solidFill>
                  <a:srgbClr val="334155"/>
                </a:solidFill>
              </a:rPr>
              <a:t>Creates a separate header per category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525783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On Color mark: </a:t>
            </a:r>
            <a:r>
              <a:rPr lang="en-US" sz="1100" dirty="0">
                <a:solidFill>
                  <a:srgbClr val="334155"/>
                </a:solidFill>
              </a:rPr>
              <a:t>Each category gets a unique color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873255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Pill color: </a:t>
            </a:r>
            <a:r>
              <a:rPr lang="en-US" sz="1100" dirty="0">
                <a:solidFill>
                  <a:srgbClr val="334155"/>
                </a:solidFill>
              </a:rPr>
              <a:t>Always BLUE in Tableau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642119"/>
            <a:ext cx="4114800" cy="29992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706127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</a:rPr>
              <a:t>🟢  MEASURES  (Green pills)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1135895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What: </a:t>
            </a:r>
            <a:r>
              <a:rPr lang="en-US" sz="1100" dirty="0">
                <a:solidFill>
                  <a:srgbClr val="334155"/>
                </a:solidFill>
              </a:rPr>
              <a:t>Numeric, quantitative, continuous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1483367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Used for: </a:t>
            </a:r>
            <a:r>
              <a:rPr lang="en-US" sz="1100" dirty="0">
                <a:solidFill>
                  <a:srgbClr val="334155"/>
                </a:solidFill>
              </a:rPr>
              <a:t>Aggregating (SUM, AVG, COUNT, MIN, MAX)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1830839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Examples: </a:t>
            </a:r>
            <a:r>
              <a:rPr lang="en-US" sz="1100" dirty="0">
                <a:solidFill>
                  <a:srgbClr val="334155"/>
                </a:solidFill>
              </a:rPr>
              <a:t>LengthOfStay, Cost, ReadmissionFlag, Age, Population, Number of Records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178311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On Rows shelf: </a:t>
            </a:r>
            <a:r>
              <a:rPr lang="en-US" sz="1100" dirty="0">
                <a:solidFill>
                  <a:srgbClr val="334155"/>
                </a:solidFill>
              </a:rPr>
              <a:t>Creates a continuous axis with aggregated values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2525783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On Size mark: </a:t>
            </a:r>
            <a:r>
              <a:rPr lang="en-US" sz="1100" dirty="0">
                <a:solidFill>
                  <a:srgbClr val="334155"/>
                </a:solidFill>
              </a:rPr>
              <a:t>Scales bubble/shape size by value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2873255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Pill color: </a:t>
            </a:r>
            <a:r>
              <a:rPr lang="en-US" sz="1100" dirty="0">
                <a:solidFill>
                  <a:srgbClr val="334155"/>
                </a:solidFill>
              </a:rPr>
              <a:t>Always GREEN in Tableau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714503"/>
            <a:ext cx="859536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723647"/>
            <a:ext cx="8366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⚠️  COMMON MISTAKE: PatientID and DoctorID look numeric but are CATEGORIES. If they appear as green (Measure), right-click → Convert to Dimension. ReadmissionFlag (0/1) should stay green (Measure) so you can SUM it to count readmissions.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172383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Field classification for this dataset: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008036"/>
              </p:ext>
            </p:extLst>
          </p:nvPr>
        </p:nvGraphicFramePr>
        <p:xfrm>
          <a:off x="274320" y="4446703"/>
          <a:ext cx="8595360" cy="66294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4ED8"/>
                          </a:solidFill>
                        </a:rPr>
                        <a:t>Dimension (Blue):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Department, AdmissionType, Diagnosis, FacilityID, DayOfWeek, Month, Gender, InsuranceProvider, ChronicCondition, Specialty, DoctorName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6534"/>
                          </a:solidFill>
                        </a:rPr>
                        <a:t>Measure (Green):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LengthOfStay, Cost, ReadmissionFlag, Age, Number of Records, [calculated fields you create]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452110"/>
              </p:ext>
            </p:extLst>
          </p:nvPr>
        </p:nvGraphicFramePr>
        <p:xfrm>
          <a:off x="274320" y="4446703"/>
          <a:ext cx="8595360" cy="66294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4ED8"/>
                          </a:solidFill>
                        </a:rPr>
                        <a:t>Dimension (Blue):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Department, AdmissionType, Diagnosis, FacilityID, DayOfWeek, Month, Gender, InsuranceProvider, ChronicCondition, Specialty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6534"/>
                          </a:solidFill>
                        </a:rPr>
                        <a:t>Measure (Green):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LengthOfStay, Cost, ReadmissionFlag, Age, Number of Records, WasReadmission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99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Sheet 1 – Readmission Rate by Department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Horizontal Bar Chart  ·  21.9% Benchmark Line  ·  Sort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404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1: Readmission Rate by Department — Build Steps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23375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2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75679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This is the benchmark chart. Any bar past the 21.9% reference line flags a department needing clinical protocol review.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60843"/>
            <a:ext cx="420624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560843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⚠️  FIRST: Create a Calculated Field — 'Readmission Rate'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926603"/>
            <a:ext cx="42062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926603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→ Create Calculated Field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Readmission Rate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SUM([ReadmissionFlag]) / COUNT([AdmissionID])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21547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621547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1621547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Click Sheet 1 tab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1621547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Rename: right-click tab → 'Readmission by Dept'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959875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1959875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" y="1959875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Department to Rows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8840" y="1959875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From DimDoctor. One row per department appears.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298203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298203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" y="2298203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Readmission Rate to Columns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48840" y="2298203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Your calculated field goes on the X-axis. Bars appear.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636531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636531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" y="2636531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Format as Percentage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48840" y="2636531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the axis → Format → Numbers → Percentage, 1 decimal.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974859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974859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" y="2974859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Sort descending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48840" y="2974859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Click the axis header → Sort → Descending. Surgery (20.8%) tops the list.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313187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3313187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" y="3313187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the 21.9% line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148840" y="3313187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Analytics pane → Constant Line → drag onto chart → type 0.219 → Enter.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651515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3651515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" y="3651515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Format the reference line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148840" y="3651515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the line → Edit → Label: 'National Benchmark 21.9%', Style: Dashed, Color: Red.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989843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3989843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6656" y="3989843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Color bars by rate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148840" y="3989843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Drag Readmission Rate to Color in Marks Card. Edit colors: high = red, low = blue.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328171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" y="4328171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9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6656" y="4328171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data labels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148840" y="4328171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Marks Card → Label → Show Mark Labels. Format as percentage.</a:t>
            </a:r>
            <a:endParaRPr lang="en-US" sz="950" dirty="0"/>
          </a:p>
        </p:txBody>
      </p:sp>
      <p:graphicFrame>
        <p:nvGraphicFramePr>
          <p:cNvPr id="47" name="Chart 0"/>
          <p:cNvGraphicFramePr/>
          <p:nvPr>
            <p:extLst>
              <p:ext uri="{D42A27DB-BD31-4B8C-83A1-F6EECF244321}">
                <p14:modId xmlns:p14="http://schemas.microsoft.com/office/powerpoint/2010/main" val="824000035"/>
              </p:ext>
            </p:extLst>
          </p:nvPr>
        </p:nvGraphicFramePr>
        <p:xfrm>
          <a:off x="4663440" y="560843"/>
          <a:ext cx="42062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8" name="Shape 45"/>
          <p:cNvSpPr/>
          <p:nvPr/>
        </p:nvSpPr>
        <p:spPr>
          <a:xfrm>
            <a:off x="274320" y="4670903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384048" y="4670903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Surgery 20.8% is dangerously close to the 21.9% penalty threshold. Cardiac Care 18.5% has the highest absolute count (12 readmissions from 65 admissions). Cancer Center 2.3% = best in hospital.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1: Reading the Department Bar Chart — Findings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109728" cy="74980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07899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 Closest to the 21.9% Medicare penalty threshold. Only 24 admissions but 5 readmissions = high rate on small volume.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37844"/>
            <a:ext cx="393192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56048" y="1037844"/>
            <a:ext cx="384048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Implement mandatory 30-day follow-up calls for all surgical discharges. Review Dr. Robert Martinez's 26.7% rate specifically.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618488"/>
            <a:ext cx="8595360" cy="749808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618488"/>
            <a:ext cx="109728" cy="7498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65506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410C"/>
                </a:solidFill>
              </a:rPr>
              <a:t>Cardiac Care  ·  18.5% readmission rate  ·  n=65  ·  12 readmissions  ·  Avg Cost: $14,312  ·  Avg LOS: 3.69 days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194767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 Most readmissions in absolute terms (12 patients). Highest department cost at $14,312 per admission.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1906524"/>
            <a:ext cx="393192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56048" y="1906524"/>
            <a:ext cx="384048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Heart failure patients drive this rate (19.5% readmit). Implement cardiac nurse navigator program for post-discharge follow-up.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8595360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487168"/>
            <a:ext cx="10972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52374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</a:rPr>
              <a:t>Diabetes &amp; Metabolism  ·  16.4% readmission rate  ·  n=61  ·  10 readmissions  ·  Avg Cost: $14,048  ·  Avg LOS: 4.48 days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281635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 Longest average LOS in the hospital (4.48 days) AND high readmit rate. Double burden on bed availability.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2775204"/>
            <a:ext cx="393192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56048" y="2775204"/>
            <a:ext cx="384048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Diabetes patients 75+ drive the longest stays. Geriatric endocrinology fast-track protocol would reduce both LOS and readmit.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55848"/>
            <a:ext cx="8595360" cy="74980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355848"/>
            <a:ext cx="109728" cy="7498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39242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</a:rPr>
              <a:t>Cancer Center  ·  2.3% readmission rate  ·  n=44  ·  1 readmissions  ·  Avg Cost: $12,045  ·  Avg LOS: 4.00 days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368503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 Best readmission rate in the hospital despite longer stays. Only 1 readmission from 44 admissions.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3643884"/>
            <a:ext cx="393192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56048" y="3643884"/>
            <a:ext cx="384048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Study the Cancer Center's discharge planning and follow-up protocols. Apply learnings to Surgery and Cardiac Care.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24528"/>
            <a:ext cx="8595360" cy="749808"/>
          </a:xfrm>
          <a:prstGeom prst="rect">
            <a:avLst/>
          </a:prstGeom>
          <a:solidFill>
            <a:srgbClr val="DBEAFE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4224528"/>
            <a:ext cx="109728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2611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</a:rPr>
              <a:t>Respiratory Care  ·  8.4% readmission rate  ·  n=107  ·  9 readmissions  ·  Avg Cost: $11,843  ·  Avg LOS: 3.51 days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455371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 Highest admission volume (107 = 21% of all admissions). Despite volume, below-average readmit rate.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4512564"/>
            <a:ext cx="393192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56048" y="4512564"/>
            <a:ext cx="384048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Model department for high-volume, efficient care. Dr. Amanda Foster leads with 5.5% readmit rate on 55 patients.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8638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91B1B"/>
                </a:solidFill>
              </a:rPr>
              <a:t>Surgery  ·  20.8% readmission rate  ·  n=24  ·  5 readmissions  ·  Avg Cost: $8,956  ·  Avg LOS: 3.00 days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📈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6: Sheet 2 – Monthly Admissions Trend 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Dual-Line Chart  ·  Volume + Readmission Rate  ·  Bed Blocking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404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2: Monthly Admissions Trend Line — Build Steps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9090"/>
            <a:ext cx="1554480" cy="223375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9090"/>
            <a:ext cx="1554480" cy="22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8922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This chart detects bed blocking. When the admissions line spikes and discharges cannot keep pace, beds are blocked.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09846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0984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Step-by-Step 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1218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11218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" y="111218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Click new sheet tab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1112182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Rename: 'Monthly Trend'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477942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47794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47794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Date from DimDate to Columns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1477942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Tableau places a YEAR pill. Click the '+' to expand → Quarter → Month.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84370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84370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184370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Keep Month level only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8840" y="1843702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YEAR and QUARTER pills → Remove. Only MONTH(Date) should remain on Columns.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209462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20946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" y="220946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COUNT(AdmissionID) to Rows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48840" y="2209462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From FactAdmissions. A line chart appears showing monthly admission count.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57522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57522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257522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Readmission Rate as dual axis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2575222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Drag [Readmission Rate] calculated field to Rows shelf — to the RIGHT of COUNT(AdmissionID).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40982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294098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" y="294098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Create dual axis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48840" y="2940982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the right-side axis → Dual Axis. Both lines now share the canvas.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30674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30674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" y="330674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Synchronize axes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48840" y="3306742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either axis → Synchronize Axis. Both scales align properly.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672502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67250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" y="367250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Color the two lines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48840" y="3672502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Under Marks Card: first line (COUNT) = Navy blue. Second line (Readmission Rate) = Red.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03826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03826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" y="403826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reference line at 21.9%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148840" y="4038262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Analytics pane → Constant Line → drop onto the Readmission Rate axis → value: 0.219</a:t>
            </a:r>
            <a:endParaRPr lang="en-US" sz="950" dirty="0"/>
          </a:p>
        </p:txBody>
      </p:sp>
      <p:graphicFrame>
        <p:nvGraphicFramePr>
          <p:cNvPr id="45" name="Chart 0"/>
          <p:cNvGraphicFramePr/>
          <p:nvPr>
            <p:extLst>
              <p:ext uri="{D42A27DB-BD31-4B8C-83A1-F6EECF244321}">
                <p14:modId xmlns:p14="http://schemas.microsoft.com/office/powerpoint/2010/main" val="2054727655"/>
              </p:ext>
            </p:extLst>
          </p:nvPr>
        </p:nvGraphicFramePr>
        <p:xfrm>
          <a:off x="4663440" y="709846"/>
          <a:ext cx="420624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Shape 43"/>
          <p:cNvSpPr/>
          <p:nvPr/>
        </p:nvSpPr>
        <p:spPr>
          <a:xfrm>
            <a:off x="274320" y="4623478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384048" y="462347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September (58) and October (57) are peak months — 23% of all admissions in 2 months. May has the highest readmission spike at 20.5% — near the 21.9% penalty threshold. Staff accordingly.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2: Reading the Trend Chart — Monthly Patterns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46888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16319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Every spike and dip has a clinical or operational explanation. The CMO needs to know what questions to ask for each.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834877021"/>
              </p:ext>
            </p:extLst>
          </p:nvPr>
        </p:nvGraphicFramePr>
        <p:xfrm>
          <a:off x="274320" y="554063"/>
          <a:ext cx="50292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2538311"/>
            <a:ext cx="859536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" y="2538311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Monthly Findings — What Each Pattern Means for the CMO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2876639"/>
            <a:ext cx="8595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" y="2876639"/>
            <a:ext cx="109728" cy="2560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2876639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September (58 admissions):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91840" y="2876639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PEAK — 11.6% of all annual admissions in one month. Full staff all shifts.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3187535"/>
            <a:ext cx="8595360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4320" y="3187535"/>
            <a:ext cx="109728" cy="2560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3187535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October (57 admissions + 17.5% readmit):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91840" y="3187535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Double alert: peak volume AND highest readmission rate month. Review discharge protocols for Sept admissions.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3498431"/>
            <a:ext cx="8595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74320" y="3498431"/>
            <a:ext cx="109728" cy="2560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3498431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</a:rPr>
              <a:t>May (44 admissions + 20.5% readmit):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291840" y="3498431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Readmission spike at 20.5% — closest to the 21.9% benchmark. Investigate case mix for April admissions.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3809327"/>
            <a:ext cx="8595360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74320" y="3809327"/>
            <a:ext cx="109728" cy="25603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" y="3809327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</a:rPr>
              <a:t>February (53 admissions + 3.8% readmit):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291840" y="3809327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High volume but lowest readmission rate. Study February protocols — what is working so well this month?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4120223"/>
            <a:ext cx="8595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74320" y="4120223"/>
            <a:ext cx="109728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7200" y="4120223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April (29 admissions):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291840" y="4120223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Lowest volume — suitable for planned maintenance, staff training, and elective procedure scheduling.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4320" y="4431119"/>
            <a:ext cx="8595360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74320" y="4431119"/>
            <a:ext cx="10972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57200" y="4431119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August (44 admissions + 15.9% readmit):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291840" y="4431119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Mid-year readmission spike. Warmer months may affect COPD and respiratory patients differently.</a:t>
            </a:r>
            <a:endParaRPr lang="en-US" sz="1000" dirty="0"/>
          </a:p>
        </p:txBody>
      </p:sp>
      <p:graphicFrame>
        <p:nvGraphicFramePr>
          <p:cNvPr id="34" name="Chart 1"/>
          <p:cNvGraphicFramePr/>
          <p:nvPr>
            <p:extLst>
              <p:ext uri="{D42A27DB-BD31-4B8C-83A1-F6EECF244321}">
                <p14:modId xmlns:p14="http://schemas.microsoft.com/office/powerpoint/2010/main" val="1785170704"/>
              </p:ext>
            </p:extLst>
          </p:nvPr>
        </p:nvGraphicFramePr>
        <p:xfrm>
          <a:off x="5394960" y="554063"/>
          <a:ext cx="34747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Shape 31"/>
          <p:cNvSpPr/>
          <p:nvPr/>
        </p:nvSpPr>
        <p:spPr>
          <a:xfrm>
            <a:off x="274320" y="4723048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84048" y="472304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💡  TABLEAU TIP: In the tooltip editor (Worksheet → Tooltip), add fields for Avg Cost, Avg LOS, and Readmission Rate so hovering over any month bar shows the full clinical profile for that month.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241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🔥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Sheet 3 – Peak Admission Times Heatmap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DayOfWeek × Month Matrix  ·  Conditional Color  ·  Staffing Insights</a:t>
            </a:r>
          </a:p>
        </p:txBody>
      </p:sp>
      <p:sp>
        <p:nvSpPr>
          <p:cNvPr id="6" name="Shape 4"/>
          <p:cNvSpPr/>
          <p:nvPr/>
        </p:nvSpPr>
        <p:spPr>
          <a:xfrm>
            <a:off x="3291840" y="38404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3: Peak Admission Times Heatmap — Build Steps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55542"/>
            <a:ext cx="1554480" cy="223375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55542"/>
            <a:ext cx="1554480" cy="22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3663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heatmap answers: when should we schedule extra nurses and physicians? Dark red = peak demand = staff up.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09849"/>
            <a:ext cx="420624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09849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Step-by-Step 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12185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112185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" y="1112185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Create new sheet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1112185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Rename tab: 'Peak Times Heatmap'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477945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477945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477945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Month to Columns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1477945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From DimDate. Use DISCRETE Month (blue pill) not continuous. Gives Jan through Nov headers.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843705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843705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1843705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DayOfWeek to Rows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8840" y="1843705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From DimDate. One row per day of week.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209465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209465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" y="2209465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Sort DayOfWeek manually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48840" y="2209465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DayOfWeek → Sort → Manual. Drag to order: Mon, Tue, Wed, Thu, Fri, Sat, Sun.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575225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575225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2575225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Change mark type to Square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2575225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Marks Card dropdown (top) → change from 'Automatic' to 'Square'.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40985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2940985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" y="2940985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COUNT(AdmissionID) to Color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48840" y="2940985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Marks Card → drag [Number of Records] to Color. The heatmap takes shape.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306745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306745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" y="3306745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Set color palette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48840" y="3306745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Click Color mark → Edit Colors. Choose: Sequential → Red-Blue reversed (green=low, red=high).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672505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672505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" y="3672505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COUNT to Label mark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48840" y="3672505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Drag COUNT(AdmissionID) also to Label mark. Numbers appear inside each cell.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038265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038265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" y="4038265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Size and title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148840" y="4038265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→ Cell Size → Square size ~55. Title: 'Peak Admission Times: Day of Week × Month'.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709849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63440" y="709849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Actual Day-of-Week Distribution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63440" y="1112185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63440" y="1112185"/>
            <a:ext cx="109728" cy="42062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28032" y="1148761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Sunday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28032" y="1349929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n=88   ⚠️  HIGHEST — 17.6% of all admissions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1596817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663440" y="1596817"/>
            <a:ext cx="109728" cy="4206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28032" y="1633393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Friday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28032" y="1834561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n=79   2nd highest — weekend onset surge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63440" y="2081449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63440" y="2081449"/>
            <a:ext cx="109728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28032" y="2118025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Thursday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28032" y="2319193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n=72   High — pre-weekend planning admissions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2566081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663440" y="2566081"/>
            <a:ext cx="109728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828032" y="2602657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Tuesday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28032" y="2803825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n=71   High — post-weekend catch-up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663440" y="3050713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663440" y="3050713"/>
            <a:ext cx="109728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828032" y="3087289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Wednesday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828032" y="3288457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n=68   Moderate — mid-week stable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663440" y="3535345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663440" y="3535345"/>
            <a:ext cx="109728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828032" y="3571921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Monday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828032" y="3773089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n=64   Moderate — post-weekend intake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663440" y="4019977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663440" y="4019977"/>
            <a:ext cx="109728" cy="42062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828032" y="4056553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Saturday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828032" y="4257721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n=58   ✅  LOWEST — reduced elective volume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74320" y="4641769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84048" y="4641769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Sunday is the single busiest day (88 admissions — 17.6%). This is counter-intuitive: most people assume Mondays are busiest. Weekend staffing plans need urgent review.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6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3: Reading the Heatmap — Staffing Decisions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61257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366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heatmap converts raw data into a staffing roster decision. Each dark red cell is an explicit staffing directive.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315507130"/>
              </p:ext>
            </p:extLst>
          </p:nvPr>
        </p:nvGraphicFramePr>
        <p:xfrm>
          <a:off x="274320" y="574384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572000" y="574384"/>
            <a:ext cx="42976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0" y="57438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Heatmap Interpretation Guide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976720"/>
            <a:ext cx="429768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45152" y="9767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Dark red cells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17920" y="97672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Peak demand → add RN and attending physician shifts for these exact periods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0" y="137905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45152" y="137905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Light green cells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17920" y="137905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Low volume → safe to schedule maintenance, reduce on-call, or hold training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0" y="1781392"/>
            <a:ext cx="429768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45152" y="17813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Consistent dark row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17920" y="178139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Day of week is structurally busy → adjust the permanent roster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0" y="218372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645152" y="21837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Single dark cell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17920" y="218372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One-off spike → investigate specific local event or seasonal factor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0" y="2586064"/>
            <a:ext cx="429768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645152" y="25860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Dark column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217920" y="258606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Entire month is high → allocate more travelers or per-diem nurses for that month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0" y="298840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645152" y="2988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Diagonal pattern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17920" y="298840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Shifting peak suggests patient behavior change → analyze by admission type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4320" y="2951824"/>
            <a:ext cx="8595360" cy="3108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47472" y="295182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Staffing Recommendations from the Heatmap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3317584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74320" y="3317584"/>
            <a:ext cx="109728" cy="274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57200" y="33175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</a:rPr>
              <a:t>Sunday (88 admissions — highest single day):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2724912" y="3317584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Add 2 additional RNs to Sunday night emergency shifts. Increase attending physician weekend coverage.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74320" y="3646768"/>
            <a:ext cx="8595360" cy="2743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74320" y="3646768"/>
            <a:ext cx="109728" cy="274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57200" y="3646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</a:rPr>
              <a:t>Sep–Oct (58 and 57 monthly admissions):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2724912" y="3646768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Hire 3 per-diem nurses for September and October. Alert Respiratory Care (highest volume dept) for surge staffing.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74320" y="3975952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274320" y="3975952"/>
            <a:ext cx="109728" cy="274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57200" y="3975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</a:rPr>
              <a:t>May (20.5% readmission spike):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2724912" y="3975952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Deploy discharge planning coordinator specifically to May discharges. Review April patient cohort for high-risk conditions.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74320" y="4305136"/>
            <a:ext cx="8595360" cy="2743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274320" y="4305136"/>
            <a:ext cx="109728" cy="274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57200" y="43051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</a:rPr>
              <a:t>April (29 admissions — lowest month):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2724912" y="4305136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Schedule capital maintenance, mandatory staff training, and EMR system upgrades in April to minimize patient impact.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74320" y="4670896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384048" y="467089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💡  TABLEAU TIP: Add a Facility slicer to the dashboard. Clicking 'North Medical Center' will update the heatmap to show peak times specifically for that facility (15% readmit rate vs. Downtown's 8.1%).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🌳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8: Sheet 4 – Readmission Treemap by Specialty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Readmission Count  ·  Size = Volume  ·  Color = Rate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404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4: Readmission Treemap by Specialty — Build Steps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46888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0954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treemap makes relative readmission volume visible instantly. Largest rectangle = most readmissions = most intervention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87933"/>
            <a:ext cx="859536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587933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First: create a Readmission Count calculated field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953693"/>
            <a:ext cx="85953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953693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→ Create Calculated Field → Name: "Readmission Count"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SUM([ReadmissionFlag])    // Sums all the 1s in ReadmissionFlag column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14772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6147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Then Build the Treemap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17108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01710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20171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New sheet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2017108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Rename: 'Readmission Treemap'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55436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35543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235543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Show Me → Treemap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8840" y="2355436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 Show Me panel (top-right), click Treemap. Canvas switches to a treemap layout.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693764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69376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" y="2693764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Specialty to Detail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48840" y="2693764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From DimDoctor. One rectangle per specialty appears.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32092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03209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303209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Readmission Count to Size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3032092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Larger rectangle = more readmissions. Cardiology (12) will be largest.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370420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37042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" y="33704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Readmission Rate to Color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48840" y="3370420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Drag your Readmission Rate calculated field to Color. Sets gradient coloring.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708748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70874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" y="370874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Edit color palette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48840" y="3708748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Click Color → Edit Colors → Sequential → Red-Blue Diverging. Red = high rate, Blue = low.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047076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04707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" y="404707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Specialty Labels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48840" y="4047076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Marks Card → Label → Show Mark Labels. Tableau fits labels into rectangles automatically.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385404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38540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" y="4385404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Readmission Count to Label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148840" y="4385404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Also drag Readmission Count to Label. Shows count inside each rectangle.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72373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72373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6656" y="472373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Title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148840" y="4723732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Double-click title → 'Readmissions by Medical Specialty'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1614772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663440" y="16147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the Treemap Will Show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63440" y="2017108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663440" y="2017108"/>
            <a:ext cx="109728" cy="2834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28032" y="2017108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Cardiology: 12 readmits (18.5% rate)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03720" y="2017108"/>
            <a:ext cx="19385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65 admissions · LARGEST rectangle — highest count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2355436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63440" y="2355436"/>
            <a:ext cx="109728" cy="2834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28032" y="2355436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</a:rPr>
              <a:t>Endocrinology: 10 readmits (16.4% rate)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903720" y="2355436"/>
            <a:ext cx="19385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61 admissions · 2nd largest — diabetes &amp; metabolism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63440" y="2693764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663440" y="2693764"/>
            <a:ext cx="109728" cy="2834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828032" y="2693764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</a:rPr>
              <a:t>Pulmonology: 9 readmits (8.4% rate)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903720" y="2693764"/>
            <a:ext cx="19385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107 admissions · Large volume but good rate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63440" y="3032092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663440" y="3032092"/>
            <a:ext cx="109728" cy="2834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828032" y="3032092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Nephrology: 6 readmits (12.8% rate)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903720" y="3032092"/>
            <a:ext cx="19385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47 admissions · Medium box — CKD patients 29.4% readmit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663440" y="3370420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663440" y="3370420"/>
            <a:ext cx="109728" cy="2834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828032" y="3370420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Internal Medicine: 6 readmits (11.1% rate)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903720" y="3370420"/>
            <a:ext cx="19385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54 admissions · Medium concern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663440" y="3708748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663440" y="3708748"/>
            <a:ext cx="109728" cy="2834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828032" y="3708748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Orthopedics: 5 readmits (20.8% rate)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903720" y="3708748"/>
            <a:ext cx="19385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24 admissions · Highest RATE, smaller box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663440" y="4047076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663440" y="4047076"/>
            <a:ext cx="109728" cy="2834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828032" y="4047076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</a:rPr>
              <a:t>Oncology: 1 readmit (2.3% rate)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903720" y="4047076"/>
            <a:ext cx="19385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44 admissions · ✅  SMALLEST + lightest color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0" y="4376260"/>
            <a:ext cx="4297680" cy="676656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590288" y="452256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Cardiology generates the most readmissions (12) in absolute terms. Orthopedics has the highest RATE (20.8%) from a smaller volume. Oncology is the benchmark of excellence: 44 admissions, only 1 readmission.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🔵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9: Sheet 5 – LOS vs. Cost Scatter Plot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Avg LOS (X)  ·  Avg Cost (Y)  ·  Size = Admissions  ·  Color = Dept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404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6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5: LOS vs. Cost Scatter Plot — Build Steps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7432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231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This scatter identifies the 'expensive AND inefficient' quadrant — departments with both high cost and long stays simultaneously.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15095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15095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Step-by-Step 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17431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117431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" y="1117431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New sheet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1117431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Rename: 'LOS vs Cost Scatter'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483191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483191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483191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Department to Detail mark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1483191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From DimDoctor. In Marks Card → Detail. Each dot represents one department.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848951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848951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1848951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AVG(LengthOfStay) to Columns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8840" y="1848951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the pill → Measure → Average. X-axis = avg days per department.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214711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214711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" y="2214711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AVG(Cost) to Rows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48840" y="2214711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→ Measure → Average. Y-axis = avg cost per department.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580471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580471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2580471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COUNT(AdmissionID) to Size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2580471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Larger circles = departments with more patients. Respiratory Care is largest (107).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46231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2946231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" y="2946231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Department to Color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48840" y="2946231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Each department gets a distinct color. Or use Readmission Rate for a gradient.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311991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311991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" y="3311991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Department to Label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48840" y="3311991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Show department names on each bubble. Adjust font size.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677751"/>
            <a:ext cx="420624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677751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" y="3677751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trend line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48840" y="3677751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Analytics pane → Trend Line → Linear. Shows overall LOS-Cost correlation direction.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097695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097695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" y="4097695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reference lines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148840" y="4097695"/>
            <a:ext cx="2295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Analytics pane → Average Line → drag to X axis (avg LOS). Drag another to Y axis (avg cost). Creates 4 quadrants.</a:t>
            </a:r>
            <a:endParaRPr lang="en-US" sz="950" dirty="0"/>
          </a:p>
        </p:txBody>
      </p:sp>
      <p:graphicFrame>
        <p:nvGraphicFramePr>
          <p:cNvPr id="45" name="Chart 0"/>
          <p:cNvGraphicFramePr/>
          <p:nvPr>
            <p:extLst>
              <p:ext uri="{D42A27DB-BD31-4B8C-83A1-F6EECF244321}">
                <p14:modId xmlns:p14="http://schemas.microsoft.com/office/powerpoint/2010/main" val="1989521132"/>
              </p:ext>
            </p:extLst>
          </p:nvPr>
        </p:nvGraphicFramePr>
        <p:xfrm>
          <a:off x="4663440" y="715095"/>
          <a:ext cx="42062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Shape 43"/>
          <p:cNvSpPr/>
          <p:nvPr/>
        </p:nvSpPr>
        <p:spPr>
          <a:xfrm>
            <a:off x="274320" y="4628727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384048" y="4628727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The TOP-RIGHT quadrant (high LOS + high cost) = Kidney Care ($14,390 · 4.28d) and Diabetes &amp; Metabolism ($14,048 · 4.48d). Both also have elevated readmission rates. Triple burden on hospital resources.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5: Reading the Scatter — 4-Quadrant Clinical Analysis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305671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305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60157"/>
            <a:ext cx="859536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560157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intersection of average LOS and average cost creates 4 operational quadrants. Each quadrant demands a different CMO response.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36229"/>
            <a:ext cx="4251960" cy="166420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191093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TOP-RIGHT ⚠️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483701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HIGH LOS + HIGH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739733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Kidney Care: $14,390 · 4.28d · 12.8% readmit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Diabetes &amp; Metabolism: $14,048 · 4.48d · 16.4% readmit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Neuroscience: $13,983 · 4.05d · 9.8% readmit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71232" y="1739733"/>
            <a:ext cx="1261872" cy="8229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71232" y="1739733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PRIORITY FOR INTERVENTION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resource use + poor outcomes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136229"/>
            <a:ext cx="4251960" cy="1664208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191093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TOP-LEFT 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1483701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LOW LOS + HIGH COST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1739733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Cardiac Care: $14,312 · 3.69d · 18.5% readmit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High cost despite shorter stays — intensive procedures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82112" y="1739733"/>
            <a:ext cx="1261872" cy="8229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82112" y="1739733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INVESTIGATE UNIT COSTS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Short stays should not be this expensive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919309"/>
            <a:ext cx="4251960" cy="1664208"/>
          </a:xfrm>
          <a:prstGeom prst="rect">
            <a:avLst/>
          </a:prstGeom>
          <a:solidFill>
            <a:srgbClr val="DBEAFE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974173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BOTTOM-RIGHT 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266781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HIGH LOS + LOW COST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522813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Cancer Center: $12,045 · 4.00d · 2.3% readmit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Longer stays BUT near-zero readmissions — worth the investment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71232" y="3522813"/>
            <a:ext cx="1261872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71232" y="3522813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DEPARTMENT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Invest in longer stays that prevent readmission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919309"/>
            <a:ext cx="4251960" cy="166420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2974173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BOTTOM-LEFT 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266781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LOW LOS + LOW COST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522813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Surgery: $8,956 · 3.00d · 20.8% readmit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Respiratory Care: $11,843 · 3.51d · 8.4% readmit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Emergency: $11,250 · 3.43d · 10.0% readmit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82112" y="3522813"/>
            <a:ext cx="1261872" cy="8229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82112" y="3522813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WATCH SURGERY READMIT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Efficient but Surgery readmit rate is alarming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693245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" y="4693245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📋  For Q4 (LOS Root Cause): Diabetes &amp; Metabolism has the longest LOS (4.48d). The patient profile: Age 75+ · Medicare · Diabetes as chronic condition = the highest-risk cohort. Recommend geriatric diabetes fast-track protocol.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6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🎛️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10: Dashboard Assembly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5 Sheets + KPI Cards + Filters + Actions + Polish + Publish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404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Dashboard — Setup and Layout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9090"/>
            <a:ext cx="1554480" cy="223375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9090"/>
            <a:ext cx="1554480" cy="22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70507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dashboard combines all 5 sheets into one interactive CMO report. Build it in this sequence to avoid layout conflicts.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70507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370507"/>
            <a:ext cx="530352" cy="41148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370507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70507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132"/>
                </a:solidFill>
              </a:rPr>
              <a:t>Create New Dashboard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66160" y="370507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Click the Dashboard icon in the bottom tab bar (grid icon with '+') or go to Dashboard menu → New Dashboard.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855139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855139"/>
            <a:ext cx="530352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855139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855139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Set Dashboard Size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66160" y="855139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Dashboard menu → Size → Fixed → 1200 × 800 pixels. Fixed ensures consistent layout on all screens.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339771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1339771"/>
            <a:ext cx="530352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1339771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1339771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</a:rPr>
              <a:t>Add Title + KPI Text Objects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66160" y="1339771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 the left Objects panel, drag Text onto the top of the canvas. Type: 'Patient Flow &amp; Readmission Dashboard'. Add 4 more Text objects for KPI cards: 500 Admissions, 3.83 Avg LOS, 11.6% Readmission Rate, $12,728 Avg Cost.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1824403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1824403"/>
            <a:ext cx="530352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1824403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1824403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91B1B"/>
                </a:solidFill>
              </a:rPr>
              <a:t>Add Sheet 1 (Readmission Bar)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66160" y="1824403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From the Sheets panel (left), drag 'Readmission by Dept' onto the canvas below the title. Position left side.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2309035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309035"/>
            <a:ext cx="530352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2309035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2309035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</a:rPr>
              <a:t>Add Sheet 2 (Monthly Trend)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566160" y="2309035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Drag 'Monthly Trend' to the right side of the canvas, adjacent to the bar chart.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2793667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2793667"/>
            <a:ext cx="530352" cy="4114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2793667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" y="2793667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410C"/>
                </a:solidFill>
              </a:rPr>
              <a:t>Add Sheet 3 (Heatmap)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566160" y="2793667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Drag 'Peak Times Heatmap' to the bottom-left third.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278299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278299"/>
            <a:ext cx="530352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3278299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" y="3278299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</a:rPr>
              <a:t>Add Sheet 4 (Treemap)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566160" y="3278299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Drag 'Readmission Treemap' to the bottom-center third.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3762931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4320" y="3762931"/>
            <a:ext cx="530352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" y="3762931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14400" y="3762931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</a:rPr>
              <a:t>Add Sheet 5 (Scatter)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566160" y="3762931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Drag 'LOS vs Cost Scatter' to the bottom-right third.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4247563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" y="4247563"/>
            <a:ext cx="530352" cy="4114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4320" y="4247563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14400" y="4247563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</a:rPr>
              <a:t>Resize each sheet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566160" y="4247563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Click and drag the borders between sheets to achieve balanced proportions.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707474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84048" y="470747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💡  Use 'Tiled' layout (default) for structured dashboards. Use 'Floating' only if you need precise pixel-level positioning. For a CMO presentation, Tiled is cleaner and more maintainable.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 — Visual Architecture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75863"/>
            <a:ext cx="1554480" cy="223375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75863"/>
            <a:ext cx="1554480" cy="22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56955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This is the target layout. The top row answers 'are we on track?' and the bottom rows answer 'where and why?'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77579"/>
            <a:ext cx="859536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777579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TITLE: Patient Flow &amp; Readmission Analysis  |  FY2024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60947"/>
            <a:ext cx="2057400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160947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160947"/>
            <a:ext cx="2057400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160947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3.83 days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LOS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160947"/>
            <a:ext cx="2057400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160947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11.6%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Readmission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1160947"/>
            <a:ext cx="214884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1160947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$12,728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Cost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783419"/>
            <a:ext cx="4251960" cy="1170432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783419"/>
            <a:ext cx="42519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1B1B"/>
                </a:solidFill>
              </a:rPr>
              <a:t>📊  Sheet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1B1B"/>
                </a:solidFill>
              </a:rPr>
              <a:t>Readmission Rate by Department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1B1B"/>
                </a:solidFill>
              </a:rPr>
              <a:t>+ 21.9% National Benchmark 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1783419"/>
            <a:ext cx="4251960" cy="1170432"/>
          </a:xfrm>
          <a:prstGeom prst="rect">
            <a:avLst/>
          </a:prstGeom>
          <a:solidFill>
            <a:srgbClr val="DBEAFE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1783419"/>
            <a:ext cx="42519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📈  Sheet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Monthly Admissions Trend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+ Readmission Rate Dual 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579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063579"/>
            <a:ext cx="27432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</a:rPr>
              <a:t>🔥  Sheet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</a:rPr>
              <a:t>Peak Times Heatmap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</a:rPr>
              <a:t>Day × Month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54680" y="3063579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54680" y="3063579"/>
            <a:ext cx="27432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</a:rPr>
              <a:t>🌳  Sheet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</a:rPr>
              <a:t>Readmission Treemap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</a:rPr>
              <a:t>by Specialty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063579"/>
            <a:ext cx="28346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0" y="3063579"/>
            <a:ext cx="27432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7377"/>
                </a:solidFill>
              </a:rPr>
              <a:t>🔵  Sheet 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7377"/>
                </a:solidFill>
              </a:rPr>
              <a:t>LOS vs. Cost Scatter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7377"/>
                </a:solidFill>
              </a:rPr>
              <a:t>by Department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618059"/>
            <a:ext cx="8595360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4618059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FILTER STRIP: Facility  ·  Admission Type  ·  Department  ·  Insurance Provider  ·  Age Group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Filters and Dashboard Actions — Interactivity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75863"/>
            <a:ext cx="1554480" cy="258645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75863"/>
            <a:ext cx="1554480" cy="258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56959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Filters and Actions turn a static report into an exploration tool the CMO can use without technical assistance.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696307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696307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 Essential Filters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98643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098643"/>
            <a:ext cx="109728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10135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Facility (Tile style, 4 buttons)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253080"/>
            <a:ext cx="23808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Source: FacilityID from FactAdmissions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467114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Click 'North Medical Center' → instantly see its 15% readmit rate vs. Downtown's 8.1%.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720435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1720435"/>
            <a:ext cx="109728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72314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Admission Type (Checkbox list)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1881645"/>
            <a:ext cx="23808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Source: AdmissionType from FactAdmissions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088906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Filter to 'Emergency' only to see how emergency-specific patterns differ from elective.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342227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342227"/>
            <a:ext cx="109728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34493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Department (Dropdown)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523756"/>
            <a:ext cx="238082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Source: Department from DimDoctor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710698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Drill into one department's trend, heatmap, and LOS all at once.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64019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964019"/>
            <a:ext cx="109728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296673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Insurance Provider (Checkbox)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098137"/>
            <a:ext cx="259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Source: InsuranceProvider from DimPatient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3332490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Medicare (14% readmit) vs. Kaiser (3.4% readmit) — dramatic payer-level differences.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585811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585811"/>
            <a:ext cx="109728" cy="5852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58852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Age Group (Tile buttons)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199" y="3740248"/>
            <a:ext cx="238082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Source: Create calculated field: Age Group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954282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18-34 · 35-49 · 50-64 · 65-74 · 75+ — 75+ has 16.7% readmit rate vs 7.8% for 18-34.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696307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696307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 Dashboard Actions — Click to Filter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1098643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1098643"/>
            <a:ext cx="4206240" cy="3108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1144363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 Action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1464403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How: Dashboard → Actions → Add Action → Filter. Source: Readmission Bar Chart. Target: All Worksheets. Run on: Select.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1903315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D7377"/>
                </a:solidFill>
              </a:rPr>
              <a:t>Result: Clicking 'Cardiac Care' bar instantly filters the heatmap, scatter, and treemap to show only Cardiac Care data.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2269075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2269075"/>
            <a:ext cx="420624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2314795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Highlight Action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4880" y="2634835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How: Dashboard → Actions → Add Action → Highlight. Source: Any sheet. Target: All. Run on: Hover. Fields: Department.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3073747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D4ED8"/>
                </a:solidFill>
              </a:rPr>
              <a:t>Result: Hovering over any department name highlights that department across all 5 charts simultaneously.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439507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63440" y="3439507"/>
            <a:ext cx="420624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54880" y="3485227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URL Action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4880" y="3805267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How: Dashboard → Actions → Add Action → URL. Source: Treemap. URL: https://[hospital-intranet]/dept/&lt;Specialty&gt;.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54880" y="4244179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D97706"/>
                </a:solidFill>
              </a:rPr>
              <a:t>Result: Clicking a specialty rectangle opens the department's clinical protocol page. Connects data to action.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4646515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4048" y="4646515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💡  Most powerful action: clicking 'Cardiac Care' on the bar chart filters every other chart to Cardiac Care only. The CMO can then see: when do Cardiac Care admissions peak? What's their LOS vs cost position? Who readmits?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7707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277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Calculated Fields — Tableau Formulas for This Dataset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55543"/>
            <a:ext cx="1554480" cy="178526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55543"/>
            <a:ext cx="1554480" cy="178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4181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Create all via Analysis → Create Calculated Field. All use Tableau's formula syntax. Enter exactly as written.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67616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567616"/>
            <a:ext cx="109728" cy="42062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59504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Readmission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805360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% of admissions that result in readmission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604192"/>
            <a:ext cx="63550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23744" y="604192"/>
            <a:ext cx="6272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SUM([ReadmissionFlag]) / COUNT([AdmissionID])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052248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052248"/>
            <a:ext cx="109728" cy="42062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0796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Readmission Count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1289992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Total number of readmitted admissions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1088824"/>
            <a:ext cx="63550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23744" y="1088824"/>
            <a:ext cx="6272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SUM([ReadmissionFlag])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1516556"/>
            <a:ext cx="8595360" cy="87578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1516557"/>
            <a:ext cx="109728" cy="8757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1543989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</a:rPr>
              <a:t>Age Group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1754301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Categorize patients into age brackets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68880" y="1553133"/>
            <a:ext cx="6355080" cy="8392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23744" y="1729242"/>
            <a:ext cx="627278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[Age] &lt; 18 THEN 'Under 18'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 [Age] &lt; 35 THEN '18-34'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 [Age] &lt; 50 THEN '35-49'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 [Age] &lt; 65 THEN '50-64'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 [Age] &lt; 75 THEN '65-74'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'75+' END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414363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2414363"/>
            <a:ext cx="109728" cy="4206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441795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Is High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2652107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Flag patients with chronic conditions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68880" y="2450939"/>
            <a:ext cx="63550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23744" y="2450939"/>
            <a:ext cx="6272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[ChronicCondition] = 'None' THEN 'Low Risk' ELSE 'High Risk' END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871903"/>
            <a:ext cx="8595360" cy="65395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2898995"/>
            <a:ext cx="109728" cy="7680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2899335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LOS Category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109647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Categorize stay length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68880" y="2908479"/>
            <a:ext cx="6355080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23744" y="2908479"/>
            <a:ext cx="6272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[LengthOfStay] &lt;= 2 THEN 'Short (1-2d)'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 [LengthOfStay] &lt;= 5 THEN 'Medium (3-5d)'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'Long (6d+)' END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552953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552953"/>
            <a:ext cx="109728" cy="4206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3580385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Cost per LOS Day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3790697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Efficiency measure: cost divided by days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468880" y="3589529"/>
            <a:ext cx="63550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523744" y="3589529"/>
            <a:ext cx="6272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SUM([Cost]) / SUM([LengthOfStay])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037585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4037585"/>
            <a:ext cx="109728" cy="42062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4065017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Readmit Above Benchmark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275329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Flag if dept readmit rate &gt; 21.9%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468880" y="4074161"/>
            <a:ext cx="63550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523744" y="4074161"/>
            <a:ext cx="6272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SUM([ReadmissionFlag]) / COUNT([AdmissionID]) &gt; 0.219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4522217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74320" y="4522217"/>
            <a:ext cx="109728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7200" y="4549649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Above Avg Cost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4759961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Flag high-cost admissions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468880" y="4558793"/>
            <a:ext cx="63550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523744" y="4558793"/>
            <a:ext cx="6272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[Cost] &gt; WINDOW_AVG(SUM([Cost]))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Compliance in Tableau — What to Hide Before Sharing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8207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Healthcare data comes with legal obligations. These steps simulate HIPAA compliance for this class dataset.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68831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68831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105407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Hide Patient 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306575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Right-click Name in DimPatient Data pane → Hide. Never show in any visualization. Full name = PHI under HIPAA.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62607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562607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1599183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Hide PatientID in visuals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1800351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PatientID is a direct identifier. Ensure no table or scatter plot shows individual patient rows.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56383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056383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092959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No individual patient records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294127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All Tableau visuals should show aggregates: SUM, AVG, COUNT. Never show raw row-level patient data.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50159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550159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258673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Aggregated data is acceptable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2787903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All 5 dashboard sheets show department/specialty-level aggregates. These are safe to display.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43935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043935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3080511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Age Group instead of 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281679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Using Age Group (18-34, 35-49 etc.) rather than exact age provides useful analysis without identifying individuals.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37711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537711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" y="3574287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Tableau Row-Level Security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" y="3775455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In Tableau Server/Cloud production: configure RLS so Dr. Johnson sees only her own patients, not the whole hospital.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31487"/>
            <a:ext cx="859536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031487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4068063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Diagnosis field — aggregate only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" y="4269231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Diagnosis names are safe in aggregate charts (e.g., count of Atrial Fibrillation admissions). Never show per-patient diagnosis.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525263"/>
            <a:ext cx="8595360" cy="51663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525263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4672" y="4561839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Publish to Tableau Public with care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" y="4763007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Tableau Public is fully public. For real patient data, publish to Tableau Server or Cloud with access controls. For this class dataset: Tableau Public is acceptable.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&amp; Polish — Professional Dashboard Finish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7498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Color Consistency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152144"/>
            <a:ext cx="3931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Use the SAME department colors across ALL 5 sheets — edit in Worksheet → Color Palette → Assign specific colors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Red = high readmit risk (Surgery, Cardiac Care). Green = low risk (Cancer Center, Respiratory Care)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Readmission Rate gradient: light blue (0%) → dark red (21%+)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Save your color palette as a custom palette for reuse across sheets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749808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749808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7498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Removing Chart Junk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7448" y="1152144"/>
            <a:ext cx="3931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Format → Lines → set Row/Column Dividers to None (removes heavy gridlines)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Format → Borders → Sheet Border → None (removes frame around charts)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Remove redundant axis headers when the title explains the axis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Worksheet → Show Header → uncheck for dimension headers when labels suffice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Tooltips for the CMO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3328416"/>
            <a:ext cx="3931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Worksheet → Tooltip → Edit. Write narrative tooltips for each sheet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Bar chart tooltip: 'Dept: [Department] | Readmit Rate: [Readmission Rate] | N Readmissions: [Readmission Count]'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Heatmap tooltip: '[DayOfWeek], [Month]: [COUNT(AdmissionID)] admissions | Avg Cost: [AVG(Cost)]'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Scatter tooltip: '[Department] | Avg LOS: [AVG(LengthOfStay)] days | Avg Cost: [AVG(Cost)] | Admissions: [COUNT]'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29260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2926080"/>
            <a:ext cx="411480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9260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Publishing to Tableau Public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7448" y="3328416"/>
            <a:ext cx="3931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File → Save to Tableau Public... (sign in with your Tableau Public account)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Dashboard uploads to public.tableau.com — accessible by anyone with the URL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Share the URL with your instructor for interactive grading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Also: File → Export as PDF for static submission to course portal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File → Export Image for inserting into Word/PowerPoint assignment documents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Dataset Reference — Verify Your Dashboard Values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2317"/>
            <a:ext cx="1554480" cy="211618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2317"/>
            <a:ext cx="1554480" cy="211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11147"/>
            <a:ext cx="859536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411147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Ground-truth values — filter your dashboard to each facility and verify these numbers match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813483"/>
            <a:ext cx="1920240" cy="822705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678696"/>
            <a:ext cx="1920240" cy="627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1096560"/>
            <a:ext cx="192024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Admissions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1386242"/>
            <a:ext cx="1920240" cy="217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COUNT(AdmissionID)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59152" y="813483"/>
            <a:ext cx="1920240" cy="822705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59152" y="678696"/>
            <a:ext cx="1920240" cy="627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3.83 days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359152" y="1096560"/>
            <a:ext cx="192024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Avg LOS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59152" y="1386242"/>
            <a:ext cx="1920240" cy="217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AVERAGE(LengthOfStay)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43984" y="813483"/>
            <a:ext cx="1920240" cy="822705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43984" y="678696"/>
            <a:ext cx="1920240" cy="627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11.6%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43984" y="1096560"/>
            <a:ext cx="192024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Readmission 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43984" y="1386242"/>
            <a:ext cx="1920240" cy="217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58 / 500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28816" y="813483"/>
            <a:ext cx="1920240" cy="8227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28816" y="678696"/>
            <a:ext cx="1920240" cy="627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$12,728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528816" y="1096560"/>
            <a:ext cx="1920240" cy="31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Avg Cost / Patient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28816" y="1386242"/>
            <a:ext cx="1920240" cy="217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AVERAGE(Cost)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952034"/>
              </p:ext>
            </p:extLst>
          </p:nvPr>
        </p:nvGraphicFramePr>
        <p:xfrm>
          <a:off x="274320" y="1662418"/>
          <a:ext cx="8412480" cy="4267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Admissions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Avg LOS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Readmit%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Avg Cost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Facility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Downtown Campus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3.98d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8.1%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$12,913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Facility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East Wing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4.02d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9.7%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$13,648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Facility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North Medical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133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3.67d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15.0%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$12,600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Facility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West Community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3.64d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13.4%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$11,719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Dept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Surgery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3.00d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20.8%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$8,956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Dept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Cardiac Care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3.69d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18.5%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$14,312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Dept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Diabetes &amp; Metab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4.48d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16.4%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$14,048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Dept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Respiratory Care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3.51d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8.4%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$11,843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Dept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Cancer Center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4.00d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2.3%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$12,045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Adm Type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Emergency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189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3.80d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10.1%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$13,581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Adm Type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Urgent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5.19d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8.5%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$16,082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Adm Type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Elective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2.59d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15.0%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$7,895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Age Group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75+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4.47d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16.7%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$16,202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Age Group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18-34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3.95d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7.8%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$12,660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Insurance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Medicare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164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3.99d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14.0%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$13,283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Insurance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Kaiser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3.90d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3.4%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$12,715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Condition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CKD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4.12d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29.4%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$16,704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Condition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Heart Failure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3.95d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19.5%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$16,968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4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Condition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3.71d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5.7%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$11,735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Questions — Model Answers from Actual Data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55544"/>
            <a:ext cx="1554480" cy="223375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55544"/>
            <a:ext cx="1554480" cy="22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36637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These are data-backed model answers for Q6B and Q8 (Written Analysis). Cite specific numbers — vague answers lose marks.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669206"/>
            <a:ext cx="8595360" cy="656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669206"/>
            <a:ext cx="109728" cy="656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69663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Q1: Are there periods where admissions consistently exceed discharges? Does this indicate bed blocking?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943526"/>
            <a:ext cx="8321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September (58 admissions) and October (57) are peak months — 23% of all admissions in just 2 months. If discharge volume cannot match this pace, beds are blocked. October also has the highest readmission rate (17.5%), suggesting inadequate recovery time before discharge. Recommend: full staffing in September–October, dedicated discharge coordinators in those months.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372614"/>
            <a:ext cx="8595360" cy="656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372614"/>
            <a:ext cx="109728" cy="66344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40004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Q2: What is the hospital's overall readmission rate? Which departments exceed the 21.9% benchmark?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1646934"/>
            <a:ext cx="8321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Overall: 11.6% — well below the 21.9% national benchmark. No department technically exceeds the benchmark, but Surgery (20.8%) is critically close and Cardiac Care (18.5%) generates the most absolute readmissions (12 patients). Both require immediate protocol intervention. Cancer Center (2.3%) is the benchmark of excellence.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82796"/>
            <a:ext cx="8595360" cy="656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082796"/>
            <a:ext cx="109728" cy="6566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11022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</a:rPr>
              <a:t>Q3: Which day of the week has the highest admissions? How should staffing be adjusted?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357116"/>
            <a:ext cx="8321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Sunday has the highest admissions at 88 (17.6% of all admissions) — counterintuitive but data-confirmed. Friday is 2nd at 79. Saturday is lowest at 58. Recommendation: add 2 additional RNs to Sunday night shifts, ensure attending physician coverage on Sunday evenings, and reduce Saturday elective procedures to match lower demand.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86204"/>
            <a:ext cx="8595360" cy="656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786204"/>
            <a:ext cx="109728" cy="656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81363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Q4: Which department has the longest LOS? What patient profile drives it?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060524"/>
            <a:ext cx="8321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Diabetes &amp; Metabolism has the longest LOS at 4.48 days, followed by Kidney Care at 4.28 days. The scatter plot shows both have high LOS AND high cost — the double-burden quadrant. The highest-risk patient profile: Age 75+ → Medicare insurance → Diabetes as chronic condition. CKD patients have a 29.4% readmission rate. Recommend a geriatric diabetes fast-track discharge protocol.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489612"/>
            <a:ext cx="8595360" cy="656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489612"/>
            <a:ext cx="109728" cy="6566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51704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8D9"/>
                </a:solidFill>
              </a:rPr>
              <a:t>Q5: Which specialty has the most readmissions? Which the fewest?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763932"/>
            <a:ext cx="8321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Cardiology has the most readmissions in absolute terms: 12 readmissions from 65 admissions (18.5% rate). The treemap makes this largest rectangle visible immediately. Oncology has the fewest: only 1 readmission from 44 admissions (2.3%). Study Oncology's discharge and follow-up protocols as a model for high-volume, low-readmission performance.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193020"/>
            <a:ext cx="8595360" cy="656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4193020"/>
            <a:ext cx="109728" cy="6566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22045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</a:rPr>
              <a:t>Q6: What is the avg cost per patient? Is readmission rate above or below the 21.9% benchmark?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467340"/>
            <a:ext cx="8321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Average cost: $12,728 per admission. The hospital's 11.6% overall readmission rate is 47% BELOW the national benchmark — a significant quality achievement. However, each percentage point above benchmark would trigger Medicare penalty. Reducing LOS by 0.5 days across 500 admissions (average cost ~$3,300/day) would save approximately $825,000 annually.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Written Analysis — CMO Memo Template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75862"/>
            <a:ext cx="1554480" cy="243949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75862"/>
            <a:ext cx="1554480" cy="243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027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Q8 is 10 points. Strong memos cite specific numbers, name specific departments, estimate financial impact, and give a timeline.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81158"/>
            <a:ext cx="859536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58115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  TO: Chief Medical Officer  ·  FROM: Data Analyst  ·  RE: Patient Flow &amp; Readmission Dashboard Findings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38357"/>
            <a:ext cx="8595360" cy="6251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038357"/>
            <a:ext cx="109728" cy="62517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06579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312678"/>
            <a:ext cx="8321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This hospital processed 500 admissions in FY2024 with an average length of stay of 3.83 days and an overall readmission rate of 11.6% — 47% below the national benchmark of 21.9%. Total admission cost was $6.36M at $12,728 per admission. Despite strong overall performance, two departments require immediate intervention and one peak-timing pattern requires urgent staffing action.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87581"/>
            <a:ext cx="8595360" cy="6251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687581"/>
            <a:ext cx="109728" cy="625173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71501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Finding 1 — Surgery Readmission Risk (Bar Chart, Sheet 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1961902"/>
            <a:ext cx="8321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Surgery's 20.8% readmission rate (5 readmissions from 24 admissions) is 0.9 percentage points below the Medicare penalty threshold of 21.9%. At the current trajectory, any increase in case complexity could trigger a financial penalty. Dr. Robert Martinez specifically has a 26.7% rate from 15 admissions. This requires a targeted clinical review.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36805"/>
            <a:ext cx="8595360" cy="6251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336805"/>
            <a:ext cx="109728" cy="625173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36423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Recommendation 1 — 30-Day Follow-Up Protocol for Surgery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611126"/>
            <a:ext cx="8321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Implement a structured 30-day post-discharge telephone follow-up for all surgical patients. Evidence shows this reduces readmissions by 15–25%. Estimated impact: reducing surgery readmit from 20.8% to 15% prevents approximately 1.4 readmissions and avoids Medicare penalty exposure. Assign a nurse navigator to Dr. Martinez's patient cohort specifically. Timeline: pilot in 90 days.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86029"/>
            <a:ext cx="8595360" cy="6251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986029"/>
            <a:ext cx="109728" cy="625173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01346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Finding 2 — September–October Admission Surge (Trend Chart, Sheet 2)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260350"/>
            <a:ext cx="8321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September (58 admissions, 10.3% readmit) and October (57 admissions, 17.5% readmit) together account for 23% of annual volume in just 2 months. October's readmission rate spikes to 17.5% — the highest of any month. The heatmap (Sheet 3) shows Sunday is the single busiest day (88 admissions), requiring full weekend coverage.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35253"/>
            <a:ext cx="8595360" cy="6251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635253"/>
            <a:ext cx="109728" cy="625173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66268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Recommendation 2 — Seasonal Staffing Protocol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909574"/>
            <a:ext cx="8321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Increase nursing ratios by 20% in September and October. Add 2 per-diem RNs to Sunday night shifts year-round. Assign a dedicated discharge coordinator to all October admissions specifically to address the readmission spike. Schedule capital maintenance and non-urgent procedures in April (lowest volume month, 29 admissions). Estimated cost of surge staffing: ~$45,000. Estimated value of prevented readmissions: ~$90,000.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494790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449479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💡  High-scoring memos: cite specific numbers (20.8% rate, 0.9 percentage points below threshold), specific doctor names (Dr. Martinez), financial estimates ($45K cost vs. $90K return), and measurable timelines (90 days).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Troubleshooting Guide — 10 Common Problems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749808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Readmission Rate shows 1.0 (100%)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749808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COUNT denominator is wrong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0" y="749808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Ensure the formula is: SUM([ReadmissionFlag]) / COUNT([AdmissionID]). If you used SUM in the denominator it returns 1.0.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188720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1188720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Department or Specialty is missing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23160" y="1188720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DimDoctor relationship not set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1188720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Go to Data Source tab. Drag DimDoctor.csv onto the canvas. Set join key: DoctorID = DoctorID.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627632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1627632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1627632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1627632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Trend line not appearing on line chart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1627632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Chart is not recognized as a scatter/line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1627632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In Analytics pane, Trend Line is only available for scatter and line charts with continuous axes. Ensure Month is on Columns shelf as DISCRETE then CONTINUOUS.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066544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066544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066544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" y="2066544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Heatmap shows text, not color squares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23160" y="2066544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Mark type is not Square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2066544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Marks Card dropdown → change to Square. Then drag COUNT to Color mark.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505456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2505456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2505456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" y="2505456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Treemap rectangles are wrong size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23160" y="2505456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Wrong field in Size mark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0" y="2505456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Remove whatever is in Size mark. Drag [Readmission Count] calculated field (SUM of ReadmissionFlag) to Size.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944368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2944368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2944368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" y="2944368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Scatter plot shows one dot only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23160" y="2944368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Department not on Detail mark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0" y="2944368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Drag Department from DimDoctor to the Detail mark in the Marks Card. This separates one dot per department.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383280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4320" y="3383280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" y="3383280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" y="3383280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21.9% line appears at wrong value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423160" y="3383280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Entered 21.9 instead of 0.219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0" y="3383280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In Analytics → Constant Line, enter 0.219 not 21.9. Tableau uses the same decimal format as your measure (which is a proportion, not a percentage).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822192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74320" y="3822192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3822192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" y="3822192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AdmissionDate doesn't connect to DimDate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423160" y="3822192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Different date formats in CSVs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0" y="3822192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Both must be Date type. Check Data Source tab — click Abc icon above Date column → change to Date for both tables.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261104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74320" y="4261104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4261104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0352" y="4261104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Filter doesn't affect all sheets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423160" y="4261104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Filter applied only to one worksheet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0" y="4261104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Right-click filter card in Dashboard → Apply to Worksheets → All Using This Data Source.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4700016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74320" y="4700016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4700016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30352" y="4700016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Names appear in tooltip (HIPAA risk)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423160" y="4700016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Name field added accidentally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572000" y="4700016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Right-click Name in the Data pane → Hide. This removes it from all dropdowns and prevents accidental use.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Checklist — Before You Submit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CHECKLIST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Complete every item before submitting your Tableau workbook and written analysis.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Connection (Q1 – 10 pts)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395020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All 4 CSV files connected: FactAdmissions (500), DimPatient (150), DimDoctor (20), DimDate (366)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3 relationships in Data Source tab: PatientID, DoctorID, AdmissionDate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Field types correct: LengthOfStay = Number, AdmissionDate = Date, ReadmissionFlag = Number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Screenshot of Data Source tab showing all 3 relationship noodle lines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170432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1704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Calculated Fields &amp; Measures (Q2 – 10 pts)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572768"/>
            <a:ext cx="395020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Readmission Rate = SUM([ReadmissionFlag]) / COUNT([AdmissionID])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Verify: overall Readmission Rate = 11.6% (drag to a Text object on dashboard)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Readmission Count = SUM([ReadmissionFlag]) — verify = 58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Age Group calculated field created in DimPatient with 5 brackets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Is High Risk field: 'High Risk' if ChronicCondition ≠ None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59"/>
            <a:ext cx="4114800" cy="18965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1089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Visuals (Q6 – 15 pts)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511296"/>
            <a:ext cx="395020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Sheet 1: Bar chart — Readmission Rate by Department, sorted descending, 21.9% constant line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Sheet 2: Line chart — Monthly admissions + Readmission Rate dual-axis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Sheet 3: Heatmap — DayOfWeek × Month, Square marks, green-red color gradient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Sheet 4: Treemap — Specialty, Size = Readmission Count, Color = Readmission Rate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Sheet 5: Scatter — AVG(LOS) vs. AVG(Cost), Size = admissions count, Dept on Detail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Dashboard tab with all 5 sheets + KPI cards + at least 2 active filters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3108959"/>
            <a:ext cx="4114800" cy="18965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17720" y="3108960"/>
            <a:ext cx="411480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31089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Written Analysis (Q8 – 10 pts)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511296"/>
            <a:ext cx="395020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Surgery readmission rate (20.8%) flagged as near-benchmark risk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September/October peak volumes identified with staffing recommendation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Sunday (88 admissions) highlighted as counterintuitive peak day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2 specific recommendations with financial estimates and timelines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HIPAA: Name field hidden, no individual patient records in any visual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Tableau Public link OR PDF export included with submission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42B50"/>
          </a:solidFill>
          <a:ln w="12700">
            <a:solidFill>
              <a:srgbClr val="14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731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✅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Tableau Dashboard Complete!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You can now build a professional healthcare analytics dashboard from raw clinical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944368"/>
            <a:ext cx="4572000" cy="36576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0540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D0"/>
                </a:solidFill>
              </a:rPr>
              <a:t>4 CSVs connected  ·  3 relationships  ·  Calculated fields  ·  5 chart types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381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D0"/>
                </a:solidFill>
              </a:rPr>
              <a:t>Filters  ·  Dashboard Actions  ·  HIPAA compliance  ·  Published  ·  CMO memo ready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9DC0"/>
                </a:solidFill>
              </a:rPr>
              <a:t>Submit: Tableau Public link + PDF export + written analysis → course portal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DC0"/>
                </a:solidFill>
              </a:rPr>
              <a:t>MG628  ·  Week 6  ·  Data Analysis for Managerial Decision-Making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8851</Words>
  <Application>Microsoft Office PowerPoint</Application>
  <PresentationFormat>On-screen Show (16:9)</PresentationFormat>
  <Paragraphs>1040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Flow &amp; Readmission – Tableau Dashboard Walkthrough</dc:title>
  <dc:subject>PptxGenJS Presentation</dc:subject>
  <dc:creator>PptxGenJS</dc:creator>
  <cp:lastModifiedBy>Fomba Kassoh</cp:lastModifiedBy>
  <cp:revision>2</cp:revision>
  <dcterms:created xsi:type="dcterms:W3CDTF">2026-05-30T08:50:53Z</dcterms:created>
  <dcterms:modified xsi:type="dcterms:W3CDTF">2026-05-30T18:26:47Z</dcterms:modified>
</cp:coreProperties>
</file>