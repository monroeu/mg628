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charts/chart4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97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Budget Allocated vs. Spent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Allocated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Lakefront</c:v>
                </c:pt>
                <c:pt idx="1">
                  <c:v>North Hills</c:v>
                </c:pt>
                <c:pt idx="2">
                  <c:v>Oak Park</c:v>
                </c:pt>
                <c:pt idx="3">
                  <c:v>East Heights</c:v>
                </c:pt>
                <c:pt idx="4">
                  <c:v>Westbrook</c:v>
                </c:pt>
                <c:pt idx="5">
                  <c:v>Midtown</c:v>
                </c:pt>
                <c:pt idx="6">
                  <c:v>Central Core</c:v>
                </c:pt>
                <c:pt idx="7">
                  <c:v>Harbor</c:v>
                </c:pt>
                <c:pt idx="8">
                  <c:v>Southgate</c:v>
                </c:pt>
                <c:pt idx="9">
                  <c:v>Univ. Heights</c:v>
                </c:pt>
                <c:pt idx="10">
                  <c:v>Riverside</c:v>
                </c:pt>
                <c:pt idx="11">
                  <c:v>Ind. Corridor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31240000</c:v>
                </c:pt>
                <c:pt idx="1">
                  <c:v>25470000</c:v>
                </c:pt>
                <c:pt idx="2">
                  <c:v>19880000</c:v>
                </c:pt>
                <c:pt idx="3">
                  <c:v>15090000</c:v>
                </c:pt>
                <c:pt idx="4">
                  <c:v>12080000</c:v>
                </c:pt>
                <c:pt idx="5">
                  <c:v>7200000</c:v>
                </c:pt>
                <c:pt idx="6">
                  <c:v>9310000</c:v>
                </c:pt>
                <c:pt idx="7">
                  <c:v>6680000</c:v>
                </c:pt>
                <c:pt idx="8">
                  <c:v>5050000</c:v>
                </c:pt>
                <c:pt idx="9">
                  <c:v>5570000</c:v>
                </c:pt>
                <c:pt idx="10">
                  <c:v>5130000</c:v>
                </c:pt>
                <c:pt idx="11">
                  <c:v>3160000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08-4BE1-A100-9D668CD2DA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Spent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Lakefront</c:v>
                </c:pt>
                <c:pt idx="1">
                  <c:v>North Hills</c:v>
                </c:pt>
                <c:pt idx="2">
                  <c:v>Oak Park</c:v>
                </c:pt>
                <c:pt idx="3">
                  <c:v>East Heights</c:v>
                </c:pt>
                <c:pt idx="4">
                  <c:v>Westbrook</c:v>
                </c:pt>
                <c:pt idx="5">
                  <c:v>Midtown</c:v>
                </c:pt>
                <c:pt idx="6">
                  <c:v>Central Core</c:v>
                </c:pt>
                <c:pt idx="7">
                  <c:v>Harbor</c:v>
                </c:pt>
                <c:pt idx="8">
                  <c:v>Southgate</c:v>
                </c:pt>
                <c:pt idx="9">
                  <c:v>Univ. Heights</c:v>
                </c:pt>
                <c:pt idx="10">
                  <c:v>Riverside</c:v>
                </c:pt>
                <c:pt idx="11">
                  <c:v>Ind. Corridor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21223465</c:v>
                </c:pt>
                <c:pt idx="1">
                  <c:v>7846465</c:v>
                </c:pt>
                <c:pt idx="2">
                  <c:v>11321856</c:v>
                </c:pt>
                <c:pt idx="3">
                  <c:v>8933408</c:v>
                </c:pt>
                <c:pt idx="4">
                  <c:v>6241607</c:v>
                </c:pt>
                <c:pt idx="5">
                  <c:v>2591959</c:v>
                </c:pt>
                <c:pt idx="6">
                  <c:v>6568775</c:v>
                </c:pt>
                <c:pt idx="7">
                  <c:v>4159708</c:v>
                </c:pt>
                <c:pt idx="8">
                  <c:v>3311849</c:v>
                </c:pt>
                <c:pt idx="9">
                  <c:v>2771159</c:v>
                </c:pt>
                <c:pt idx="10">
                  <c:v>2566586</c:v>
                </c:pt>
                <c:pt idx="11">
                  <c:v>2400375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08-4BE1-A100-9D668CD2DA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Equity Scatter Plot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Per Capita</c:v>
                </c:pt>
              </c:strCache>
            </c:strRef>
          </c:tx>
          <c:spPr>
            <a:ln w="25400" cap="flat">
              <a:solidFill>
                <a:srgbClr val="6D28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D28D9"/>
              </a:solidFill>
              <a:ln w="9525" cap="flat">
                <a:solidFill>
                  <a:srgbClr val="6D28D9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92000</c:v>
                </c:pt>
                <c:pt idx="1">
                  <c:v>41000</c:v>
                </c:pt>
                <c:pt idx="2">
                  <c:v>35000</c:v>
                </c:pt>
                <c:pt idx="3">
                  <c:v>78000</c:v>
                </c:pt>
                <c:pt idx="4">
                  <c:v>38000</c:v>
                </c:pt>
                <c:pt idx="5">
                  <c:v>67000</c:v>
                </c:pt>
                <c:pt idx="6">
                  <c:v>52000</c:v>
                </c:pt>
                <c:pt idx="7">
                  <c:v>45000</c:v>
                </c:pt>
                <c:pt idx="8">
                  <c:v>85000</c:v>
                </c:pt>
                <c:pt idx="9">
                  <c:v>42000</c:v>
                </c:pt>
                <c:pt idx="10">
                  <c:v>105000</c:v>
                </c:pt>
                <c:pt idx="11">
                  <c:v>48000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490</c:v>
                </c:pt>
                <c:pt idx="1">
                  <c:v>135</c:v>
                </c:pt>
                <c:pt idx="2">
                  <c:v>153</c:v>
                </c:pt>
                <c:pt idx="3">
                  <c:v>520</c:v>
                </c:pt>
                <c:pt idx="4">
                  <c:v>115</c:v>
                </c:pt>
                <c:pt idx="5">
                  <c:v>345</c:v>
                </c:pt>
                <c:pt idx="6">
                  <c:v>247</c:v>
                </c:pt>
                <c:pt idx="7">
                  <c:v>116</c:v>
                </c:pt>
                <c:pt idx="8">
                  <c:v>485</c:v>
                </c:pt>
                <c:pt idx="9">
                  <c:v>144</c:v>
                </c:pt>
                <c:pt idx="10">
                  <c:v>947</c:v>
                </c:pt>
                <c:pt idx="11">
                  <c:v>129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512-4024-9111-FECE52E3C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by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0C-4AA3-B18E-65954B7C77F6}"/>
              </c:ext>
            </c:extLst>
          </c:dPt>
          <c:dPt>
            <c:idx val="1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0C-4AA3-B18E-65954B7C77F6}"/>
              </c:ext>
            </c:extLst>
          </c:dPt>
          <c:dPt>
            <c:idx val="2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0C-4AA3-B18E-65954B7C77F6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0C-4AA3-B18E-65954B7C77F6}"/>
              </c:ext>
            </c:extLst>
          </c:dPt>
          <c:dPt>
            <c:idx val="4"/>
            <c:bubble3D val="0"/>
            <c:spPr>
              <a:solidFill>
                <a:srgbClr val="1665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40C-4AA3-B18E-65954B7C77F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40C-4AA3-B18E-65954B7C77F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40C-4AA3-B18E-65954B7C77F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40C-4AA3-B18E-65954B7C77F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40C-4AA3-B18E-65954B7C77F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40C-4AA3-B18E-65954B7C77F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Debt (33.6%)</c:v>
                </c:pt>
                <c:pt idx="1">
                  <c:v>Local (25.2%)</c:v>
                </c:pt>
                <c:pt idx="2">
                  <c:v>Federal (22.2%)</c:v>
                </c:pt>
                <c:pt idx="3">
                  <c:v>Private (17.0%)</c:v>
                </c:pt>
                <c:pt idx="4">
                  <c:v>State (1.9%)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49040000</c:v>
                </c:pt>
                <c:pt idx="1">
                  <c:v>36730000</c:v>
                </c:pt>
                <c:pt idx="2">
                  <c:v>32400000</c:v>
                </c:pt>
                <c:pt idx="3">
                  <c:v>24860000</c:v>
                </c:pt>
                <c:pt idx="4">
                  <c:v>2830000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40C-4AA3-B18E-65954B7C7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by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0C-4AA3-B18E-65954B7C77F6}"/>
              </c:ext>
            </c:extLst>
          </c:dPt>
          <c:dPt>
            <c:idx val="1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0C-4AA3-B18E-65954B7C77F6}"/>
              </c:ext>
            </c:extLst>
          </c:dPt>
          <c:dPt>
            <c:idx val="2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0C-4AA3-B18E-65954B7C77F6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0C-4AA3-B18E-65954B7C77F6}"/>
              </c:ext>
            </c:extLst>
          </c:dPt>
          <c:dPt>
            <c:idx val="4"/>
            <c:bubble3D val="0"/>
            <c:spPr>
              <a:solidFill>
                <a:srgbClr val="1665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40C-4AA3-B18E-65954B7C77F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40C-4AA3-B18E-65954B7C77F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40C-4AA3-B18E-65954B7C77F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40C-4AA3-B18E-65954B7C77F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40C-4AA3-B18E-65954B7C77F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40C-4AA3-B18E-65954B7C77F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Debt (33.6%)</c:v>
                </c:pt>
                <c:pt idx="1">
                  <c:v>Local (25.2%)</c:v>
                </c:pt>
                <c:pt idx="2">
                  <c:v>Federal (22.2%)</c:v>
                </c:pt>
                <c:pt idx="3">
                  <c:v>Private (17.0%)</c:v>
                </c:pt>
                <c:pt idx="4">
                  <c:v>State (1.9%)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49040000</c:v>
                </c:pt>
                <c:pt idx="1">
                  <c:v>36730000</c:v>
                </c:pt>
                <c:pt idx="2">
                  <c:v>32400000</c:v>
                </c:pt>
                <c:pt idx="3">
                  <c:v>24860000</c:v>
                </c:pt>
                <c:pt idx="4">
                  <c:v>2830000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40C-4AA3-B18E-65954B7C7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61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79722-11D5-F4D2-220D-EB3593FA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317B2-E29C-D88E-5D7F-B4D6C9FFD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D5D09-F5F4-EC78-1514-C1D987247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65025-7C62-55AD-D217-EEA236359E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861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42B50"/>
          </a:solidFill>
          <a:ln w="12700">
            <a:solidFill>
              <a:srgbClr val="14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57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🏙️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for All Initiative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DBD"/>
                </a:solidFill>
              </a:rPr>
              <a:t>Tableau Dashboard – Full Step-by-Step Walkthrough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788920"/>
            <a:ext cx="2194560" cy="438912"/>
          </a:xfrm>
          <a:prstGeom prst="roundRect">
            <a:avLst>
              <a:gd name="adj" fmla="val 20833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278892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🟠  Built in Tableau Desktop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3337560"/>
            <a:ext cx="3291840" cy="36576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74 Projects  ·  12 Wards  ·  $145.9M Budget  ·  1,919 Units Targeted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DC0"/>
                </a:solidFill>
              </a:rPr>
              <a:t>MG628 – Data Analysis for Managerial Decision-Making  |  Week 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Build – 6 Tableau Visualizations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By the end of this walkthrough you will have a complete Tableau dashboard answering the City Council's equity question: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85953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2070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Is the $145.9M Housing for All initiative distributing funds equitably — and are the wards with greatest need getting their fair share?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27432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Bar Chart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8288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Sheet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23113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Budget Allocated vs. Spent by Ward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Side-by-side bars reveal implementation gaps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1828800"/>
            <a:ext cx="27432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46120" y="1828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🔵  Scatter Plot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18288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Sheet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46120" y="223113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Median Income vs. Budget Per Capita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Trend line reveals equity direction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8288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828800"/>
            <a:ext cx="274320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🌳  Treemap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18288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Sheet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26480" y="223113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Project Status by Ward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Size = project count · Color = status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291840"/>
            <a:ext cx="27432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291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🍩  Donut Chart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32918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Sheet 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369417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Funding Mix by Category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Federal vs. Local vs. Debt vs. Private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54680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54680" y="3291840"/>
            <a:ext cx="27432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46120" y="3291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🗺️  Symbol Map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32918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Sheet 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46120" y="369417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Budget Per Capita by Ward Geography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Bubble size = funding, color = poverty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32918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35040" y="3291840"/>
            <a:ext cx="274320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26480" y="3291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🎛️  Dashboard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32918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</a:rPr>
              <a:t>Dashboard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26480" y="3694176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All 6 visuals + 4 filters assembled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Interactive, publication-ready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520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Roadmap – 10 Stages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57277"/>
            <a:ext cx="1554480" cy="226314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57277"/>
            <a:ext cx="1554480" cy="226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585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458552"/>
            <a:ext cx="1005840" cy="38404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585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0" y="4585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7132"/>
                </a:solidFill>
              </a:rPr>
              <a:t>Get Tableau Desktop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5968" y="458552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Download free student license or Tableau Public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9157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915752"/>
            <a:ext cx="100584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9157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71600" y="9157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Connect to the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15968" y="915752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Join all 4 CSV files using relationships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3729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1372952"/>
            <a:ext cx="10058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3729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71600" y="13729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Understand Tableau's Interface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15968" y="1372952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Data Pane · Shelves · Marks Card · Show 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8301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1830152"/>
            <a:ext cx="100584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18301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71600" y="18301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Dimensions vs. Measures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15968" y="1830152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Blue vs. Green pills — the most important concept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2873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2287352"/>
            <a:ext cx="100584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2873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71600" y="22873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Sheet 1 – Bar Chart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15968" y="2287352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Budget Allocated vs. Spent side-by-side by ward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27445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2744552"/>
            <a:ext cx="100584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27445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71600" y="27445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</a:rPr>
              <a:t>Sheet 2 – Scatter Plot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15968" y="2744552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Income vs. Budget Per Capita + trend line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2017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201752"/>
            <a:ext cx="1005840" cy="3840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2017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371600" y="32017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</a:rPr>
              <a:t>Sheet 3 – Treemap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15968" y="3201752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Project status by ward — colored by health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6589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3658952"/>
            <a:ext cx="10058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36589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371600" y="36589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Sheet 4 – Donut Chart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315968" y="3658952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Funding source mix — financial risk analysis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1161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74320" y="4116152"/>
            <a:ext cx="100584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41161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9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371600" y="41161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Sheet 5 – Symbol Map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315968" y="4116152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Geographic equity visualization by ward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457335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74320" y="4573352"/>
            <a:ext cx="1005840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5733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10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371600" y="45733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Dashboard Assembly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315968" y="4573352"/>
            <a:ext cx="4507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Combine all sheets + filters + actions + polish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2412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🟠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Get Tableau Desktop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Free Student License · Tableau Public · Installation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5876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6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8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Get Tableau — Pick the Right One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74337"/>
            <a:ext cx="1554480" cy="248194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74337"/>
            <a:ext cx="155448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11146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411146"/>
            <a:ext cx="85953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44772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Option A: Tableau Desktop (Student License) — RECOMMENDED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56866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0" y="45686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FREE 1 YEAR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813482"/>
            <a:ext cx="6583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① Go to: tableau.com/academic/students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② Click 'Get Tableau for Free'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③ Upload proof of enrollment (student ID or transcript)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④ Wait 1–2 business days for an email with your product key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⑤ Download Tableau Desktop installer (~500 MB)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⑥ Launch, enter product key → full professional license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59168" y="813482"/>
            <a:ext cx="171907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4888" y="831770"/>
            <a:ext cx="16642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Full Tableau Desktop. All features. Works on Windows and Mac. Use for your assignment and portfolio.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892474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1892474"/>
            <a:ext cx="85953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192905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Option B: Tableau Public — Available Right Now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93819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0" y="193819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FREE FOREVER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2294810"/>
            <a:ext cx="6583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① Go to: public.tableau.com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② Click 'Download Tableau Public' (top right)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③ Enter your email, download the installer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④ Install and launch — no license key needed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⑤ Note: Tableau Public saves to the public web gallery only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⑥ For class assignments, submit a screenshot or PDF export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59168" y="2294810"/>
            <a:ext cx="171907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04888" y="2313098"/>
            <a:ext cx="16642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90% of Tableau Desktop features. Perfect for learning and portfolio building. Cannot save privately — publish to public gallery.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373802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373802"/>
            <a:ext cx="85953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41037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Option C: Tableau Cloud Trial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3419522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0" y="341952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14-DAY TRIAL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3776138"/>
            <a:ext cx="6583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① Go to: tableau.com/trial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② Enter business email (school email works)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③ Access the cloud version immediately in your browser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④ Full features, no installation required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⑤ Expires after 14 days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</a:rPr>
              <a:t>⑥ Best for: quick access on managed lab computers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59168" y="3776138"/>
            <a:ext cx="1719072" cy="8412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04888" y="3794426"/>
            <a:ext cx="16642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Browser-based. Good if you cannot install software. Does not require a license file.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653962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465396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📌  For this assignment: Use Option A (student license) or Option B (Tableau Public). Both produce identical dashboards for all required visuals.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2412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🔗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Connect to the Data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Join All 4 CSV Files Using Tableau Relationships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5876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4 CSV Files Before Connecting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Read this slide before opening Tableau. Understanding the structure prevents every join error.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FactHousingProjects.csv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FACT TABLE — 74 rows, one per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865376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ProjectID · WardID 🔗 · FundID 🔗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ProjectType · BudgetAllocated · BudgetSpent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UnitsTarget · UnitsCreated · StartDate 🔗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Status · ContractorName · ProjectManager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188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DimWard.csv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5727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</a:rPr>
              <a:t>WHERE DIMENSION — 12 rows, one per ward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27448" y="1865376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WardID 🔑 (unique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WardName · CouncilMember · NeighborhoodType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Population · MedianIncome (equity analysis)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PovertyRate · HomelessCount · VacantLots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2724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1272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DimFundingSource.csv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5112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HOW DIMENSION — 10 rows, one per fund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803904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FundID 🔑 (unique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SourceName · Category (Federal/Local/Debt/Private/State)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FiscalYear · TotalAvailable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MatchRequired · MatchPercent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12724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3127248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1272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DimDate.csv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5112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WHEN DIMENSION — 551 rows, one per 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27448" y="3803904"/>
            <a:ext cx="39319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Date 🔑 (unique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Month · MonthNum · CalendarQuarter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FiscalQuarter · FiscalYear · CalendarYear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DayOfWeek · IsWeekend · IsHoliday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99627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99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Connecting All 4 CSV Files in Tableau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78281"/>
            <a:ext cx="1554480" cy="256903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78281"/>
            <a:ext cx="1554480" cy="256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3146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Tableau's connection process is visual and drag-and-drop. Follow these steps in the Data Source tab.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43146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431464"/>
            <a:ext cx="530352" cy="402336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431464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3146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</a:rPr>
              <a:t>Open Tableau Desktop / Public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0" y="431464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Launch the application. On the Start screen you will see 'Connect' on the left side with options for different data types.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90695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906952"/>
            <a:ext cx="530352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906952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9069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Connect to Text File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906952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Under 'To a File', click Text file. Navigate to your CSV folder. Select FactHousingProjects.csv. Click Open. This is your primary (fact) table.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38244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1382440"/>
            <a:ext cx="530352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1382440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13824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</a:rPr>
              <a:t>See the Data Source Tab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0" y="1382440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Tableau opens the Data Source tab. FactHousingProjects appears in the left pane under 'Files'. A preview of its columns shows at the bottom.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85792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1857928"/>
            <a:ext cx="530352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1857928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18579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</a:rPr>
              <a:t>Add DimWard.csv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0" y="1857928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 the left pane, click 'Add' (under Connections). Select Text file again. Choose DimWard.csv. It appears in the left panel under Files.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33341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333416"/>
            <a:ext cx="530352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2333416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233341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</a:rPr>
              <a:t>Drag DimWard onto the canvas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57600" y="2333416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Drag the DimWard sheet from the left panel onto the center canvas (where FactHousingProjects already sits). A relationship dialog opens automatically.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280890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2808904"/>
            <a:ext cx="530352" cy="40233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2808904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280890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</a:rPr>
              <a:t>Set the WardID relationship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57600" y="2808904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Tableau may auto-detect WardID. Confirm: FactHousingProjects[WardID] = DimWard[WardID]. Click OK. A noodle (curved line) connects the tables.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28439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284392"/>
            <a:ext cx="530352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3284392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" y="328439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</a:rPr>
              <a:t>Repeat for DimFundingSource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657600" y="3284392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Add → Text file → DimFundingSource.csv. Drag onto canvas. Relationship: FactHousingProjects[FundID] = DimFundingSource[FundID].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375988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20" y="3759880"/>
            <a:ext cx="530352" cy="40233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3759880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14400" y="37598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91B1B"/>
                </a:solidFill>
              </a:rPr>
              <a:t>Repeat for DimDate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657600" y="3759880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Add → Text file → DimDate.csv. Drag onto canvas. Relationship: FactHousingProjects[StartDate] = DimDate[Date]. Confirm Date field types match.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423536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" y="4235368"/>
            <a:ext cx="530352" cy="402336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235368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14400" y="423536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</a:rPr>
              <a:t>Click Sheet 1 tab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657600" y="4235368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At the bottom of the screen, click 'Sheet 1'. You enter the main visualization workspace. All 4 tables are now accessible in the Data pane.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684444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84048" y="468444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Expected result: On Sheet 1, the Data pane (left side) shows all 4 tables with their fields. You should see FactHousingProjects, DimWard, DimFundingSource, and DimDate listed.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Relationships vs. Joins — What's the Difference?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Tableau Desktop uses 'Relationships' (not traditional joins) by default. Understanding this prevents data duplication errors.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14800" cy="327355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🔗  RELATIONSHIPS  (Default — Use This)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664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Tables stay separate — no data duplication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066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Tableau picks the right join type for each chart automatically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468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Safer for one-to-many connections (e.g. one ward → many projects)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871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Preserves all rows even when there is no match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273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Recommended for all star schema models like this dataset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3675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✅  What you get when you drag tables onto the canvas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170432"/>
            <a:ext cx="4114800" cy="327355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⚙️  JOINS  (Advanced — Use with Caution)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664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Merges tables into a flat single table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66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Can cause row duplication in one-to-many relationships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Access via: Data Source tab → double-click a table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871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Use when: you need columns from two tables side by side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273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Types: Inner, Left, Right, Full Outer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675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</a:rPr>
              <a:t>⚠️  Avoid for this assignment — Relationships work better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53542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</a:rPr>
              <a:t>✅  For this walkthrough: use Relationships (the default). When you drag DimWard onto the canvas in the Data Source tab, Tableau automatically creates a relationship — this is exactly what you want. Do not double-click into a table to create a join.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Data Source — Check These Before Building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88851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In the Data Source tab and then on Sheet 1, confirm these items before building any charts.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09475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09475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146051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4 tables connected with noodle lines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347219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In Data Source tab canvas: FactHousingProjects in center, 3 curved lines connecting to DimWard, DimFundingSource, DimDate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03251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603251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1639827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WardName appears in the Data pane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1840995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On Sheet 1, in the Data pane left side, expand DimWard — you should see WardName, Population, PovertyRate, MedianIncome listed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97027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097027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133603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BudgetAllocated is a Measure (green)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334771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Expand FactHousingProjects — BudgetAllocated, BudgetSpent, UnitsTarget, UnitsCreated should all appear in the Measures section (green)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90803"/>
            <a:ext cx="85953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590803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2627379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Category and WardName are Dimensions (blue)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2828547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Category from DimFundingSource and WardName from DimWard should appear in the Dimensions section (blue) of the Data pane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84579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084579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3121155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Date field showing as text (Abc)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322323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CAUSE: DimDate's Date column loaded as string. FIX: In Data Source tab, click the 'Abc' icon above the Date column → Change to Date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578355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578355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3614931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BudgetAllocated showing as Dimension (blue)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" y="3816099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CAUSE: Tableau read it as text due to $ signs in CSV. FIX: Right-click in Data pane → Change Data Type → Number (Decimal)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72131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072131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4108707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WardID appearing as Measure (green)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" y="4309875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CAUSE: WardID is numeric-looking text. FIX: Right-click WardID → Change Data Type → String. Then drag to Dimensions section.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565907"/>
            <a:ext cx="859536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565907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4672" y="4602483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Missing fields from a dimension table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" y="4803651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CAUSE: Relationship not created. FIX: Go to Data Source tab, drag the missing table onto the canvas and set the join key field.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2412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🖥️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Tableau Interface Tour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Data Pane · Shelves · Marks Card · Show 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5876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 Interface – Every Area You Need to Know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Tableau's interface is different from Power BI. Spend 3 minutes learning these areas — it saves hours later.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50292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225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Data Pane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5361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LEFT SIDE of screen. Lists all fields from all connected tables. Blue = Dimensions (categories). Green = Measures (numbers). Drag fields from here onto shelves.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70432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170432"/>
            <a:ext cx="502920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17043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0368" y="1225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Columns Shelf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0368" y="15361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TOP of canvas. Drag a Dimension here → creates columns (X-axis). Drag a Measure → creates columns with a continuous axis.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48256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048256"/>
            <a:ext cx="502920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048256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" y="2103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Rows Shelf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4140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BELOW Columns shelf. Drag a Dimension → creates rows (Y-axis). Drag a Measure → creates rows with a continuous axis.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048256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2048256"/>
            <a:ext cx="50292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048256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30368" y="2103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Marks Card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24140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CENTER-LEFT. Controls how data is encoded: Color · Size · Label · Detail · Tooltip · Shape. Drag fields here to layer information onto any chart.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502920" cy="7498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41248" y="29809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Filters Shelf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32918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ABOVE Marks card. Drag any field here to limit what data is shown. Multi-select for categorical, range for numeric.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92608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2926080"/>
            <a:ext cx="50292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30368" y="29809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</a:rPr>
              <a:t>Show Me Panel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0368" y="32918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TOP-RIGHT corner. Click to open. Shows all available chart types. Highlights which types are valid for your currently selected fields.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803904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803904"/>
            <a:ext cx="502920" cy="7498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3803904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41248" y="3858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Sheet Tabs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248" y="41696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BOTTOM of screen. Each tab = one chart. Click '+' to add. Right-click → Rename. Drag to reorder.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803904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63440" y="3803904"/>
            <a:ext cx="502920" cy="74980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3803904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30368" y="3858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Dashboard Tab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0368" y="41696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BOTTOM tab area. Click 'New Dashboard' (grid icon). Drag sheets onto the canvas to combine into one view.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🎯  Quick start: On Sheet 1, double-click WardName in the Data pane. Tableau places it on Rows automatically. Then double-click BudgetAllocated. A bar chart appears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2412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🔵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Dimensions vs. Measures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The Most Important Tableau Concept · Blue vs. Green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5876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vs. Measures – The Core Tableau Concept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80483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Every field in Tableau is either a Dimension or a Measure. Getting this right determines whether your charts work correctly.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1107"/>
            <a:ext cx="4114800" cy="2907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65115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</a:rPr>
              <a:t>🔵  DIMENSIONS  (Blue pills)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9488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What they are: </a:t>
            </a:r>
            <a:r>
              <a:rPr lang="en-US" sz="1100" dirty="0">
                <a:solidFill>
                  <a:srgbClr val="334155"/>
                </a:solidFill>
              </a:rPr>
              <a:t>Categorical, qualitative, discrete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805779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Used for: </a:t>
            </a:r>
            <a:r>
              <a:rPr lang="en-US" sz="1100" dirty="0">
                <a:solidFill>
                  <a:srgbClr val="334155"/>
                </a:solidFill>
              </a:rPr>
              <a:t>Grouping, slicing, filtering, labeling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116675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Examples: </a:t>
            </a:r>
            <a:r>
              <a:rPr lang="en-US" sz="1100" dirty="0">
                <a:solidFill>
                  <a:srgbClr val="334155"/>
                </a:solidFill>
              </a:rPr>
              <a:t>WardName, ProjectType, Status, Category, DayOfWeek, WardID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42757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On Columns shelf: </a:t>
            </a:r>
            <a:r>
              <a:rPr lang="en-US" sz="1100" dirty="0">
                <a:solidFill>
                  <a:srgbClr val="334155"/>
                </a:solidFill>
              </a:rPr>
              <a:t>Creates a separate header for each unique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73846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On Rows shelf: </a:t>
            </a:r>
            <a:r>
              <a:rPr lang="en-US" sz="1100" dirty="0">
                <a:solidFill>
                  <a:srgbClr val="334155"/>
                </a:solidFill>
              </a:rPr>
              <a:t>Creates a separate row for each unique value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04936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On Color mark: </a:t>
            </a:r>
            <a:r>
              <a:rPr lang="en-US" sz="1100" dirty="0">
                <a:solidFill>
                  <a:srgbClr val="334155"/>
                </a:solidFill>
              </a:rPr>
              <a:t>Assigns a different color to each category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3360259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Pill color: </a:t>
            </a:r>
            <a:r>
              <a:rPr lang="en-US" sz="1100" dirty="0">
                <a:solidFill>
                  <a:srgbClr val="334155"/>
                </a:solidFill>
              </a:rPr>
              <a:t>Blue — always blue in Tableau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1107"/>
            <a:ext cx="4114800" cy="2907792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065115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</a:rPr>
              <a:t>🟢  MEASURES  (Green pills)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64608" y="149488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What they are: </a:t>
            </a:r>
            <a:r>
              <a:rPr lang="en-US" sz="1100" dirty="0">
                <a:solidFill>
                  <a:srgbClr val="334155"/>
                </a:solidFill>
              </a:rPr>
              <a:t>Numeric, quantitative, continuous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1805779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Used for: </a:t>
            </a:r>
            <a:r>
              <a:rPr lang="en-US" sz="1100" dirty="0">
                <a:solidFill>
                  <a:srgbClr val="334155"/>
                </a:solidFill>
              </a:rPr>
              <a:t>Aggregating (SUM, AVG, COUNT, MIN, MAX)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116675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Examples: </a:t>
            </a:r>
            <a:r>
              <a:rPr lang="en-US" sz="1100" dirty="0">
                <a:solidFill>
                  <a:srgbClr val="334155"/>
                </a:solidFill>
              </a:rPr>
              <a:t>BudgetAllocated, BudgetSpent, Population, PovertyRate, UnitsCreated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242757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On Rows shelf: </a:t>
            </a:r>
            <a:r>
              <a:rPr lang="en-US" sz="1100" dirty="0">
                <a:solidFill>
                  <a:srgbClr val="334155"/>
                </a:solidFill>
              </a:rPr>
              <a:t>Creates a continuous axis with aggregate values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273846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On Size mark: </a:t>
            </a:r>
            <a:r>
              <a:rPr lang="en-US" sz="1100" dirty="0">
                <a:solidFill>
                  <a:srgbClr val="334155"/>
                </a:solidFill>
              </a:rPr>
              <a:t>Scales bubble/circle size by the measure's value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04936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On Color mark: </a:t>
            </a:r>
            <a:r>
              <a:rPr lang="en-US" sz="1100" dirty="0">
                <a:solidFill>
                  <a:srgbClr val="334155"/>
                </a:solidFill>
              </a:rPr>
              <a:t>Creates a color gradient from low to high value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3360259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Pill color: </a:t>
            </a:r>
            <a:r>
              <a:rPr lang="en-US" sz="1100" dirty="0">
                <a:solidFill>
                  <a:srgbClr val="334155"/>
                </a:solidFill>
              </a:rPr>
              <a:t>Green — always green in Tableau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82051"/>
            <a:ext cx="859536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991195"/>
            <a:ext cx="8366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⚠️  COMMON GOTCHA: WardID looks like a number but is a CATEGORY. Right-click WardID in the Data pane → Convert to Dimension. Same for ZipCode, Phone Numbers, and any ID field.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494115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Fields specific to this dataset — check these are correctly classified: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768435"/>
            <a:ext cx="8595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Dimension (Blue):  </a:t>
            </a:r>
            <a:r>
              <a:rPr lang="en-US" sz="1050" dirty="0">
                <a:solidFill>
                  <a:srgbClr val="334155"/>
                </a:solidFill>
              </a:rPr>
              <a:t>WardName, WardID, FundID, Category, ProjectType, Status, NeighborhoodType, DayOfWeek, Month, ContractorName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768435"/>
            <a:ext cx="8595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Measure (Green):  </a:t>
            </a:r>
            <a:r>
              <a:rPr lang="en-US" sz="1050" dirty="0">
                <a:solidFill>
                  <a:srgbClr val="334155"/>
                </a:solidFill>
              </a:rPr>
              <a:t>BudgetAllocated, BudgetSpent, UnitsTarget, UnitsCreated, Population, MedianIncome, PovertyRate, TotalAvailable</a:t>
            </a:r>
            <a:endParaRPr lang="en-US" sz="10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033996"/>
              </p:ext>
            </p:extLst>
          </p:nvPr>
        </p:nvGraphicFramePr>
        <p:xfrm>
          <a:off x="274320" y="4494115"/>
          <a:ext cx="8595360" cy="5029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4ED8"/>
                          </a:solidFill>
                        </a:rPr>
                        <a:t>Dimension (Blue):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WardName, WardID, FundID, Category, ProjectType, Status, NeighborhoodType, ContractorName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6534"/>
                          </a:solidFill>
                        </a:rPr>
                        <a:t>Measure (Green):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BudgetAllocated, BudgetSpent, UnitsTarget, UnitsCreated, Population, MedianIncome, PovertyRate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2412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Sheet 1 – Budget vs. Spent Bar Chart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Side-by-Side Bars by Ward · Spot Implementation Gaps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5876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6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1: Budget Allocated vs. Spent by Ward — Build Steps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9090"/>
            <a:ext cx="1554480" cy="27432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909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7051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This chart answers: which wards have money sitting unspent? The gap between bars = implementation failure.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03089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03089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Step-by-Step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05425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105425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1105425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Double-click WardName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21408" y="1105425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WardName goes to Rows shelf automatically. Tableau creates one row per ward.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489473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489473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" y="148947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BudgetAllocated to Columns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21408" y="1489473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The green pill goes to Columns. A horizontal bar chart appears — one bar per ward.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873521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873521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" y="1873521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BudgetSpent to Columns too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21408" y="1873521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Drop it to the RIGHT of BudgetAllocated in Columns shelf. Two bars appear per ward side-by-side.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257569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257569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" y="2257569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Change to 'Dual Axis' layout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21408" y="2257569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on the BudgetSpent axis header → Dual Axis. Both measures now share one axis.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641617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641617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" y="2641617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Sort wards by Budget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21408" y="2641617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on BudgetAllocated → Sort → Descending. Lakefront ($31.2M) appears at top.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025665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025665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" y="3025665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Color the bars differently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21408" y="3025665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Marks Card: under SUM(BudgetAllocated), click Color → choose Navy (#1B3A6B). Under SUM(BudgetSpent), click Color → choose Teal (#0D7377).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409713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409713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" y="340971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Reference Lines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21408" y="3409713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x-axis → Add Reference Line → Average. Shows city-wide average spend.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793761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793761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" y="3793761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Labels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21408" y="3793761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 Marks Card → Label → Show Mark Labels → On. Format as Currency.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177809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177809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</a:rPr>
              <a:t>⑨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" y="4177809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Title and cleanup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121408" y="4177809"/>
            <a:ext cx="23225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Double-click the sheet title → type 'Budget Allocated vs. Spent by Ward'. Hide grid lines: Format → Lines → set to None.</a:t>
            </a:r>
            <a:endParaRPr lang="en-US" sz="950" dirty="0"/>
          </a:p>
        </p:txBody>
      </p:sp>
      <p:graphicFrame>
        <p:nvGraphicFramePr>
          <p:cNvPr id="45" name="Chart 0"/>
          <p:cNvGraphicFramePr/>
          <p:nvPr>
            <p:extLst>
              <p:ext uri="{D42A27DB-BD31-4B8C-83A1-F6EECF244321}">
                <p14:modId xmlns:p14="http://schemas.microsoft.com/office/powerpoint/2010/main" val="4195019201"/>
              </p:ext>
            </p:extLst>
          </p:nvPr>
        </p:nvGraphicFramePr>
        <p:xfrm>
          <a:off x="4663440" y="703089"/>
          <a:ext cx="42062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Shape 43"/>
          <p:cNvSpPr/>
          <p:nvPr/>
        </p:nvSpPr>
        <p:spPr>
          <a:xfrm>
            <a:off x="274320" y="4598433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384048" y="4598433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KEY INSIGHT: North Hills has a $17.6M gap (only 30.8% spent). Lakefront leads in both allocation ($31.2M) and spending (67.9%). Midtown is critically low at 36.0% utilization.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1: Reading the Bar Chart — 5 Key Findings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768096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09728" cy="76809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78638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North Hills  ·  $25.5M allocated  ·  $7.8M spent  ·  30.8% utilization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06984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 Lowest utilization in the city. $17.6M sits unspent despite being 3rd highest allocation.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042416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56048" y="10424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Action: Investigate contractor performance. Foundation Builders has 2 of North Hills' 8 projects delayed.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8595360" cy="768096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627632"/>
            <a:ext cx="109728" cy="76809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Midtown  ·  $7.2M allocated  ·  $2.6M spent  ·  36.0% utilization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94767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 Only 36% utilization across 6 projects. No projects are delayed — but spending is extremely slow.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1920240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56048" y="19202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Action: Check project manager capacity. Midtown has 4 different project managers across 6 projects.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05456"/>
            <a:ext cx="8595360" cy="76809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505456"/>
            <a:ext cx="109728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542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Lakefront  ·  $31.2M allocated  ·  $21.2M spent  ·  67.9% utilization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825496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 Highest allocation AND highest absolute spend. 9 projects, strong implementation.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798064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56048" y="279806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Action: EQUITY CONCERN: Lakefront is affluent (4.8% poverty, $105K income). Why does it receive the most?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8595360" cy="768096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383280"/>
            <a:ext cx="109728" cy="76809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4198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Industrial Corridor  ·  $3.2M allocated  ·  $2.4M spent  ·  76.0% utilization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 Highest utilization rate in the city — best implementation performance.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675888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56048" y="367588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Action: Use as model. Study its contractor (Progressive Housing Co) and project manager for best practices.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61104"/>
            <a:ext cx="8595360" cy="768096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4261104"/>
            <a:ext cx="109728" cy="7680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Central Core  ·  $9.3M allocated  ·  $6.6M spent  ·  70.6% utilization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58114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 Central Core has 28.8% poverty (city's highest) and $153/capita — one of the LOWEST allocations.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4553712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56048" y="455371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Action: Budget reallocation is warranted. Good utilization shows capacity to absorb more funds effectively.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2412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🔵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6: Sheet 2 – Equity Scatter Plot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Income vs. Budget Per Capita · Trend Line · Policy Story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5876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2: Equity Scatter Plot — Build Steps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9090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9090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61554"/>
            <a:ext cx="8595360" cy="227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scatter plot is the defining equity visual. Its trend line answers the central policy question in one second.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574391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574391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Step-by-Step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976727"/>
            <a:ext cx="420624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976727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⚠️  FIRST: Create a Calculated Field for 'Budget Per Capita'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342487"/>
            <a:ext cx="42062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342487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menu → Create Calculated Field...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Budget Per Capita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SUM([BudgetAllocated]) / SUM([Population])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55719"/>
            <a:ext cx="4206240" cy="28346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055719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</a:rPr>
              <a:t>①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6656" y="2055719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Create the calculated field above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055719"/>
            <a:ext cx="23408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Analysis → Create Calculated Field → name 'Budget Per Capita' → enter formula → OK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94047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394047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</a:rPr>
              <a:t>②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" y="2394047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Drag MedianIncome to Columns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2394047"/>
            <a:ext cx="23408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From DimWard, drag MedianIncome to the Columns shelf. A continuous axis appears.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732375"/>
            <a:ext cx="4206240" cy="28346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732375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</a:rPr>
              <a:t>③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6656" y="2732375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Drag Budget Per Capita to Rows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2732375"/>
            <a:ext cx="23408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your new calculated field to the Rows shelf. Each ward appears as a dot.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70703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070703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</a:rPr>
              <a:t>④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" y="3070703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Drag WardName to Detail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3070703"/>
            <a:ext cx="23408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 Marks Card, drag WardName to the Detail mark. Each dot is now labeled with a ward.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409031"/>
            <a:ext cx="4206240" cy="28346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409031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</a:rPr>
              <a:t>⑤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6656" y="3409031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Drag Population to Size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03120" y="3409031"/>
            <a:ext cx="23408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Population to the Size mark. Larger bubbles = more residents.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747359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747359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</a:rPr>
              <a:t>⑥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6656" y="3747359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Drag PovertyRate to Color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3747359"/>
            <a:ext cx="23408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PovertyRate to the Color mark. Set color range: green (low) to red (high poverty).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085687"/>
            <a:ext cx="4206240" cy="28346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085687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</a:rPr>
              <a:t>⑦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6656" y="4085687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Show Labels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03120" y="4085687"/>
            <a:ext cx="23408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Marks Card → Label → Show Mark Labels → select WardName as the label field.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424015"/>
            <a:ext cx="42062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424015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</a:rPr>
              <a:t>⑧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6656" y="4424015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Add Trend Line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103120" y="4424015"/>
            <a:ext cx="23408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Analytics pane (top-left toggle) → drag Trend Line → Linear. Drop onto the chart.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762343"/>
            <a:ext cx="4206240" cy="28346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762343"/>
            <a:ext cx="365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</a:rPr>
              <a:t>⑨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76656" y="4762343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Title the sheet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103120" y="4762343"/>
            <a:ext cx="23408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Double-click title → 'Equity: Ward Income vs. Housing Investment Per Capita'</a:t>
            </a:r>
            <a:endParaRPr lang="en-US" sz="950" dirty="0"/>
          </a:p>
        </p:txBody>
      </p:sp>
      <p:graphicFrame>
        <p:nvGraphicFramePr>
          <p:cNvPr id="49" name="Chart 0"/>
          <p:cNvGraphicFramePr/>
          <p:nvPr>
            <p:extLst>
              <p:ext uri="{D42A27DB-BD31-4B8C-83A1-F6EECF244321}">
                <p14:modId xmlns:p14="http://schemas.microsoft.com/office/powerpoint/2010/main" val="1917520675"/>
              </p:ext>
            </p:extLst>
          </p:nvPr>
        </p:nvGraphicFramePr>
        <p:xfrm>
          <a:off x="4663440" y="574391"/>
          <a:ext cx="42062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Shape 47"/>
          <p:cNvSpPr/>
          <p:nvPr/>
        </p:nvSpPr>
        <p:spPr>
          <a:xfrm>
            <a:off x="4663440" y="4314613"/>
            <a:ext cx="4206240" cy="73119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679782" y="4469735"/>
            <a:ext cx="41167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TREND LINE SLOPES UPWARD: Wealthier wards (right side) receive more housing investment per resident. This is the equity gap. Lakefront ($105K income) gets $947/person vs. Southgate ($38K income) gets $115/person — an 8.2:1 ratio.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2: Reading the Scatter Plot — 4-Quadrant Analysis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82078"/>
            <a:ext cx="85953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68207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TREND LINE DIRECTION = UPWARD  →  Positive correlation: wealthier wards receive more per resident = INEQUITABLE distribution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58150"/>
            <a:ext cx="4251960" cy="160020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31301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⚠️  BOTTOM-LEFT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62391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LOW income + LOW funding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87994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Southgate: $38K income, $115/capita, 25.3% poverty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Riverside: $41K income, $135/capita, 22.5% poverty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Central Core: $35K income, $153/capita, 28.8% poverty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82112" y="1879942"/>
            <a:ext cx="1261872" cy="78638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82112" y="1879942"/>
            <a:ext cx="12618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PRIORITY FOR REALLOCATION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68078"/>
            <a:ext cx="4251960" cy="1600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02294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TOP-LEFT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333838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LOW income + HIGH funding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589870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No ward falls here cleanly in this dataset — this is the IDEAL quadrant. High-need wards should have the highest per-capita funding.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82112" y="3589870"/>
            <a:ext cx="1261872" cy="7863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82112" y="3589870"/>
            <a:ext cx="12618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IDEAL PATTERN — target state for reallocation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258150"/>
            <a:ext cx="4251960" cy="1600200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31301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⚠️  TOP-RIGHT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623910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HIGH income + HIGH funding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87994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Lakefront: $105K income, $947/capita, 4.8% poverty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North Hills: $92K income, $490/capita, 6.2% poverty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East Heights: $78K income, $520/capita, 8.1% poverty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Oak Park: $85K income, $485/capita, 7.5% poverty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71232" y="1879942"/>
            <a:ext cx="1261872" cy="78638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71232" y="1879942"/>
            <a:ext cx="12618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EQUITY CONCERN — affluent wards dominating budget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968078"/>
            <a:ext cx="4251960" cy="1600200"/>
          </a:xfrm>
          <a:prstGeom prst="rect">
            <a:avLst/>
          </a:prstGeom>
          <a:solidFill>
            <a:srgbClr val="DCFCE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02294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✅  BOTTOM-RIGHT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333838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HIGH income + LOW funding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589870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Midtown: $48K income, $129/capita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University Heights: $45K income, $116/capita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These wards have moderate income and low per-capita funding — acceptable given their lower poverty rates.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71232" y="3589870"/>
            <a:ext cx="1261872" cy="7863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71232" y="3589870"/>
            <a:ext cx="12618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ACCEPTABLE — lower need, lower investment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641430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464143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📋  Tableau tip: In the tooltip editor (Worksheet → Tooltip), add PovertyRate and Population as custom fields so hovering over any dot shows the full ward profile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2412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🌳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Sheet 3 – Project Status Treemap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Ward Health at a Glance · Color by Status · Size by Count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5876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3: Project Status Treemap — Build Steps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2317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2317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95420"/>
            <a:ext cx="8595360" cy="234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treemap shows project health across all 12 wards simultaneously. Red/orange squares signal wards needing intervention.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03074"/>
            <a:ext cx="420624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0307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Step-by-Step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05410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10541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" y="110541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Click the Sheet 3 tab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3120" y="1105410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Rename it: right-click tab → Rename Sheet → 'Project Status'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489458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48945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48945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WardName to Rows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3120" y="148945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WardName goes to Rows shelf first to establish the grouping level.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873506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87350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187350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Status to Color mark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03120" y="187350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 Marks Card, drag Status to Color. Each status gets a different color.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257554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25755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" y="225755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Number of Records to Size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03120" y="2257554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 Marks Card, drag Number of Records (or create COUNT([ProjectID])) to Size.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641602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64160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</a:rPr>
              <a:t>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264160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Switch to Treemap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03120" y="2641602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Show Me panel (top right) → click Treemap icon. The chart transforms.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025650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02565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</a:rPr>
              <a:t>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" y="302565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Set Status colors manually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03120" y="3025650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Color in Marks Card → Edit Colors: Completed=Green, In Progress=Blue, Delayed=Orange, On Hold=Red, Planning=Gray.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409698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40969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</a:rPr>
              <a:t>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" y="340969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WardName Labels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03120" y="340969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Marks Card → Label → Show Mark Labels → select WardName. Adjust font size.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793746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79374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</a:rPr>
              <a:t>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" y="379374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Budget to Tooltip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03120" y="379374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SUM(BudgetAllocated) to Tooltip mark → now hovering shows budget info.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177794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17779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410C"/>
                </a:solidFill>
              </a:rPr>
              <a:t>⑨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" y="417779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Title the sheet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103120" y="4177794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'Project Status by Ward — Treemap'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703074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63440" y="70307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Actual Project Status Data — What Your Treemap Shows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935073"/>
              </p:ext>
            </p:extLst>
          </p:nvPr>
        </p:nvGraphicFramePr>
        <p:xfrm>
          <a:off x="4663440" y="1105410"/>
          <a:ext cx="4206238" cy="1615440"/>
        </p:xfrm>
        <a:graphic>
          <a:graphicData uri="http://schemas.openxmlformats.org/drawingml/2006/table">
            <a:tbl>
              <a:tblPr/>
              <a:tblGrid>
                <a:gridCol w="89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28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 Progress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Active — on schedule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Completed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Delivered successfully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Delayed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Orange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Behind schedule ⚠️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Not yet started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On Hold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Stalled completely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Shape 45"/>
          <p:cNvSpPr/>
          <p:nvPr/>
        </p:nvSpPr>
        <p:spPr>
          <a:xfrm>
            <a:off x="4662662" y="2770684"/>
            <a:ext cx="4206240" cy="23450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662662" y="2770684"/>
            <a:ext cx="4206240" cy="234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Delayed Projects by Ward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662662" y="3046814"/>
            <a:ext cx="4206240" cy="23450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4662662" y="3046814"/>
            <a:ext cx="109728" cy="23450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4827254" y="3046814"/>
            <a:ext cx="1463040" cy="234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Westbrook: 3 delayed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354302" y="3046814"/>
            <a:ext cx="2487168" cy="234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P-1031, P-1032, P-1037 — systemic issue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662662" y="3313007"/>
            <a:ext cx="4206240" cy="2978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4662662" y="3313007"/>
            <a:ext cx="109728" cy="297859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4827254" y="3313007"/>
            <a:ext cx="1463040" cy="297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</a:rPr>
              <a:t>North Hills: 2 delayed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6354302" y="3313007"/>
            <a:ext cx="2487168" cy="297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P-1006, P-1008 — Foundation Builders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4662662" y="3660479"/>
            <a:ext cx="4206240" cy="297859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4662662" y="3660479"/>
            <a:ext cx="109728" cy="29785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4827254" y="3660479"/>
            <a:ext cx="1463040" cy="297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Oak Park: 1 delayed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6354302" y="3660479"/>
            <a:ext cx="2487168" cy="297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P-1052 — $5M Transitional Housing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4662662" y="4007951"/>
            <a:ext cx="4206240" cy="2978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4662662" y="4007951"/>
            <a:ext cx="109728" cy="29785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4827254" y="4007951"/>
            <a:ext cx="1463040" cy="297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Ind. Corridor: 1 delayed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354302" y="4007951"/>
            <a:ext cx="2487168" cy="297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P-1058 — Rehabilitation project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662662" y="4355423"/>
            <a:ext cx="4206240" cy="297859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4662662" y="4355423"/>
            <a:ext cx="109728" cy="29785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4827254" y="4355423"/>
            <a:ext cx="1463040" cy="297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Central Core: 1 delayed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354302" y="4355423"/>
            <a:ext cx="2487168" cy="297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P-1016 — Emergency Shelter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662662" y="4702895"/>
            <a:ext cx="4206240" cy="2978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4662662" y="4702895"/>
            <a:ext cx="109728" cy="29785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4827254" y="4702895"/>
            <a:ext cx="1463040" cy="297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Southgate: 1 delayed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6354302" y="4702895"/>
            <a:ext cx="2487168" cy="297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P-1027 — Mixed Use Development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274320" y="4521204"/>
            <a:ext cx="4334256" cy="497838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384048" y="4576068"/>
            <a:ext cx="42420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</a:rPr>
              <a:t>⚠️  Westbrook has 3 delayed projects — the most concentrated failure. Community Development Corp and Citywide Contractors are both involved. This is Tableau's treemap strength: concentration becomes visible instantly.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2412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🍩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8: Sheet 4 – Funding Source Donut Chart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Funding Mix · Financial Risk · Federal Dependency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5876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4: Funding Source Donut Chart — Build Steps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Tableau does not have a native donut chart — you build it from a pie chart with a calculated field. This is a standard technique.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062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Step-by-Step Build — Pie First, Then Donut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" y="15727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Click Sheet 4 tab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3120" y="157276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Rename: 'Funding Mix'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56816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95681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9568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Show Me → Pie Chart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3120" y="195681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 Show Me (top right), click the Pie Chart icon. A pie appears.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40864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34086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" y="23408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Category to Color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03120" y="2340864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From DimFundingSource, drag Category to Color in Marks Card. 5 segments appear: Debt, Federal, Local, Private, State.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72491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72491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" y="272491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Drag BudgetAllocated to Angle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03120" y="2724912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SUM(BudgetAllocated) to the Angle mark. Each slice is now sized by budget.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31089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Add % labels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03120" y="3108960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Marks Card → Label → Show mark labels → select: Percent of Total. Format: 1 decimal place.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493008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4930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" y="34930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To make it a DONUT: dual axis trick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03120" y="349300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the Rows shelf pill → Add a second SUM([BudgetAllocated]) using a custom hack: Analysis → Create Calculated Field → name: 'Zero' → formula: 0. Then drag Zero to Rows.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877056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87705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" y="387705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Change inner circle mark type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03120" y="387705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 the second pill in Rows, click its Marks Card → change from Pie to Circle. Set Size to maximum. Set Color to White.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261104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26110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" y="426110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Dual axis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03120" y="4261104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Right-click second axis → Dual Axis. The white circle sits in the center, creating the donut hole.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645152"/>
            <a:ext cx="42062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64515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⑨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" y="46451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Set colors per category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103120" y="4645152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Debt=#1B3A6B, Federal=#1D4ED8, Local=#0D7377, Private=#D97706, State=#166534</a:t>
            </a:r>
            <a:endParaRPr lang="en-US" sz="950" dirty="0"/>
          </a:p>
        </p:txBody>
      </p:sp>
      <p:graphicFrame>
        <p:nvGraphicFramePr>
          <p:cNvPr id="45" name="Chart 0"/>
          <p:cNvGraphicFramePr/>
          <p:nvPr/>
        </p:nvGraphicFramePr>
        <p:xfrm>
          <a:off x="4663440" y="1170432"/>
          <a:ext cx="2743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Shape 43"/>
          <p:cNvSpPr/>
          <p:nvPr/>
        </p:nvSpPr>
        <p:spPr>
          <a:xfrm>
            <a:off x="7498080" y="1170432"/>
            <a:ext cx="1371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7534656" y="1207008"/>
            <a:ext cx="128016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699248" y="1207008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Debt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$49.0M (33.6%)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534656" y="1682496"/>
            <a:ext cx="128016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699248" y="168249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Local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$36.7M (25.2%)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7534656" y="2157984"/>
            <a:ext cx="128016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7699248" y="2157984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Federal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$32.4M (22.2%)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534656" y="2633472"/>
            <a:ext cx="128016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699248" y="2633472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Private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$24.9M (17.0%)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7534656" y="3108960"/>
            <a:ext cx="128016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7699248" y="3108960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State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$2.8M (1.9%)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274320" y="3895344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384048" y="389534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 SIMPLER ALTERNATIVE: Tableau Public users — just use a standard Pie Chart (steps 1–5 only). Pie charts convey the same funding mix story. The donut style is cosmetic only.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274320" y="43434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Risk analysis by funding category:</a:t>
            </a:r>
            <a:endParaRPr lang="en-US" sz="11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262695"/>
              </p:ext>
            </p:extLst>
          </p:nvPr>
        </p:nvGraphicFramePr>
        <p:xfrm>
          <a:off x="4663440" y="3803904"/>
          <a:ext cx="4242817" cy="2430780"/>
        </p:xfrm>
        <a:graphic>
          <a:graphicData uri="http://schemas.openxmlformats.org/drawingml/2006/table">
            <a:tbl>
              <a:tblPr/>
              <a:tblGrid>
                <a:gridCol w="541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Utilization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Risk Note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Debt (Bonds)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$49.0M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33.6%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59.8%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Future debt service obligation — interest costs not budgeted here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Local Funds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$36.7M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25.2%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64.7%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✅  Most stable — within city's direct control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Federal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$32.4M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39.1%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⚠️  Policy risk — subject to federal budget/continuing resolution changes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Private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$24.9M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17.0%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46.4%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⚠️  F-400 requires 50% match — partner dependency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$2.8M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1.9%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94.0%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✅  Well-utilized — low exposure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9FE69-84A4-07EF-187D-09B7B2632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744A18-50C5-CE49-05BA-97FEF662F638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A7A4C4-AEA4-33BF-56DA-28CF04EC099F}"/>
              </a:ext>
            </a:extLst>
          </p:cNvPr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4: Funding Source Donut Chart — Build Steps</a:t>
            </a:r>
            <a:endParaRPr lang="en-US" sz="1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B73C8D-13AB-F17A-2493-8FD875F2A326}"/>
              </a:ext>
            </a:extLst>
          </p:cNvPr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1DA4DD-D2D1-643D-E875-44F69BEE12A3}"/>
              </a:ext>
            </a:extLst>
          </p:cNvPr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8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23D1A0-57D5-473E-64FA-A072E08245E3}"/>
              </a:ext>
            </a:extLst>
          </p:cNvPr>
          <p:cNvSpPr/>
          <p:nvPr/>
        </p:nvSpPr>
        <p:spPr>
          <a:xfrm>
            <a:off x="237744" y="641613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Tableau does not have a native donut chart — you build it from a pie chart with a calculated field. This is a standard technique.</a:t>
            </a:r>
            <a:endParaRPr lang="en-US" sz="1200" dirty="0"/>
          </a:p>
        </p:txBody>
      </p:sp>
      <p:graphicFrame>
        <p:nvGraphicFramePr>
          <p:cNvPr id="45" name="Chart 0">
            <a:extLst>
              <a:ext uri="{FF2B5EF4-FFF2-40B4-BE49-F238E27FC236}">
                <a16:creationId xmlns:a16="http://schemas.microsoft.com/office/drawing/2014/main" id="{2844389E-FD8B-2214-2E3F-D66A997B46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7601340"/>
              </p:ext>
            </p:extLst>
          </p:nvPr>
        </p:nvGraphicFramePr>
        <p:xfrm>
          <a:off x="4663440" y="1495548"/>
          <a:ext cx="2743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Shape 43">
            <a:extLst>
              <a:ext uri="{FF2B5EF4-FFF2-40B4-BE49-F238E27FC236}">
                <a16:creationId xmlns:a16="http://schemas.microsoft.com/office/drawing/2014/main" id="{10A11F8D-BC2F-9AC1-1ABB-05F5EAF2175A}"/>
              </a:ext>
            </a:extLst>
          </p:cNvPr>
          <p:cNvSpPr/>
          <p:nvPr/>
        </p:nvSpPr>
        <p:spPr>
          <a:xfrm>
            <a:off x="7498080" y="1495548"/>
            <a:ext cx="1371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93750C03-8754-D8DF-1D85-0A15265BC9A5}"/>
              </a:ext>
            </a:extLst>
          </p:cNvPr>
          <p:cNvSpPr/>
          <p:nvPr/>
        </p:nvSpPr>
        <p:spPr>
          <a:xfrm>
            <a:off x="7534656" y="1532124"/>
            <a:ext cx="128016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10C99FE2-91CB-6BB2-0C2B-59DAFEB57E1D}"/>
              </a:ext>
            </a:extLst>
          </p:cNvPr>
          <p:cNvSpPr/>
          <p:nvPr/>
        </p:nvSpPr>
        <p:spPr>
          <a:xfrm>
            <a:off x="7699248" y="1532124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Debt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$49.0M (33.6%)</a:t>
            </a:r>
            <a:endParaRPr lang="en-US" sz="850" dirty="0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59BBF520-FCF2-83E4-8ACC-85261A6AD701}"/>
              </a:ext>
            </a:extLst>
          </p:cNvPr>
          <p:cNvSpPr/>
          <p:nvPr/>
        </p:nvSpPr>
        <p:spPr>
          <a:xfrm>
            <a:off x="7534656" y="2007612"/>
            <a:ext cx="128016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783AC353-BA2C-78F0-163D-BBA3288D5375}"/>
              </a:ext>
            </a:extLst>
          </p:cNvPr>
          <p:cNvSpPr/>
          <p:nvPr/>
        </p:nvSpPr>
        <p:spPr>
          <a:xfrm>
            <a:off x="7699248" y="2007612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Local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$36.7M (25.2%)</a:t>
            </a:r>
            <a:endParaRPr lang="en-US" sz="850" dirty="0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E9663AC1-B3AC-C5A5-7CF7-EC3363C792AA}"/>
              </a:ext>
            </a:extLst>
          </p:cNvPr>
          <p:cNvSpPr/>
          <p:nvPr/>
        </p:nvSpPr>
        <p:spPr>
          <a:xfrm>
            <a:off x="7534656" y="2483100"/>
            <a:ext cx="128016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6603C306-DAFE-A093-E7C9-ACC85B42203D}"/>
              </a:ext>
            </a:extLst>
          </p:cNvPr>
          <p:cNvSpPr/>
          <p:nvPr/>
        </p:nvSpPr>
        <p:spPr>
          <a:xfrm>
            <a:off x="7699248" y="2483100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Federal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$32.4M (22.2%)</a:t>
            </a:r>
            <a:endParaRPr lang="en-US" sz="850" dirty="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BDB479FC-1F09-5CF6-39EA-DCA521C98C10}"/>
              </a:ext>
            </a:extLst>
          </p:cNvPr>
          <p:cNvSpPr/>
          <p:nvPr/>
        </p:nvSpPr>
        <p:spPr>
          <a:xfrm>
            <a:off x="7534656" y="2958588"/>
            <a:ext cx="128016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ADC3D36C-691F-B365-89FE-61EBC709EE99}"/>
              </a:ext>
            </a:extLst>
          </p:cNvPr>
          <p:cNvSpPr/>
          <p:nvPr/>
        </p:nvSpPr>
        <p:spPr>
          <a:xfrm>
            <a:off x="7699248" y="2958588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Private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$24.9M (17.0%)</a:t>
            </a:r>
            <a:endParaRPr lang="en-US" sz="850" dirty="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062379E3-44E6-608A-F305-E055B3FD5C42}"/>
              </a:ext>
            </a:extLst>
          </p:cNvPr>
          <p:cNvSpPr/>
          <p:nvPr/>
        </p:nvSpPr>
        <p:spPr>
          <a:xfrm>
            <a:off x="7534656" y="3434076"/>
            <a:ext cx="128016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6E2F4103-9F77-A895-BD9E-6835817163AB}"/>
              </a:ext>
            </a:extLst>
          </p:cNvPr>
          <p:cNvSpPr/>
          <p:nvPr/>
        </p:nvSpPr>
        <p:spPr>
          <a:xfrm>
            <a:off x="7699248" y="3434076"/>
            <a:ext cx="1133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State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$2.8M (1.9%)</a:t>
            </a:r>
            <a:endParaRPr lang="en-US" sz="850" dirty="0"/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4F8302F3-B8CF-2FD9-46CF-CD9A710F91EA}"/>
              </a:ext>
            </a:extLst>
          </p:cNvPr>
          <p:cNvSpPr/>
          <p:nvPr/>
        </p:nvSpPr>
        <p:spPr>
          <a:xfrm>
            <a:off x="274320" y="4220460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BACC23C9-DDC7-6ABF-D281-EFA4C6060042}"/>
              </a:ext>
            </a:extLst>
          </p:cNvPr>
          <p:cNvSpPr/>
          <p:nvPr/>
        </p:nvSpPr>
        <p:spPr>
          <a:xfrm>
            <a:off x="384048" y="42204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 SIMPLER ALTERNATIVE: Tableau Public users — just use a standard Pie Chart (steps 1–5 only). Pie charts convey the same funding mix story. The donut style is cosmetic only.</a:t>
            </a:r>
            <a:endParaRPr lang="en-US" sz="1100" dirty="0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557DB2F7-CEE6-9FD6-ED7C-24E1DB63881F}"/>
              </a:ext>
            </a:extLst>
          </p:cNvPr>
          <p:cNvSpPr/>
          <p:nvPr/>
        </p:nvSpPr>
        <p:spPr>
          <a:xfrm>
            <a:off x="182881" y="125780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Risk analysis by funding category:</a:t>
            </a:r>
            <a:endParaRPr lang="en-US" sz="1100" dirty="0"/>
          </a:p>
        </p:txBody>
      </p:sp>
      <p:graphicFrame>
        <p:nvGraphicFramePr>
          <p:cNvPr id="60" name="Table 0">
            <a:extLst>
              <a:ext uri="{FF2B5EF4-FFF2-40B4-BE49-F238E27FC236}">
                <a16:creationId xmlns:a16="http://schemas.microsoft.com/office/drawing/2014/main" id="{8E649AE5-D0C2-19CA-85D5-5ED86EF7B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665878"/>
              </p:ext>
            </p:extLst>
          </p:nvPr>
        </p:nvGraphicFramePr>
        <p:xfrm>
          <a:off x="237744" y="1486403"/>
          <a:ext cx="4334256" cy="2684795"/>
        </p:xfrm>
        <a:graphic>
          <a:graphicData uri="http://schemas.openxmlformats.org/drawingml/2006/table">
            <a:tbl>
              <a:tblPr/>
              <a:tblGrid>
                <a:gridCol w="649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Utilization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Risk Note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Debt (Bonds)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$49.0M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33.6%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59.8%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Future debt service obligation — interest costs not budgeted here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Local Funds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$36.7M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25.2%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64.7%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✅  Most stable — within city's direct control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Federal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$32.4M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39.1%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⚠️  Policy risk — subject to federal budget/continuing resolution changes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Private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$24.9M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17.0%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46.4%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⚠️  F-400 requires 50% match — partner dependency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$2.8M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1.9%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94.0%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✅  Well-utilized — low exposure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029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6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2412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🗺️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9: Sheet 5 – Symbol 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Geographic Equity · Bubble Size = Funding · Color = Poverty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5876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641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36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5: Geographic Equity Symbol Map — Build Steps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82020"/>
            <a:ext cx="1554480" cy="280554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82020"/>
            <a:ext cx="1554480" cy="280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36418"/>
            <a:ext cx="8595360" cy="230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symbol map makes the equity story geographic — the city council can literally see where the money is going.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671670"/>
            <a:ext cx="420624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67167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Step-by-Step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4005"/>
            <a:ext cx="4206240" cy="387367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07400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8167" y="1074005"/>
            <a:ext cx="1304542" cy="379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Create 'Budget Per Capita' field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63436" y="1074003"/>
            <a:ext cx="2580548" cy="387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Analysis → Create Calculated Field → 'Budget Per Capita' → SUM([BudgetAllocated]) / SUM([Population]) (if not already created in Stage 6)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453609"/>
            <a:ext cx="4206240" cy="4037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537299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8167" y="1502664"/>
            <a:ext cx="13045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Double-click WardName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63436" y="1453609"/>
            <a:ext cx="2580548" cy="403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Tableau automatically places WardName on the geographic map IF the field type is set to Geographic Role.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849294"/>
            <a:ext cx="4206240" cy="40373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9329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167" y="1863148"/>
            <a:ext cx="1304542" cy="3552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Set geographic role for WardName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63436" y="1849294"/>
            <a:ext cx="2580548" cy="403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Right-click WardName in Data pane → Geographic Role → City OR State. If this city data is custom, choose 'None' and manually set lat/long.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238052"/>
            <a:ext cx="4206240" cy="4037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32174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8167" y="2287107"/>
            <a:ext cx="13045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Use lat/long for custom locations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63436" y="2238052"/>
            <a:ext cx="2580548" cy="403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If Tableau cannot find the wards, go to Map → Edit Locations, or manually add latitude/longitude columns to DimWard.csv.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640664"/>
            <a:ext cx="4206240" cy="40373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72435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8167" y="2689719"/>
            <a:ext cx="13045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Change mark type to Circle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63436" y="2640664"/>
            <a:ext cx="2580548" cy="403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In Marks Card, change the dropdown from Automatic to Circle. Dots appear on the map.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015568"/>
            <a:ext cx="4206240" cy="4037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09925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⑥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8167" y="3064623"/>
            <a:ext cx="13045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Drag Budget Per Capita to Size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63436" y="3015568"/>
            <a:ext cx="2580548" cy="403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Larger circles = more funding per resident. Lakefront bubble will be enormous ($947/capita).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390472"/>
            <a:ext cx="4206240" cy="40373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347416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8167" y="3439527"/>
            <a:ext cx="13045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Drag PovertyRate to Color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63436" y="3390472"/>
            <a:ext cx="2580548" cy="403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Set color palette: green (low poverty) → red (high poverty). Diverging color works best.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765376"/>
            <a:ext cx="4206240" cy="4037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84906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8167" y="3814431"/>
            <a:ext cx="13045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Drag WardName to Label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63436" y="3765376"/>
            <a:ext cx="2580548" cy="403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Label shows ward name on each bubble. Adjust font size so labels do not overlap.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140280"/>
            <a:ext cx="4206240" cy="40373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22397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⑨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8167" y="4189335"/>
            <a:ext cx="13045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Format the map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63436" y="4140280"/>
            <a:ext cx="2580548" cy="403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Map → Map Layers → turn off satellite view. Use Light or Muted background. Title: 'Housing Investment Per Capita by Ward'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0" y="671670"/>
            <a:ext cx="42976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0" y="67167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the Map Shows — Bubble Sizes &amp; Colors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604133"/>
              </p:ext>
            </p:extLst>
          </p:nvPr>
        </p:nvGraphicFramePr>
        <p:xfrm>
          <a:off x="4572000" y="1060152"/>
          <a:ext cx="4297681" cy="3483854"/>
        </p:xfrm>
        <a:graphic>
          <a:graphicData uri="http://schemas.openxmlformats.org/drawingml/2006/table">
            <a:tbl>
              <a:tblPr/>
              <a:tblGrid>
                <a:gridCol w="839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7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9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Ward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$/Capita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PovRate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Color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Lakefront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$947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⬛ LARGEST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🟢 Light (low need)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East Heights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8.1%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⬜ Large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🟢 Light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North Hills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⬜ Large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🟢 Light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Oak Park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$485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⬜ Large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🟢 Light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Westbrook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$346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11.2%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◻ 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🟡 Moderate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Harbor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14.8%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◻ Medium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🟡 Moderate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Central Core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$153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28.8%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▪ Small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🔴 Dark RED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Industrial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$144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21.0%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▪ Small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🟠 Orange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Riverside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$135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▪ Small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🟠 Orange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Southgate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25.3%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▪ SMALLEST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🔴 Dark RED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8" name="Shape 45"/>
          <p:cNvSpPr/>
          <p:nvPr/>
        </p:nvSpPr>
        <p:spPr>
          <a:xfrm>
            <a:off x="274320" y="4640715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384048" y="4640715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The map makes the equity gap visceral: the LARGEST bubbles (most money) are GREEN (low poverty). The SMALLEST bubbles are RED (high poverty). The visual correlation is immediate and politically powerful.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5: Map Troubleshooting &amp; Manual Lat/Long Setup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8166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8166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82981"/>
            <a:ext cx="8595360" cy="243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Tableau may not recognize custom ward names as geographic locations. Here are the fixes.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699385"/>
            <a:ext cx="859536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699385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Problem: 'Unknown' appears on map OR no dots show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138297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Solution A — Use Tableau Edit Locations (easiest):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49193"/>
            <a:ext cx="859536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449193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① Map menu → Edit Locations → a dialog shows each ward name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96665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796665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② For each ward, type the real city name in the 'Match to' column (e.g., 'Chicago, IL' if this is a Chicago dataset)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44137"/>
            <a:ext cx="859536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144137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③ Tableau resolves the locations and places dots correctly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491609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2491609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④ If your wards are fictional, use Solution B instead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2893945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Solution B — Add Lat/Long to DimWard.csv (most reliable):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68265"/>
            <a:ext cx="8595360" cy="127585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357237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two new columns to DimWard.csv: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WardID, WardName, ..., Latitude, Longitude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W-01, North Hills, ..., 41.8500, -87.6300   ← example coordinates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W-02, Riverside,   ..., 41.7800, -87.5800   ← adjust for your city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in Tableau: right-click Latitude → Geographic Role → Latitude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Right-click Longitude → Geographic Role → Longitude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Drag Longitude to Columns, Latitude to Rows → map appears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527393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4527393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💡  Alternative to a map: If geographic coordinates are unavailable, replace Sheet 5 with a Highlight Table (matrix) showing PovertyRate vs. BudgetPerCapita by ward. It tells the same story as a table with conditional formatting.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99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24128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🎛️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10: Dashboard Assembly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Combine All Sheets · Filters · Actions · Layout · Polish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858768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TABLEAU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349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334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Dashboard — Setup and Layout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79490"/>
            <a:ext cx="1554480" cy="278674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79490"/>
            <a:ext cx="1554480" cy="278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8564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dashboard combines all 5 sheets into one interactive view. Follow these steps in order.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48564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485646"/>
            <a:ext cx="530352" cy="402336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485646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8564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7132"/>
                </a:solidFill>
              </a:rPr>
              <a:t>Create a new Dashboard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0" y="485646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Click the Dashboard icon at the bottom tab bar (grid icon) OR go to Dashboard menu → New Dashboard.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96113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961134"/>
            <a:ext cx="530352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961134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96113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Set Dashboard size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961134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Dashboard menu → Size → Fixed → 1200 × 750 pixels. Fixed size ensures consistent layout across screens.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43662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1436622"/>
            <a:ext cx="530352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1436622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143662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</a:rPr>
              <a:t>Add Sheet 1 (Bar Chart)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0" y="1436622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From the left Sheets panel, drag 'Budget vs Spent by Ward' onto the canvas. Drop in the top-left area.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191211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1912110"/>
            <a:ext cx="530352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1912110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191211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</a:rPr>
              <a:t>Add Sheet 2 (Scatter Plot)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0" y="1912110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Drag 'Equity Scatter Plot' onto the right half of the canvas. Tableau creates a tiled layout.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38759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387598"/>
            <a:ext cx="530352" cy="40233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2387598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238759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410C"/>
                </a:solidFill>
              </a:rPr>
              <a:t>Add Sheet 3 (Treemap)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57600" y="2387598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Drag 'Project Status' to the bottom-left quadrant.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286308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2863086"/>
            <a:ext cx="530352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2863086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4400" y="286308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</a:rPr>
              <a:t>Add Sheet 4 (Donut)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57600" y="2863086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Drag 'Funding Mix' to the bottom-center.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338574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338574"/>
            <a:ext cx="530352" cy="40233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3338574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" y="333857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534"/>
                </a:solidFill>
              </a:rPr>
              <a:t>Add Sheet 5 (Map)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657600" y="3338574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Drag 'Housing Investment Map' to the bottom-right.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381406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20" y="3814062"/>
            <a:ext cx="530352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3814062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14400" y="381406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</a:rPr>
              <a:t>Add a Text Title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657600" y="3814062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 the left Objects panel, drag Text onto the top of the dashboard. Type the dashboard title and subtitle.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428955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" y="4289550"/>
            <a:ext cx="530352" cy="40233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289550"/>
            <a:ext cx="530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14400" y="428955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91B1B"/>
                </a:solidFill>
              </a:rPr>
              <a:t>Add KPI cards (optional)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657600" y="4289550"/>
            <a:ext cx="5166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Drag 4 Text objects and type your KPI values: Total Budget, Utilization %, Units Complete, Projects Delayed. Style with color.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711530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84048" y="471153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💡  Use 'Tiled' layout (default) for structured dashboard. Switch to 'Floating' layout (Dashboard → Device Layouts) only if you need precise pixel positioning.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6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– Visual Architecture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9090"/>
            <a:ext cx="1554480" cy="261257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9090"/>
            <a:ext cx="1554480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06399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This is the target layout. Arrange your 5 sheets in this pattern for maximum clarity and impact.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36947"/>
            <a:ext cx="859536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736947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TITLE BAR + KPI CARDS (Text objects across full width)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120315"/>
            <a:ext cx="2057400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120315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$145.9M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Budget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7021" y="1120315"/>
            <a:ext cx="205740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7020" y="1120315"/>
            <a:ext cx="206925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54.8%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Utilization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2947" y="1120315"/>
            <a:ext cx="2057400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1120315"/>
            <a:ext cx="207262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985/1,919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Units Done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5658" y="1120315"/>
            <a:ext cx="2057400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15658" y="1120315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Delayed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742787"/>
            <a:ext cx="425196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742787"/>
            <a:ext cx="4251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📊  Sheet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Budget Allocated vs. Spent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Clustered Bar Chart by Ward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742787"/>
            <a:ext cx="4251960" cy="123444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1742787"/>
            <a:ext cx="4251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🔵  Sheet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Equity Scatter Plot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Income vs. Budget Per Capita + Trend 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086955"/>
            <a:ext cx="2761488" cy="1444752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086955"/>
            <a:ext cx="276148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</a:rPr>
              <a:t>🌳  Sheet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</a:rPr>
              <a:t>Project Status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</a:rPr>
              <a:t>Treemap by Ward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72968" y="3086955"/>
            <a:ext cx="2761488" cy="144475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72968" y="3086955"/>
            <a:ext cx="276148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</a:rPr>
              <a:t>🍩  Sheet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</a:rPr>
              <a:t>Funding Mix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</a:rPr>
              <a:t>Donut / Pie Chart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71616" y="3086955"/>
            <a:ext cx="2798064" cy="1444752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71616" y="3086955"/>
            <a:ext cx="2798064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</a:rPr>
              <a:t>🗺️  Sheet 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</a:rPr>
              <a:t>Symbol Map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</a:rPr>
              <a:t>Bubble Size = Funding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614003"/>
            <a:ext cx="8595360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4614003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FILTER STRIP: Ward Name  ·  Project Type  ·  Status  ·  Funding Category  ·  Neighborhood Type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Filters and Dashboard Actions — Interactivity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Filters and Actions transform a static dashboard into an exploration tool the City Council can use without help.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Adding Filters to the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09728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5551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Ward Name: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1738040"/>
            <a:ext cx="3977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On bar chart → click dropdown arrow → Filters → WardName. Then right-click filter card → Apply to Worksheets → All Using This Data Source.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109728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19940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Project Type: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2176952"/>
            <a:ext cx="3977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Click any sheet → Analysis → Filters → Add → ProjectType. Checkbox style. Show in Dashboard.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450592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450592"/>
            <a:ext cx="109728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4329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Status: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2615864"/>
            <a:ext cx="3977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Click treemap → Filters → Status. Customize for: Completed, Delayed, On Hold checkboxes.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89504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889504"/>
            <a:ext cx="109728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287189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Funding Category: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054776"/>
            <a:ext cx="3977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Click donut chart → Filters → Category. Dropdown style. Apply to all worksheets.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323674"/>
            <a:ext cx="4206240" cy="4118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323674"/>
            <a:ext cx="109728" cy="411819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8912" y="3333837"/>
            <a:ext cx="1532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Neighborhood Type: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3516717"/>
            <a:ext cx="3977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From DimWard → Filters → NeighborhoodType. Allows comparison of Affluent vs. Low-Income wards.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170432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11704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Adding Dashboard Actions — Click to Filter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157276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1572768"/>
            <a:ext cx="4206240" cy="3108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161848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 Action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187757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How: Dashboard → Actions → Add Action → Filter. Source Sheet: Bar Chart. Target Sheets: All. Run on: Select. When clearing: Exclude All.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231648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D7377"/>
                </a:solidFill>
              </a:rPr>
              <a:t>Result: Clicking a ward bar filters all other charts to show only that ward's projects.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74320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2743200"/>
            <a:ext cx="420624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272796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Highlight Action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304800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How: Dashboard → Actions → Add Action → Highlight. Source: any sheet. Target: All. Run on: Hover. Fields: WardName.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348691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D4ED8"/>
                </a:solidFill>
              </a:rPr>
              <a:t>Result: Hovering over a ward name highlights that ward's data across all 5 charts simultaneously.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91363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3913632"/>
            <a:ext cx="420624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389839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URL Action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0" y="4218434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How: Dashboard → Actions → Add Action → URL. Source: Bar chart. URL: https://[city-website]/ward/&lt;WardName&gt;.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465734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D97706"/>
                </a:solidFill>
              </a:rPr>
              <a:t>Result: Clicking a ward opens its city government page — connects the dashboard to real-world context.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3913633"/>
            <a:ext cx="4206240" cy="1078992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4048" y="3913633"/>
            <a:ext cx="4116746" cy="1078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💡  Most powerful action: the Filter Action on the bar chart. When a City Council member clicks 'Central Core', every chart instantly filters to show only Central Core's 7 projects. No technical knowledge needed.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&amp; Polish — Professional Dashboard Finish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7498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Color Consistency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52144"/>
            <a:ext cx="3931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Use the same colors for the same wards across all sheets — set via Worksheet → Color Palette → Custom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Navy (#1B3A6B) for allocated budget, Teal (#0D7377) for spent — consistent across bar chart and everywhere else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PovertyRate color range: green (0%) → red (30%) — use Diverging palette in Color mark editor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Keep Status colors consistent: Completed=Green, In Progress=Blue, Delayed=Orange, On Hold=Red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74980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749808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7498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Typography &amp; Titles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7448" y="1152144"/>
            <a:ext cx="3931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Dashboard title: Font size 18–20, Bold, Dark navy color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Sheet titles: Font size 14, Bold — visible but not competing with data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Axis labels: Font size 10–11, Gray (#64748B)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Data labels: Format → Font → 10pt, Black — always legible on chart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Every visual needs a descriptive title — no chart should require verbal explanation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Removing Chart Junk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328416"/>
            <a:ext cx="3931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Format → Lines → set Row and Column Dividers to None (removes heavy gridlines)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Format → Borders → set Sheet Border to None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Hide headers for measures when the axis already explains them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Worksheet → Show Header → uncheck if the pill label is redundant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Remove outer border from all chart frames: Format → Border → None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292608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2926080"/>
            <a:ext cx="411480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9260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Tooltips — Critical for City Council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7448" y="3328416"/>
            <a:ext cx="39319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Worksheet → Tooltip → Edit. Write narrative tooltips for every chart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Bar chart tooltip: 'Ward: [WardName] | Allocated: [BudgetAllocated] | Spent: [BudgetSpent] | Utilization: [Utilization%]'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Scatter tooltip: 'Ward: [WardName] | Income: $[MedianIncome] | Poverty Rate: [PovertyRate]% | Investment: $[Budget Per Capita] per resident'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Map tooltip: 'Ward: [WardName] | [NeighborhoodType] | Projects: [COUNT(ProjectID)] | Investment per resident: $[Budget Per Capita]'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Your Tableau Dashboard — Sharing Options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175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 finished Tableau dashboard is only valuable if it reaches the right people. Here are all the sharing options.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5209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52090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89781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Tableau Public (Free)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75888" y="91609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75888" y="91609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FREE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4048" y="1254426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File → Save to Tableau Public...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Sign in with your Tableau Public account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Dashboard uploads to public.tableau.com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Share the URL with your instructor or embed in a portfolio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Anyone with the link can interact — no account needed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36085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D7377"/>
                </a:solidFill>
              </a:rPr>
              <a:t>Best for: Course submission, portfolio, public transparency dashboards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85209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85209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89781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Export as PDF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19288" y="91609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19288" y="91609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BUILT-IN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27448" y="1254426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File → Print to PDF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Select 'Entire Workbook' or 'Active Sheet'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Choose 'Landscape' orientation for dashboards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PDF preserves layout exactly — best for static reports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Add to your written analysis document as Appendix 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27448" y="236085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D4ED8"/>
                </a:solidFill>
              </a:rPr>
              <a:t>Best for: Written analysis submission, printing for board meetings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716109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716109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761829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Export as Image (PNG)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75888" y="2780117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75888" y="2780117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BUILT-IN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84048" y="3118445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Dashboard → Export Image...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Choose file location and name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High-resolution PNG — ideal for PowerPoint, Word, email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Use for: Slide decks, reports, stakeholder communications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Insert into your assignment Word document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" y="4224869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D97706"/>
                </a:solidFill>
              </a:rPr>
              <a:t>Best for: Assignment screenshots, presentations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2716109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17720" y="2716109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2761829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Tableau Server / Cloud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19288" y="2780117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01000" y="2780117"/>
            <a:ext cx="67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ENTERPRISE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27448" y="3118445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Server menu → Publish Workbook...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Select your Tableau Server or Cloud site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Set permissions (who can view/edit)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Users access via web browser — no Tableau needed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Supports Row-Level Security for sensitive data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27448" y="4224869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B3A6B"/>
                </a:solidFill>
              </a:rPr>
              <a:t>Best for: Enterprise deployment, secure sharing within an organization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575392"/>
            <a:ext cx="84582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4048" y="4575392"/>
            <a:ext cx="82782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📌  For MG628 assignment: Submit a Tableau Public link (live dashboard) PLUS a PDF export. The live link lets the instructor interact; the PDF ensures the submission is preserved permanently.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83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Calculated Fields — All Formulas for This Dataset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320367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320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1274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Create these calculated fields via Analysis → Create Calculated Field. All use Tableau's formula syntax (not DAX).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3337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33370"/>
            <a:ext cx="109728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93371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Budget Per Capita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14402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Equity measure — $ per resident per ward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969946"/>
            <a:ext cx="63550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23744" y="969946"/>
            <a:ext cx="627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SUM([BudgetAllocated]) / SUM([Population])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445434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445434"/>
            <a:ext cx="109728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44577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Utilization 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165608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Spending rate — how much of allocated budget is deployed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1482010"/>
            <a:ext cx="63550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23744" y="1482010"/>
            <a:ext cx="627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SUM([BudgetSpent]) / SUM([BudgetAllocated])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1957498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1957498"/>
            <a:ext cx="109728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195783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Units Completion 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16815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Output rate — housing units built vs. planned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0" y="1994074"/>
            <a:ext cx="63550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23744" y="1994074"/>
            <a:ext cx="627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SUM([UnitsCreated]) / SUM([UnitsTarget])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46956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2469562"/>
            <a:ext cx="109728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46990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Budget Gap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268021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Unspent money per project — implementation failure indicator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68880" y="2506138"/>
            <a:ext cx="63550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23744" y="2506138"/>
            <a:ext cx="627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SUM([BudgetAllocated]) - SUM([BudgetSpent])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981626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2981626"/>
            <a:ext cx="109728" cy="43891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298196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Delayed Count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19227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Count of delayed or on-hold projects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68880" y="3018202"/>
            <a:ext cx="63550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23744" y="3018202"/>
            <a:ext cx="627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[Status] = 'Delayed' OR [Status] = 'On Hold' THEN 1 ELSE 0 END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49369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3493690"/>
            <a:ext cx="109728" cy="43891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349403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Is Delayed Flag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370434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Boolean flag for filter actions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468880" y="3530266"/>
            <a:ext cx="63550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523744" y="3530266"/>
            <a:ext cx="627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[Status] = 'Delayed' OR [Status] = 'On Hold'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005754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4005754"/>
            <a:ext cx="109728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00609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</a:rPr>
              <a:t>Spend Rate Category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21640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Categorize wards by implementation performance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68880" y="4042330"/>
            <a:ext cx="63550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523744" y="4042330"/>
            <a:ext cx="627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SUM([BudgetSpent])/SUM([BudgetAllocated]) &gt;= 0.75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'High (75%+)'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 SUM([BudgetSpent])/SUM([BudgetAllocated]) &gt;= 0.50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'Moderate (50–75%)'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'Low (Under 50%)' END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4517818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74320" y="4517818"/>
            <a:ext cx="109728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7200" y="451815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Equity Score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472847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Inverse of Budget Per Capita — higher score = more underserved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468880" y="4554394"/>
            <a:ext cx="635508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523744" y="4554394"/>
            <a:ext cx="6272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(SUM([BudgetAllocated]) / SUM([Population]))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60587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60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Dataset Reference — Verify Your Dashboard Values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89409"/>
            <a:ext cx="1554480" cy="296092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89409"/>
            <a:ext cx="1554480" cy="29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46609"/>
            <a:ext cx="859536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546609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Ground-truth values — filter your Tableau dashboard to each ward and confirm these numbers appear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131475"/>
              </p:ext>
            </p:extLst>
          </p:nvPr>
        </p:nvGraphicFramePr>
        <p:xfrm>
          <a:off x="274320" y="930657"/>
          <a:ext cx="8595360" cy="3950212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2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4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Ward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Budget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Spent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Util%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$/Capita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Pov%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Income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Projects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Delayed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North Hills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$25.5M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$7.8M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30.8%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$92K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Riverside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$2.6M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50.0%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$135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$41K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Central Core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$9.3M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$6.6M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70.6%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$153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28.8%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$35K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East Heights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$15.1M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$8.9M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59.2%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8.1%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$78K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Southgate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$3.3M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65.6%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25.3%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$38K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Westbrook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$12.1M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$6.2M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51.7%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$346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11.2%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$67K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Harbor District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$6.7M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62.3%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14.8%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$52K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University Heights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$5.6M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$2.8M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49.8%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$116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19.5%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$45K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Oak Park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$19.9M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$11.3M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57.0%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$485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$85K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Industrial Corridor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$2.4M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76.0%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$144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21.0%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$42K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Lakefront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$31.2M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$21.2M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67.9%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$947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$105K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Midtown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$7.2M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$2.6M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36.0%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$129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17.2%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$48K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$145.9M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$79.9M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54.8%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$338 avg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14.8% avg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$59K avg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74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Questions — Model Answers from Actual Data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These data-backed answers cover all six Public Administration analysis questions (Q6B). Use specific numbers — vague answers lose marks.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109728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3013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Q1: Which ward received the most funding? Which the least?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37702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Lakefront received the most at $31.2M (21.4% of total). Industrial Corridor received the least at $3.2M (2.2%). The ratio is 9.8:1 — nearly a 10-fold difference. The scatter plot reveals this is inequitable: Lakefront has 4.8% poverty while Industrial Corridor has 21% poverty.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109728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78850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Q2: What is the overall budget utilization rate? Highest/lowest ward?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03539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Overall utilization: 54.8% — $66M unspent. Industrial Corridor leads at 76.0%. North Hills is lowest at 30.8% ($17.6M unspent). Low utilization is NOT efficiency — it means funds are not reaching housing production. North Hills's stalled contractors and Midtown's slow project management are implementation failures.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109728" cy="5669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44687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8D9"/>
                </a:solidFill>
              </a:rPr>
              <a:t>Q3: Is there a positive or negative correlation between income and funding per capita?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69375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Positive correlation — the scatter plot trend line slopes upward. Wealthier wards receive more per resident: Lakefront ($105K income) gets $947/capita vs. Southgate ($38K income) gets $115/capita — an 8.2:1 disparity. This is the central equity concern: allocation does not match need.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145536"/>
            <a:ext cx="10972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10523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Q4: What is the overall units completion rate? Best/worst project type?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35212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Overall: 51.3% (985 of 1,919 units). Best: Homeownership Program 69% (66/96 units). Worst: New Construction 15% (10/66 units). Mixed Use Development is also low at 24% — complex permitting and multi-use zoning coordination delays these types significantly.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80390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803904"/>
            <a:ext cx="109728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76360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Q5: What % comes from federal sources? What are the risks?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01049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Federal: 22.2% ($32.4M). However, Debt (bonds) is the largest source at 33.6% ($49M). Federal grants have the lowest utilization at 39.1% — these funds have strings attached (match requirements, reporting) that slow deployment. A continuing resolution or policy shift could freeze $32.4M mid-initiative.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462272"/>
            <a:ext cx="109728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42197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Q6: Are delays concentrated in certain wards?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66886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Yes — Westbrook has 3 of the 11 delayed/on-hold projects. The treemap makes this concentration visually obvious. Westbrook's delays involve Community Development Corp and Citywide Contractors. North Hills has 2 delayed projects both involving Foundation Builders. This concentration suggests contractor-level issues, not random project risk.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426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404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Q8 Policy Memo — CMO/City Manager Template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59882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59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31692"/>
            <a:ext cx="8595360" cy="339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Q8 is 10 points. Strong memos cite specific numbers, name specific wards, estimate impact, and specify timelines.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70806"/>
            <a:ext cx="859536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77080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  TO: City Manager  ·  FROM: Data Analyst  ·  RE: Housing for All — Dashboard Findings &amp; Recommendations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2800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228006"/>
            <a:ext cx="109728" cy="5669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1877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43459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 Housing for All initiative has committed $145.9M across 74 projects in 12 wards. As of FY2024, 54.8% ($79.9M) has been spent and 985 of 1,919 target housing units have been delivered (51.3%). This analysis identifies two priority issues: an equity gap in fund distribution and a concentration of implementation delays in specific wards.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8637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886374"/>
            <a:ext cx="109728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84607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Finding 1 — Equity Gap (from Scatter Plot)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09296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 scatter plot shows a positive correlation between ward income and housing investment per capita. Affluent Lakefront ($105K median income) receives $947 per resident — 8.2× more than low-income Southgate ($38K income, $115/capita). The three highest-need wards (Central Core 28.8% poverty, Southgate 25.3%, Riverside 22.5%) are all in the bottom quartile for per-capita funding.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4474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544742"/>
            <a:ext cx="109728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50444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Recommendation 1 — Equity Reallocation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513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Direct the next $12M tranche of Housing Bond Series A (F-300) funds to Central Core, Southgate, and Riverside. Require project submissions within 60 days using each ward's established contractors. Expected impact: raises Central Core from $153/capita to $250/capita — still well below Lakefront but a meaningful step toward equity. Establish a minimum equity threshold of $200/capita for all wards by FY2025.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0311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203110"/>
            <a:ext cx="109728" cy="5669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16281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Finding 2 — Implementation Delays (from Treemap)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097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11 of 74 projects (14.9%) are Delayed or On Hold. Westbrook has 3 delayed projects (P-1031, P-1032, P-1037) — the highest concentration in one ward. Two involve Citywide Contractors. North Hills has 2 delayed projects (P-1006, P-1008), both with Foundation Builders. North Hills's overall utilization of 30.8% ($17.6M unspent) is the lowest in the city.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86147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861478"/>
            <a:ext cx="109728" cy="5669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8211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Recommendation 2 — Contractor Performance Review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0680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Commission a 30-day audit of all projects with Citywide Contractors and Foundation Builders. Set a milestone: all delayed projects must reach 60% utilization within 90 days or trigger reallocation. Establish a contractor scorecard visible in the dashboard — delay rate and cost overrun by contractor — to create accountability in future procurement.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629574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462957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 High-scoring memos: cite specific project IDs (P-1031), specific percentages (8.2:1 ratio), specific contractor names, and propose a measurable outcome with a timeline.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Troubleshooting Guide — 10 Common Problems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19" y="749808"/>
            <a:ext cx="342053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19" y="749808"/>
            <a:ext cx="342053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1309" y="749808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Null values on map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749808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WardName not recognized as geographic field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0" y="749808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Right-click WardName in Data pane → Geographic Role → State/Province or City. Or add Lat/Long columns to DimWard.csv.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19" y="1188720"/>
            <a:ext cx="342053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19" y="1188720"/>
            <a:ext cx="342053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1309" y="1188720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Donut chart inner hole not white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23160" y="1188720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Second mark type is wrong color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1188720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Click the second pill in Rows → Marks Card → Color → White. Size → maximum.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627632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19" y="1627632"/>
            <a:ext cx="342053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19" y="1627632"/>
            <a:ext cx="342053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1309" y="1627632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Trend line not appearing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1627632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Chart type is not Scatter Plot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1627632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Analytics pane only shows Trend Line option for Scatter Charts. Confirm mark type is Circle with a continuous X and Y axis.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066544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19" y="2066544"/>
            <a:ext cx="342053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19" y="2066544"/>
            <a:ext cx="342053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1309" y="2066544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Budget Per Capita shows wrong values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423160" y="2066544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Aggregation conflict — SUM vs. AGG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2066544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Calculated field formula must use SUM([BudgetAllocated]) / SUM([Population]). Do NOT use AVG — it will double-count.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505456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19" y="2505456"/>
            <a:ext cx="342053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19" y="2505456"/>
            <a:ext cx="342053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1309" y="2505456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Filter not affecting all sheets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23160" y="2505456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Filter applied to one worksheet only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0" y="2505456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Right-click filter card in Dashboard → Apply to Worksheets → All Using This Data Source.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944368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19" y="2944368"/>
            <a:ext cx="342053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19" y="2944368"/>
            <a:ext cx="342053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1309" y="2944368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WardName appears as Measure (green)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23160" y="2944368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Loaded as number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0" y="2944368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Right-click WardID in Data pane → Change Data Type → String → then drag to Dimensions area.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383280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19" y="3383280"/>
            <a:ext cx="342053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19" y="3383280"/>
            <a:ext cx="342053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1309" y="3383280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Relationship fields not showing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423160" y="3383280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Tables connected but fields missing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0" y="3383280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Go to Data Source tab — check if relationship line exists between tables. If missing, drag the table onto the canvas and set join key.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822192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19" y="3822192"/>
            <a:ext cx="342053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19" y="3822192"/>
            <a:ext cx="342053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1309" y="3822192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Treemap shows only one color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23160" y="3822192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Status dragged to wrong mark slot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0" y="3822192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Status must be on COLOR mark. If it's on Detail, it groups but does not color. Drag from Detail to Color.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261104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74319" y="4261104"/>
            <a:ext cx="342053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19" y="4261104"/>
            <a:ext cx="342053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91309" y="4261104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Bar chart bars are stacked not side-by-side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423160" y="4261104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Measure Names not on Columns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0" y="4261104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Drag Measure Names pill (blue) to Columns shelf. This splits the two measures into side-by-side bars.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4700016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74319" y="4700016"/>
            <a:ext cx="342053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19" y="4700016"/>
            <a:ext cx="342053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91309" y="4700016"/>
            <a:ext cx="1828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Calculated field shows error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423160" y="4700016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Division by zero for some wards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572000" y="4700016"/>
            <a:ext cx="4251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Wrap in ZN(): ZN(SUM([BudgetAllocated])) or use IIF(SUM([Population]) = 0, NULL, SUM([BudgetAllocated]) / SUM([Population]))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vs. Power BI — For This Specific Assignment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48986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48986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47472"/>
            <a:ext cx="8595360" cy="26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Both tools can build this dashboard. Understanding the differences helps you choose confidently and answer comparison questions.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521893"/>
              </p:ext>
            </p:extLst>
          </p:nvPr>
        </p:nvGraphicFramePr>
        <p:xfrm>
          <a:off x="274320" y="615024"/>
          <a:ext cx="8595360" cy="40157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🟠  Tableau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⚡  Power BI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Free (Public) / Free student license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Free Desktop always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Data connection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Drag tables to canvas · Relationships auto-detect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Get Data → Load → build in Model View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Formula language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Calculated Fields (simple IF/SUM syntax)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DAX (more powerful but steeper learning curve)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Building bar chart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Drag WardName to Rows, BudgetAllocated to Columns → done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Drag to Visualizations pane, configure axis and value buckets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Scatter plot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Drag X measure to Columns, Y measure to Rows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Choose Scatter visual, assign X/Y/Detail buckets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Trend line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Analytics pane → drag Trend Line → instant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Analytics pane → Trend Line → similar process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Donut chart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Build with dual-axis pie trick (complex)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Single click — built-in visual type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Filters on dashboard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Dashboard → Actions → Filter Action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Format → Edit Interactions (automatic cross-filter)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Geographic map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Built-in — recognizes place names automatically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Requires Azure Maps license or custom shapes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Design quality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Best-in-class visual aesthetics out of the box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Good — more customizable with custom themes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Best for this assignment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Equity scatter + geographic map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KPI cards + DAX-powered equity measures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656672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46566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💡  Career tip: list BOTH on your resume. Recruiters who see Tableau + Power BI proficiency know you are adaptable — not locked into a single vendor's ecosystem.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Checklist — Before You Submit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CHECKLIST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1435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Complete every item before submitting your Tableau workbook + written analysis.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6"/>
            <a:ext cx="4114800" cy="1849116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87556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98755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Connection (Q1 – 10 pts)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89892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All 4 CSV files connected: FactHousingProjects (74), DimWard (12), DimFundingSource (10), DimDate (551)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3 relationships in Data Source tab: WardID, FundID, StartDate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Data types correct: BudgetAllocated green (measure), WardName blue (dimension)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Screenshot of Data Source tab showing all relationships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987556"/>
            <a:ext cx="4114800" cy="1849116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987556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98755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Calculated Fields (Q2 – 10 pts)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89892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Budget Per Capita = SUM([BudgetAllocated]) / SUM([Population])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Utilization % = SUM([BudgetSpent]) / SUM([BudgetAllocated])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Verify: Budget Per Capita for Lakefront = $947, Southgate = $115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Verify: Utilization % overall = 54.8%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3"/>
            <a:ext cx="4114800" cy="2038769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926084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92608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Visuals (Q6 – 15 pts)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470657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Sheet 1: Bar chart — Budget vs. Spent by Ward (sorted, colored, labeled)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Sheet 2: Scatter plot — Income vs. Budget Per Capita with trend line + PovertyRate on Color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Sheet 3: Treemap — Project Status by Ward (Status on Color, Count on Size)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Sheet 4: Donut/Pie chart — Funding by Category (5 segments with % labels)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Sheet 5: Symbol Map OR Highlight Table — Geographic equity visualization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Dashboard tab combining all 5 sheets with at least 2 filter controls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2926083"/>
            <a:ext cx="4114800" cy="2038769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7720" y="2926084"/>
            <a:ext cx="411480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92608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Written Analysis (Q8 – 10 pts)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328420"/>
            <a:ext cx="3950208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Identifies Lakefront vs. Southgate equity gap ($947 vs. $115 per capita, 8.2:1 ratio)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Names North Hills (30.8%) and Midtown (36%) as lowest utilization wards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Names Westbrook (3 delayed projects) as most concentrated failure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2 specific recommendations with ward names, dollar amounts, and timelines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Tableau Public link OR PDF export included with submission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42B50"/>
          </a:solidFill>
          <a:ln w="12700">
            <a:solidFill>
              <a:srgbClr val="14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731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✅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Tableau Dashboard Complete!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You can now build a professional Tableau dashboard from raw CSV files.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944368"/>
            <a:ext cx="4572000" cy="36576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0540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4 CSVs connected · 3 relationships · Calculated fields · 5 chart types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381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Filters · Dashboard Actions · Published to Tableau Public · Written memo ready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9DC0"/>
                </a:solidFill>
              </a:rPr>
              <a:t>Submit: Tableau Public link + PDF export + written analysis → course portal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DC0"/>
                </a:solidFill>
              </a:rPr>
              <a:t>MG628  ·  Week 6  ·  Data Analysis for Managerial Decision-Making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9222</Words>
  <Application>Microsoft Office PowerPoint</Application>
  <PresentationFormat>On-screen Show (16:9)</PresentationFormat>
  <Paragraphs>1210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Housing for All – Tableau Dashboard Step-by-Step Walkthrough</dc:title>
  <dc:subject>PptxGenJS Presentation</dc:subject>
  <dc:creator>PptxGenJS</dc:creator>
  <cp:lastModifiedBy>Fomba Kassoh</cp:lastModifiedBy>
  <cp:revision>3</cp:revision>
  <dcterms:created xsi:type="dcterms:W3CDTF">2026-05-30T08:33:47Z</dcterms:created>
  <dcterms:modified xsi:type="dcterms:W3CDTF">2026-05-30T21:58:25Z</dcterms:modified>
</cp:coreProperties>
</file>